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706100" cx="7556500"/>
  <p:notesSz cx="7556500" cy="10706100"/>
  <p:embeddedFontLst>
    <p:embeddedFont>
      <p:font typeface="Quattrocento Sans"/>
      <p:regular r:id="rId11"/>
      <p:bold r:id="rId12"/>
      <p:italic r:id="rId13"/>
      <p:boldItalic r:id="rId14"/>
    </p:embeddedFont>
    <p:embeddedFont>
      <p:font typeface="Helvetica Neue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wTWZ1Vmh2hXoEm2ke6IQeQ2Ij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A56D86-7C35-4897-90CA-F98872F72F75}">
  <a:tblStyle styleId="{16A56D86-7C35-4897-90CA-F98872F72F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54BD749-CE17-4BC1-81D1-72BFA3BA4D5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QuattrocentoSans-regular.fntdata"/><Relationship Id="rId10" Type="http://schemas.openxmlformats.org/officeDocument/2006/relationships/slide" Target="slides/slide4.xml"/><Relationship Id="rId13" Type="http://schemas.openxmlformats.org/officeDocument/2006/relationships/font" Target="fonts/QuattrocentoSans-italic.fntdata"/><Relationship Id="rId12" Type="http://schemas.openxmlformats.org/officeDocument/2006/relationships/font" Target="fonts/Quattrocento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HelveticaNeue-regular.fntdata"/><Relationship Id="rId14" Type="http://schemas.openxmlformats.org/officeDocument/2006/relationships/font" Target="fonts/QuattrocentoSans-boldItalic.fntdata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" type="subTitle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392679" y="6448044"/>
            <a:ext cx="2496312" cy="39944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5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5"/>
          <p:cNvSpPr txBox="1"/>
          <p:nvPr>
            <p:ph idx="1" type="body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5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1" Type="http://schemas.openxmlformats.org/officeDocument/2006/relationships/image" Target="../media/image8.png"/><Relationship Id="rId10" Type="http://schemas.openxmlformats.org/officeDocument/2006/relationships/hyperlink" Target="mailto:sales@elementkb.ru" TargetMode="External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"/>
          <p:cNvGrpSpPr/>
          <p:nvPr/>
        </p:nvGrpSpPr>
        <p:grpSpPr>
          <a:xfrm>
            <a:off x="0" y="2961132"/>
            <a:ext cx="7555991" cy="7574280"/>
            <a:chOff x="0" y="2961132"/>
            <a:chExt cx="7555991" cy="7574280"/>
          </a:xfrm>
        </p:grpSpPr>
        <p:pic>
          <p:nvPicPr>
            <p:cNvPr id="45" name="Google Shape;45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83179" y="6568440"/>
              <a:ext cx="2324099" cy="39669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1"/>
            <p:cNvSpPr/>
            <p:nvPr/>
          </p:nvSpPr>
          <p:spPr>
            <a:xfrm>
              <a:off x="0" y="3424425"/>
              <a:ext cx="4395470" cy="4307118"/>
            </a:xfrm>
            <a:custGeom>
              <a:rect b="b" l="l" r="r" t="t"/>
              <a:pathLst>
                <a:path extrusionOk="0" h="3997325" w="4395470">
                  <a:moveTo>
                    <a:pt x="4395216" y="0"/>
                  </a:moveTo>
                  <a:lnTo>
                    <a:pt x="0" y="0"/>
                  </a:lnTo>
                  <a:lnTo>
                    <a:pt x="0" y="3997071"/>
                  </a:lnTo>
                  <a:lnTo>
                    <a:pt x="4395216" y="3997071"/>
                  </a:lnTo>
                  <a:lnTo>
                    <a:pt x="4395216" y="0"/>
                  </a:lnTo>
                  <a:close/>
                </a:path>
              </a:pathLst>
            </a:custGeom>
            <a:solidFill>
              <a:srgbClr val="1F2A4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7" name="Google Shape;47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09999" y="3049524"/>
              <a:ext cx="3745992" cy="47899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29455" y="2961132"/>
              <a:ext cx="3526536" cy="44622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6971" y="4244340"/>
              <a:ext cx="73151" cy="777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1"/>
          <p:cNvSpPr txBox="1"/>
          <p:nvPr/>
        </p:nvSpPr>
        <p:spPr>
          <a:xfrm>
            <a:off x="577851" y="1863979"/>
            <a:ext cx="5897448" cy="124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КОММЕРЧЕСКОЕ ПРЕДЛОЖЕНИЕ </a:t>
            </a:r>
            <a:endParaRPr/>
          </a:p>
          <a:p>
            <a:pPr indent="0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на ГПУ </a:t>
            </a:r>
            <a:r>
              <a:rPr b="1" lang="ru-RU" sz="1600">
                <a:latin typeface="Verdana"/>
                <a:ea typeface="Verdana"/>
                <a:cs typeface="Verdana"/>
                <a:sym typeface="Verdana"/>
              </a:rPr>
              <a:t>Weichai </a:t>
            </a:r>
            <a:r>
              <a:rPr b="1" lang="ru-RU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номинальной мощностью 250кВт открытого исполнения специально адаптированную для майнинга в максимальной конфигурации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" name="Google Shape;5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11106" y="229180"/>
            <a:ext cx="133834" cy="162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23329" y="559646"/>
            <a:ext cx="149860" cy="162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23329" y="897128"/>
            <a:ext cx="149860" cy="12014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"/>
          <p:cNvSpPr txBox="1"/>
          <p:nvPr/>
        </p:nvSpPr>
        <p:spPr>
          <a:xfrm>
            <a:off x="2763773" y="241554"/>
            <a:ext cx="1961514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latin typeface="Calibri"/>
                <a:ea typeface="Calibri"/>
                <a:cs typeface="Calibri"/>
                <a:sym typeface="Calibri"/>
              </a:rPr>
              <a:t>РФ, РМЭ, Йошкар-Ола, б-р Победы, д.15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2787650" y="492507"/>
            <a:ext cx="1075054" cy="151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latin typeface="Quattrocento Sans"/>
                <a:ea typeface="Quattrocento Sans"/>
                <a:cs typeface="Quattrocento Sans"/>
                <a:sym typeface="Quattrocento Sans"/>
              </a:rPr>
              <a:t>+7(917) 703-17-20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2774658" y="815848"/>
            <a:ext cx="10750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u="sng">
                <a:solidFill>
                  <a:srgbClr val="0000FF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sales1@elementkb.ru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70738" y="3404718"/>
            <a:ext cx="3611245" cy="354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СПЕЦИАЛЬНОЕ ГПУ ДЛЯ РАБОТЫ В РЕЖИМЕ 24/7/365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Ресурсные газопоршневые установки для выработки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rtl="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электроэнергии в режиме 24/7/365.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marR="140970" rtl="0" algn="l">
              <a:lnSpc>
                <a:spcPct val="114999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Моторесурс 36.000 часов. Без перегрева и дерейта. КПД ГПУ – 33% (против 28% в стандарте).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23114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Двигатели WEICHAI </a:t>
            </a:r>
            <a:r>
              <a:rPr lang="ru-RU" sz="1000">
                <a:solidFill>
                  <a:srgbClr val="F1F1F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WP13</a:t>
            </a: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, ведущего мирового производителя (премиальный Китай). С точностью электроэнергии 1%, против 10% в стандарте.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marR="513715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Альтернатор Element с КПД 93% - специально разработанный для нагруженных ГПУ.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Контроллер SmartGen («умный генератор»)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специально разработанный для ГПУ.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3507" y="60840"/>
            <a:ext cx="993241" cy="9219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"/>
          <p:cNvSpPr txBox="1"/>
          <p:nvPr/>
        </p:nvSpPr>
        <p:spPr>
          <a:xfrm>
            <a:off x="5238369" y="75691"/>
            <a:ext cx="2211070" cy="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795" lvl="0" marL="22860" marR="1284605" rtl="0" algn="l">
              <a:lnSpc>
                <a:spcPct val="13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latin typeface="Quattrocento Sans"/>
                <a:ea typeface="Quattrocento Sans"/>
                <a:cs typeface="Quattrocento Sans"/>
                <a:sym typeface="Quattrocento Sans"/>
              </a:rPr>
              <a:t>ООО «ЭЛЕМЕНТ» ИНН 1218002079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ru-RU" sz="900">
                <a:latin typeface="Quattrocento Sans"/>
                <a:ea typeface="Quattrocento Sans"/>
                <a:cs typeface="Quattrocento Sans"/>
                <a:sym typeface="Quattrocento Sans"/>
              </a:rPr>
              <a:t>КПП 121801001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4765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ru-RU" sz="900">
                <a:latin typeface="Quattrocento Sans"/>
                <a:ea typeface="Quattrocento Sans"/>
                <a:cs typeface="Quattrocento Sans"/>
                <a:sym typeface="Quattrocento Sans"/>
              </a:rPr>
              <a:t>р/с 40702810070010348277 (Модульбанк)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4765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None/>
            </a:pPr>
            <a:r>
              <a:rPr lang="ru-RU" sz="900">
                <a:latin typeface="Quattrocento Sans"/>
                <a:ea typeface="Quattrocento Sans"/>
                <a:cs typeface="Quattrocento Sans"/>
                <a:sym typeface="Quattrocento Sans"/>
              </a:rPr>
              <a:t>БИК 044525092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0" name="Google Shape;60;p1"/>
          <p:cNvGrpSpPr/>
          <p:nvPr/>
        </p:nvGrpSpPr>
        <p:grpSpPr>
          <a:xfrm>
            <a:off x="149352" y="5219700"/>
            <a:ext cx="80771" cy="1525524"/>
            <a:chOff x="149352" y="5219700"/>
            <a:chExt cx="80771" cy="1525524"/>
          </a:xfrm>
        </p:grpSpPr>
        <p:pic>
          <p:nvPicPr>
            <p:cNvPr id="61" name="Google Shape;61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9352" y="6039612"/>
              <a:ext cx="73152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6972" y="5219700"/>
              <a:ext cx="73151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2400" y="6667500"/>
              <a:ext cx="73151" cy="777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"/>
          <p:cNvSpPr txBox="1"/>
          <p:nvPr/>
        </p:nvSpPr>
        <p:spPr>
          <a:xfrm>
            <a:off x="370738" y="10010647"/>
            <a:ext cx="6773545" cy="361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4648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Данное коммерческое предложение не является офертой (в соответствии со ст.435 ГК РФ), и не влечет за собой обязательств ООО «ЭЛЕМЕНТ» по заключению Договора на условиях настоящего предложения</a:t>
            </a:r>
            <a:endParaRPr sz="11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2"/>
          <p:cNvGraphicFramePr/>
          <p:nvPr/>
        </p:nvGraphicFramePr>
        <p:xfrm>
          <a:off x="120649" y="171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{16A56D86-7C35-4897-90CA-F98872F72F75}</a:tableStyleId>
              </a:tblPr>
              <a:tblGrid>
                <a:gridCol w="3531000"/>
                <a:gridCol w="1560200"/>
                <a:gridCol w="910125"/>
                <a:gridCol w="13138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57150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180975" marR="0" rtl="0" algn="l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Все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09880" lvl="0" marL="396875" marR="15875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Количество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7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050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Мощность номинальная, кВт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54610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55244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511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5407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Мощность постоянная, кВт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57150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210 (вместо 200)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55244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210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333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Сумма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0145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Марка двигателя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81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85725" marR="22732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Weichai </a:t>
                      </a:r>
                      <a:b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WP13D317E300NG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 vMerge="1"/>
              </a:tr>
              <a:tr h="46365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ГПУ-250Квт/380В двигатель Weichai WP13, генератор Element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71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555 000 юаней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6 510 000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581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744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Индивидуальные датчики температуры по цилиндрам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35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61650">
                <a:tc>
                  <a:txBody>
                    <a:bodyPr/>
                    <a:lstStyle/>
                    <a:p>
                      <a:pPr indent="0" lvl="0" marL="91440" marR="147955" rtl="0" algn="l">
                        <a:lnSpc>
                          <a:spcPct val="13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Датчик температуры выхлопных газов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524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21575">
                <a:tc>
                  <a:txBody>
                    <a:bodyPr/>
                    <a:lstStyle/>
                    <a:p>
                      <a:pPr indent="0" lvl="0" marL="91440" marR="53911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Двухопорный альтернатор с 3 датчиками температуры обмотки и 2 датчиками температуры подшипников</a:t>
                      </a:r>
                      <a:endParaRPr/>
                    </a:p>
                    <a:p>
                      <a:pPr indent="0" lvl="0" marL="91440" marR="539115" rtl="0" algn="l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68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110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94675">
                <a:tc>
                  <a:txBody>
                    <a:bodyPr/>
                    <a:lstStyle/>
                    <a:p>
                      <a:pPr indent="0" lvl="0" marL="91440" marR="53911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Сверхтихий вертикальный радиатор охлаждения двигателя с 4 вентиляторами с частотным управлением</a:t>
                      </a:r>
                      <a:endParaRPr/>
                    </a:p>
                  </a:txBody>
                  <a:tcPr marT="368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Электрический насос охлаждающей жидкости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41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581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Контроллер Smartgen 9510 параллельной работы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41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Автоматический выключатель параллельной работы с сервоприводом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41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27800">
                <a:tc>
                  <a:txBody>
                    <a:bodyPr/>
                    <a:lstStyle/>
                    <a:p>
                      <a:pPr indent="0" lvl="0" marL="91440" marR="11506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Электроподогреватель </a:t>
                      </a:r>
                      <a:r>
                        <a:rPr b="0" i="0" lang="ru-RU" sz="12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охлаждающей </a:t>
                      </a: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жидкости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Постоянный магнит альтернатора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Электроподогреватель масла в картере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974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Удаленный мониторинг с телефона на русском языке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19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Газовая рампа с тремя цифровыми манометрами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19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Пуско-наладочные работы на предприятии-изготовителя с видеоотчетом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Google Shape;74;p3"/>
          <p:cNvGraphicFramePr/>
          <p:nvPr/>
        </p:nvGraphicFramePr>
        <p:xfrm>
          <a:off x="120649" y="171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{16A56D86-7C35-4897-90CA-F98872F72F75}</a:tableStyleId>
              </a:tblPr>
              <a:tblGrid>
                <a:gridCol w="3531000"/>
                <a:gridCol w="2470325"/>
                <a:gridCol w="1313850"/>
              </a:tblGrid>
              <a:tr h="457200">
                <a:tc gridSpan="3">
                  <a:txBody>
                    <a:bodyPr/>
                    <a:lstStyle/>
                    <a:p>
                      <a:pPr indent="0" lvl="0" marL="91440" marR="2413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Helvetica Neue"/>
                        <a:buNone/>
                      </a:pPr>
                      <a:r>
                        <a:rPr b="0" lang="ru-RU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Возможные опции к ГПУ-250кВт </a:t>
                      </a:r>
                      <a:r>
                        <a:rPr lang="ru-RU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Weichai:</a:t>
                      </a:r>
                      <a:endParaRPr b="0" sz="14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 hMerge="1"/>
              </a:tr>
              <a:tr h="14652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Интеркулер вода-воздух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9207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2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Промежуточный охладитель рубашки двигателя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Автоматическая система долива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масла с баком на 20 л и дополнительным вшнешним датчиком уровня масла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9767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Сверхтихий глушитель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3250">
                <a:tc>
                  <a:txBody>
                    <a:bodyPr/>
                    <a:lstStyle/>
                    <a:p>
                      <a:pPr indent="0" lvl="0" marL="9207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2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Датчик контроля уровня охлаждающей жидкости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0"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Итого ГПУ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шт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6 510 000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017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Проектные работы 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2-3% от стоимости счета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Пуско-наладочные работы выездные (ПНР)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5% стоимости счёта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34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Строительно-монтажные работы (СМР)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5-10% от сложности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257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1"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Итого срок производства 90-120 дней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1"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6 510 000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5" name="Google Shape;75;p3"/>
          <p:cNvGraphicFramePr/>
          <p:nvPr/>
        </p:nvGraphicFramePr>
        <p:xfrm>
          <a:off x="99784" y="61842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{054BD749-CE17-4BC1-81D1-72BFA3BA4D58}</a:tableStyleId>
              </a:tblPr>
              <a:tblGrid>
                <a:gridCol w="3830875"/>
                <a:gridCol w="2112725"/>
                <a:gridCol w="1371600"/>
              </a:tblGrid>
              <a:tr h="52325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0"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Модуль рекуперации тепла выхлопных газов, интеркулера и охлаждающей жидкости 250кВт с автоматикой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1 850 000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0"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Модуль рекуперации тепла выхлопных газов, 250кВт с автоматикой</a:t>
                      </a:r>
                      <a:endParaRPr/>
                    </a:p>
                  </a:txBody>
                  <a:tcPr marT="7625" marB="0" marR="7625" marL="76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1 000 000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0"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Модуль рекуперации тепла интеркулера и охлаждающей жидкости 250кВт с автоматикой</a:t>
                      </a:r>
                      <a:endParaRPr/>
                    </a:p>
                  </a:txBody>
                  <a:tcPr marT="7625" marB="0" marR="7625" marL="76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850 000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Горизонтальный радиатор с 4 вентиляторами с частотным управлением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Индивидуальный счетчик тепла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7345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АВР Delixi (автоматический ввод резерва) 630A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140 000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11017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Шкаф параллельной работы 1250А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900 000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Кожух погодозащитный на 1 ГПУ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Кожух погодозащитный большой на 1 ГПУ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1223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Контейнер типа Север на 1 ГПУ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850 000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Контейнер типа Север на 1 ГПУ и 60 воздушных асиков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2 000 000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Контейнер типа Север на 1 ГПУ и 40 водоохлаждаемых асиков с градирней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3 450 000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76" name="Google Shape;76;p3"/>
          <p:cNvGraphicFramePr/>
          <p:nvPr/>
        </p:nvGraphicFramePr>
        <p:xfrm>
          <a:off x="1187450" y="49263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{054BD749-CE17-4BC1-81D1-72BFA3BA4D58}</a:tableStyleId>
              </a:tblPr>
              <a:tblGrid>
                <a:gridCol w="4804825"/>
              </a:tblGrid>
              <a:tr h="355650">
                <a:tc>
                  <a:txBody>
                    <a:bodyPr/>
                    <a:lstStyle/>
                    <a:p>
                      <a:pPr indent="0" lvl="0" marL="920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Helvetica Neue"/>
                        <a:buNone/>
                      </a:pPr>
                      <a:r>
                        <a:rPr b="0" lang="ru-RU" sz="18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Возможные опции к ГПУ-250кВт </a:t>
                      </a:r>
                      <a:r>
                        <a:rPr lang="ru-RU" sz="18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Weichai:</a:t>
                      </a:r>
                      <a:endParaRPr b="0" sz="18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9207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/>
        </p:nvSpPr>
        <p:spPr>
          <a:xfrm>
            <a:off x="336600" y="629793"/>
            <a:ext cx="7219900" cy="84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4069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Verdana"/>
                <a:ea typeface="Verdana"/>
                <a:cs typeface="Verdana"/>
                <a:sym typeface="Verdana"/>
              </a:rPr>
              <a:t>Вы нашли правильную  компанию для  покупки  ГПУ!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0" marL="186055" marR="5080" rtl="0" algn="ctr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None/>
            </a:pPr>
            <a:r>
              <a:rPr lang="ru-RU" sz="1600">
                <a:latin typeface="Verdana"/>
                <a:ea typeface="Verdana"/>
                <a:cs typeface="Verdana"/>
                <a:sym typeface="Verdana"/>
              </a:rPr>
              <a:t>То самое  чувство, когда ты круче всех  и у тебя  с Нами всё получится!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None/>
            </a:pPr>
            <a:r>
              <a:rPr lang="ru-RU" sz="1600">
                <a:latin typeface="Verdana"/>
                <a:ea typeface="Verdana"/>
                <a:cs typeface="Verdana"/>
                <a:sym typeface="Verdana"/>
              </a:rPr>
              <a:t>И вот  почему:</a:t>
            </a:r>
            <a:br>
              <a:rPr lang="ru-RU" sz="1600">
                <a:latin typeface="Verdana"/>
                <a:ea typeface="Verdana"/>
                <a:cs typeface="Verdana"/>
                <a:sym typeface="Verdana"/>
              </a:rPr>
            </a:b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501650" marR="11430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Преимущества газопоршневой установки компании Элемент, специально разработанной под реалии российского рынка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-287655" lvl="0" marL="5226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Noto Sans Symbols"/>
              <a:buChar char="⮚"/>
            </a:pPr>
            <a:r>
              <a:rPr lang="ru-RU" sz="1600">
                <a:solidFill>
                  <a:srgbClr val="0D0D0D"/>
                </a:solidFill>
                <a:latin typeface="Trebuchet MS"/>
                <a:ea typeface="Trebuchet MS"/>
                <a:cs typeface="Trebuchet MS"/>
                <a:sym typeface="Trebuchet MS"/>
              </a:rPr>
              <a:t>В </a:t>
            </a:r>
            <a:r>
              <a:rPr lang="ru-RU" sz="1600">
                <a:latin typeface="Helvetica Neue"/>
                <a:ea typeface="Helvetica Neue"/>
                <a:cs typeface="Helvetica Neue"/>
                <a:sym typeface="Helvetica Neue"/>
              </a:rPr>
              <a:t>базовую комплектацию входят</a:t>
            </a:r>
            <a:r>
              <a:rPr lang="ru-RU" sz="1600"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84480" lvl="0" marL="296545" marR="375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ГПУ на 250кВт, радиатор охлаждения вдвое большей площадью, 	с возможностью выноса и двумя электровентиляторами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7019" lvl="0" marL="299085" marR="131953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	Электрический насос охлаждающей жидкости, вместо механической помпы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7019" lvl="0" marL="299085" marR="437515" rtl="0" algn="l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	Полное отсутствие ремней и роликов, что сокращает стоимость обслуживания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48615" lvl="0" marL="3613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Использование постоянного магнита в альтернаторе,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marR="4298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позволяющее добиваться точности выработки электроэнергии в 1%, против 10% у стандартных моделей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48615" lvl="0" marL="3613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5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Увеличенная постоянная мощность – 230кВт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(против базовых 200кВт), без уменьшения ресурса двигателя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48615" lvl="0" marL="3613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6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Работа ГПУ без перегрева в летний период за счет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marR="11010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электронасоса повышенной производительности и вдвое большего радиатора охлаждения двигателя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4480" lvl="0" marL="296545" marR="125412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7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Установлены индивидуальные датчики температуры по 	цилиндрам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4480" lvl="0" marL="29718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7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Датчик температуры выхлопных газов с целью остановки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двигателя в случае, если некачественно отрегулированы зазоры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53079" y="9180520"/>
            <a:ext cx="22961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089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Условия оплаты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584200" y="9512915"/>
            <a:ext cx="2071370" cy="2870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8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ru-RU" sz="2100">
                <a:solidFill>
                  <a:srgbClr val="1F2A43"/>
                </a:solidFill>
                <a:latin typeface="Verdana"/>
                <a:ea typeface="Verdana"/>
                <a:cs typeface="Verdana"/>
                <a:sym typeface="Verdana"/>
              </a:rPr>
              <a:t>70%	</a:t>
            </a:r>
            <a:r>
              <a:rPr lang="ru-RU" sz="1200">
                <a:solidFill>
                  <a:srgbClr val="46494D"/>
                </a:solidFill>
                <a:latin typeface="Verdana"/>
                <a:ea typeface="Verdana"/>
                <a:cs typeface="Verdana"/>
                <a:sym typeface="Verdana"/>
              </a:rPr>
              <a:t>– предоплата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577850" y="9840809"/>
            <a:ext cx="2071370" cy="2870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71100">
            <a:spAutoFit/>
          </a:bodyPr>
          <a:lstStyle/>
          <a:p>
            <a:pPr indent="0" lvl="0" marL="128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ru-RU" sz="2100">
                <a:solidFill>
                  <a:srgbClr val="1F2A43"/>
                </a:solidFill>
                <a:latin typeface="Verdana"/>
                <a:ea typeface="Verdana"/>
                <a:cs typeface="Verdana"/>
                <a:sym typeface="Verdana"/>
              </a:rPr>
              <a:t>20%	</a:t>
            </a:r>
            <a:r>
              <a:rPr lang="ru-RU" sz="1200">
                <a:solidFill>
                  <a:srgbClr val="46494D"/>
                </a:solidFill>
                <a:latin typeface="Verdana"/>
                <a:ea typeface="Verdana"/>
                <a:cs typeface="Verdana"/>
                <a:sym typeface="Verdana"/>
              </a:rPr>
              <a:t>– через месяц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552450" y="10168703"/>
            <a:ext cx="6802200" cy="4713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8904" marR="5060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ru-RU" sz="2100">
                <a:solidFill>
                  <a:srgbClr val="1F2A43"/>
                </a:solidFill>
                <a:latin typeface="Verdana"/>
                <a:ea typeface="Verdana"/>
                <a:cs typeface="Verdana"/>
                <a:sym typeface="Verdana"/>
              </a:rPr>
              <a:t>10%	</a:t>
            </a:r>
            <a:r>
              <a:rPr lang="ru-RU" sz="1200">
                <a:solidFill>
                  <a:srgbClr val="4D4D4D"/>
                </a:solidFill>
                <a:latin typeface="Verdana"/>
                <a:ea typeface="Verdana"/>
                <a:cs typeface="Verdana"/>
                <a:sym typeface="Verdana"/>
              </a:rPr>
              <a:t>– не позднее 3 (Трех) рабочих дней после направления Покупателю уведомления о готовности оборудования к отгрузке.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2025-09-25T10:34:58Z</dcterms:created>
  <dc:creator>pav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2025-09-25T00:00:00Z</vt:filetime>
  </property>
  <property fmtid="{D5CDD505-2E9C-101B-9397-08002B2CF9AE}" pid="5" name="Producer">
    <vt:lpwstr>Microsoft® PowerPoint® 2019</vt:lpwstr>
  </property>
</Properties>
</file>