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7556500" cy="10706100"/>
  <p:notesSz cx="7556500" cy="107061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Раздел по умолчанию" id="{BB18C549-3DC8-41B5-9190-D2FB0F76C086}">
          <p14:sldIdLst>
            <p14:sldId id="256"/>
          </p14:sldIdLst>
        </p14:section>
        <p14:section name="Раздел без заголовка" id="{1C742C74-E3E6-4A2D-A424-7B5F55AC43F1}">
          <p14:sldIdLst>
            <p14:sldId id="257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2" autoAdjust="0"/>
  </p:normalViewPr>
  <p:slideViewPr>
    <p:cSldViewPr>
      <p:cViewPr>
        <p:scale>
          <a:sx n="70" d="100"/>
          <a:sy n="70" d="100"/>
        </p:scale>
        <p:origin x="2088" y="-6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2679" y="6448044"/>
            <a:ext cx="2496312" cy="3994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67988"/>
            <a:ext cx="7583615" cy="8412784"/>
            <a:chOff x="0" y="2967988"/>
            <a:chExt cx="6989848" cy="841278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4653" y="7413800"/>
              <a:ext cx="2324099" cy="39669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424428"/>
              <a:ext cx="4395470" cy="4671822"/>
            </a:xfrm>
            <a:custGeom>
              <a:avLst/>
              <a:gdLst/>
              <a:ahLst/>
              <a:cxnLst/>
              <a:rect l="l" t="t" r="r" b="b"/>
              <a:pathLst>
                <a:path w="4395470" h="3997325">
                  <a:moveTo>
                    <a:pt x="4395216" y="0"/>
                  </a:moveTo>
                  <a:lnTo>
                    <a:pt x="0" y="0"/>
                  </a:lnTo>
                  <a:lnTo>
                    <a:pt x="0" y="3997071"/>
                  </a:lnTo>
                  <a:lnTo>
                    <a:pt x="4395216" y="3997071"/>
                  </a:lnTo>
                  <a:lnTo>
                    <a:pt x="4395216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8864" y="3085183"/>
              <a:ext cx="3745992" cy="47899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63312" y="2967988"/>
              <a:ext cx="3526536" cy="446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4244340"/>
              <a:ext cx="73151" cy="777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-1" y="1868120"/>
            <a:ext cx="7618855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КОММЕРЧЕСКОЕ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ПРЕДЛОЖЕНИЕ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b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</a:b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ГПУ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latin typeface="Verdana"/>
                <a:cs typeface="Verdana"/>
              </a:rPr>
              <a:t>Weichai</a:t>
            </a:r>
            <a:r>
              <a:rPr lang="ru-RU" sz="1600" b="1" dirty="0">
                <a:latin typeface="Verdana"/>
                <a:cs typeface="Verdana"/>
              </a:rPr>
              <a:t>-150кВт, модифицированный для работы на попутном нефтяном газе,</a:t>
            </a:r>
            <a:br>
              <a:rPr lang="ru-RU" sz="1600" b="1" dirty="0">
                <a:latin typeface="Verdana"/>
                <a:cs typeface="Verdana"/>
              </a:rPr>
            </a:br>
            <a:r>
              <a:rPr lang="ru-RU" sz="1600" b="1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spc="-120" dirty="0">
                <a:solidFill>
                  <a:srgbClr val="1C2A45"/>
                </a:solidFill>
                <a:latin typeface="Verdana"/>
                <a:cs typeface="Verdana"/>
              </a:rPr>
              <a:t>открытого исполнения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1106" y="229180"/>
            <a:ext cx="133834" cy="1621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3329" y="559646"/>
            <a:ext cx="149860" cy="1625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3329" y="897128"/>
            <a:ext cx="149860" cy="12014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РФ,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РМЭ,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Йошкар-Ола,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б-р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Победы,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д.15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+7(927)</a:t>
            </a:r>
            <a:r>
              <a:rPr sz="900" spc="-25" dirty="0">
                <a:latin typeface="Segoe UI"/>
                <a:cs typeface="Segoe UI"/>
              </a:rPr>
              <a:t> </a:t>
            </a:r>
            <a:r>
              <a:rPr sz="900" dirty="0">
                <a:latin typeface="Segoe UI"/>
                <a:cs typeface="Segoe UI"/>
              </a:rPr>
              <a:t>872</a:t>
            </a:r>
            <a:r>
              <a:rPr sz="900" spc="-3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98-</a:t>
            </a:r>
            <a:r>
              <a:rPr sz="900" spc="-25" dirty="0">
                <a:latin typeface="Segoe UI"/>
                <a:cs typeface="Segoe UI"/>
              </a:rPr>
              <a:t>91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7866" y="834897"/>
            <a:ext cx="1075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sales1@elementkb.ru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9640" y="3402055"/>
            <a:ext cx="4618563" cy="477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41400"/>
              </a:lnSpc>
              <a:spcBef>
                <a:spcPts val="100"/>
              </a:spcBef>
              <a:tabLst>
                <a:tab pos="631825" algn="l"/>
              </a:tabLst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endParaRPr lang="ru-RU" sz="1400" b="1" spc="-120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 marR="5080" algn="l">
              <a:lnSpc>
                <a:spcPct val="141400"/>
              </a:lnSpc>
              <a:spcBef>
                <a:spcPts val="100"/>
              </a:spcBef>
              <a:tabLst>
                <a:tab pos="631825" algn="l"/>
              </a:tabLst>
            </a:pP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В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 dirty="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1180"/>
              </a:spcBef>
            </a:pP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Ресурсные</a:t>
            </a:r>
            <a:r>
              <a:rPr sz="1000" spc="-9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газопоршневые</a:t>
            </a:r>
            <a:r>
              <a:rPr sz="1000" spc="-5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установки</a:t>
            </a:r>
            <a:r>
              <a:rPr sz="1000" spc="-7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для</a:t>
            </a:r>
            <a:r>
              <a:rPr sz="1000" spc="-8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выработки</a:t>
            </a:r>
            <a:endParaRPr sz="10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359"/>
              </a:spcBef>
            </a:pP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электроэнергии</a:t>
            </a:r>
            <a:r>
              <a:rPr sz="1000" spc="1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в</a:t>
            </a:r>
            <a:r>
              <a:rPr sz="1000" spc="-8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режиме</a:t>
            </a:r>
            <a:r>
              <a:rPr sz="1000" spc="-3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24/7/365.</a:t>
            </a:r>
            <a:endParaRPr sz="10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20320" marR="140970">
              <a:lnSpc>
                <a:spcPct val="114999"/>
              </a:lnSpc>
              <a:spcBef>
                <a:spcPts val="395"/>
              </a:spcBef>
            </a:pPr>
            <a:r>
              <a:rPr sz="1000" dirty="0" err="1">
                <a:solidFill>
                  <a:schemeClr val="bg1"/>
                </a:solidFill>
                <a:latin typeface="Verdana"/>
                <a:cs typeface="Verdana"/>
              </a:rPr>
              <a:t>Моторесурс</a:t>
            </a:r>
            <a:r>
              <a:rPr sz="1000" spc="-5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36.000ч.</a:t>
            </a:r>
            <a:r>
              <a:rPr sz="1000" spc="-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КПД</a:t>
            </a:r>
            <a:r>
              <a:rPr sz="1000" spc="-5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ГПУ</a:t>
            </a:r>
            <a:r>
              <a:rPr sz="1000" spc="-4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–33%</a:t>
            </a:r>
            <a:r>
              <a:rPr sz="1000" spc="-3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(против 28%</a:t>
            </a:r>
            <a:r>
              <a:rPr sz="1000" spc="-4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в</a:t>
            </a:r>
            <a:r>
              <a:rPr sz="1000" spc="-3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стандарте).</a:t>
            </a:r>
            <a:endParaRPr sz="1000" dirty="0">
              <a:solidFill>
                <a:schemeClr val="bg1"/>
              </a:solidFill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2700" marR="231140">
              <a:lnSpc>
                <a:spcPct val="130000"/>
              </a:lnSpc>
            </a:pP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Двигатели</a:t>
            </a:r>
            <a:r>
              <a:rPr sz="1000" spc="-7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WEICHAI</a:t>
            </a:r>
            <a:r>
              <a:rPr sz="1000" spc="-3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WP13</a:t>
            </a:r>
            <a:r>
              <a:rPr sz="1000" spc="-20" dirty="0">
                <a:solidFill>
                  <a:schemeClr val="bg1"/>
                </a:solidFill>
                <a:latin typeface="Verdana"/>
                <a:cs typeface="Verdana"/>
              </a:rPr>
              <a:t>,</a:t>
            </a:r>
            <a:r>
              <a:rPr sz="1000" spc="-7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ведущего</a:t>
            </a:r>
            <a:r>
              <a:rPr sz="1000" spc="-2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мирового производителя</a:t>
            </a:r>
            <a:r>
              <a:rPr sz="1000" spc="4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(премиальный</a:t>
            </a:r>
            <a:r>
              <a:rPr sz="1000" spc="2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Китай).</a:t>
            </a:r>
            <a:r>
              <a:rPr sz="1000" spc="-8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С</a:t>
            </a:r>
            <a:r>
              <a:rPr sz="1000" spc="-8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точностью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электроэнергии</a:t>
            </a:r>
            <a:r>
              <a:rPr sz="1000" spc="-1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1%,</a:t>
            </a:r>
            <a:r>
              <a:rPr sz="1000" spc="-9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br>
              <a:rPr lang="ru-RU" sz="1000" spc="-90" dirty="0">
                <a:solidFill>
                  <a:schemeClr val="bg1"/>
                </a:solidFill>
                <a:latin typeface="Verdana"/>
                <a:cs typeface="Verdana"/>
              </a:rPr>
            </a:br>
            <a:r>
              <a:rPr sz="1000" dirty="0" err="1">
                <a:solidFill>
                  <a:schemeClr val="bg1"/>
                </a:solidFill>
                <a:latin typeface="Verdana"/>
                <a:cs typeface="Verdana"/>
              </a:rPr>
              <a:t>против</a:t>
            </a:r>
            <a:r>
              <a:rPr sz="1000" spc="-5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10%</a:t>
            </a:r>
            <a:r>
              <a:rPr sz="1000" spc="-9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в</a:t>
            </a:r>
            <a:r>
              <a:rPr sz="1000" spc="-8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стандарте.</a:t>
            </a:r>
            <a:endParaRPr sz="1000" dirty="0">
              <a:solidFill>
                <a:schemeClr val="bg1"/>
              </a:solidFill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0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20320" marR="513715">
              <a:lnSpc>
                <a:spcPct val="130000"/>
              </a:lnSpc>
            </a:pPr>
            <a:r>
              <a:rPr sz="1000" dirty="0" err="1">
                <a:solidFill>
                  <a:schemeClr val="bg1"/>
                </a:solidFill>
                <a:latin typeface="Verdana"/>
                <a:cs typeface="Verdana"/>
              </a:rPr>
              <a:t>Альтернатор</a:t>
            </a:r>
            <a:r>
              <a:rPr sz="1000" spc="1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Element</a:t>
            </a:r>
            <a:r>
              <a:rPr lang="ru-RU" sz="1000" dirty="0">
                <a:solidFill>
                  <a:schemeClr val="bg1"/>
                </a:solidFill>
                <a:latin typeface="Verdana"/>
                <a:cs typeface="Verdana"/>
              </a:rPr>
              <a:t> (модернизированный </a:t>
            </a:r>
            <a:r>
              <a:rPr lang="en-US" sz="1000" dirty="0">
                <a:solidFill>
                  <a:schemeClr val="bg1"/>
                </a:solidFill>
              </a:rPr>
              <a:t>Leroy Somer</a:t>
            </a:r>
            <a:r>
              <a:rPr lang="ru-RU" sz="1000" dirty="0">
                <a:solidFill>
                  <a:schemeClr val="bg1"/>
                </a:solidFill>
                <a:latin typeface="Verdana"/>
                <a:cs typeface="Verdana"/>
              </a:rPr>
              <a:t>)</a:t>
            </a:r>
            <a:r>
              <a:rPr sz="1000" spc="-1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с</a:t>
            </a:r>
            <a:r>
              <a:rPr sz="1000" spc="-7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КПД</a:t>
            </a:r>
            <a:r>
              <a:rPr sz="1000" spc="-7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93%</a:t>
            </a:r>
            <a:r>
              <a:rPr sz="1000" spc="-7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-</a:t>
            </a:r>
            <a:r>
              <a:rPr sz="1000" spc="-7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специально разработанный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для</a:t>
            </a:r>
            <a:r>
              <a:rPr sz="1000" spc="-6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нагруженных</a:t>
            </a:r>
            <a:r>
              <a:rPr sz="1000" spc="-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chemeClr val="bg1"/>
                </a:solidFill>
                <a:latin typeface="Verdana"/>
                <a:cs typeface="Verdana"/>
              </a:rPr>
              <a:t>ГПУ.</a:t>
            </a:r>
            <a:endParaRPr sz="1000" dirty="0">
              <a:solidFill>
                <a:schemeClr val="bg1"/>
              </a:solidFill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Контроллер</a:t>
            </a:r>
            <a:r>
              <a:rPr sz="1000" spc="-6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SmartGen</a:t>
            </a:r>
            <a:r>
              <a:rPr sz="1000" spc="-6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(«умный</a:t>
            </a:r>
            <a:r>
              <a:rPr sz="1000" spc="-8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Verdana"/>
                <a:cs typeface="Verdana"/>
              </a:rPr>
              <a:t>генератор»)</a:t>
            </a:r>
            <a:endParaRPr sz="100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специально</a:t>
            </a:r>
            <a:r>
              <a:rPr sz="1000" spc="1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chemeClr val="bg1"/>
                </a:solidFill>
                <a:latin typeface="Verdana"/>
                <a:cs typeface="Verdana"/>
              </a:rPr>
              <a:t>разработанный</a:t>
            </a:r>
            <a:r>
              <a:rPr sz="1000" spc="-5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chemeClr val="bg1"/>
                </a:solidFill>
                <a:latin typeface="Verdana"/>
                <a:cs typeface="Verdana"/>
              </a:rPr>
              <a:t>для</a:t>
            </a:r>
            <a:r>
              <a:rPr sz="1000" spc="-50" dirty="0">
                <a:solidFill>
                  <a:schemeClr val="bg1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chemeClr val="bg1"/>
                </a:solidFill>
                <a:latin typeface="Verdana"/>
                <a:cs typeface="Verdana"/>
              </a:rPr>
              <a:t>ГПУ.</a:t>
            </a:r>
            <a:endParaRPr lang="ru-RU" sz="1000" spc="-2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endParaRPr lang="ru-RU" sz="1000" spc="-20" dirty="0">
              <a:solidFill>
                <a:schemeClr val="bg1"/>
              </a:solidFill>
              <a:latin typeface="Verdana"/>
              <a:cs typeface="Verdana"/>
            </a:endParaRPr>
          </a:p>
          <a:p>
            <a:pPr marL="12700">
              <a:spcBef>
                <a:spcPts val="365"/>
              </a:spcBef>
            </a:pPr>
            <a:r>
              <a:rPr lang="ru-RU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Двигатель с компрессией 1:8, вместо 1:11,5 в стандарте</a:t>
            </a:r>
          </a:p>
          <a:p>
            <a:pPr marL="12700">
              <a:spcBef>
                <a:spcPts val="365"/>
              </a:spcBef>
            </a:pPr>
            <a:endParaRPr lang="ru-RU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>
              <a:spcBef>
                <a:spcPts val="365"/>
              </a:spcBef>
            </a:pPr>
            <a:r>
              <a:rPr lang="ru-RU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Предполагаемый уровень </a:t>
            </a:r>
            <a:r>
              <a:rPr lang="ru-RU" sz="1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дерейта</a:t>
            </a:r>
            <a:r>
              <a:rPr lang="ru-RU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25%, в зависимости от химии попутного нефтяного газа</a:t>
            </a:r>
          </a:p>
          <a:p>
            <a:pPr marL="12700">
              <a:spcBef>
                <a:spcPts val="365"/>
              </a:spcBef>
            </a:pPr>
            <a:endParaRPr lang="ru-RU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endParaRPr sz="1000" dirty="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3507" y="60840"/>
            <a:ext cx="993241" cy="9219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1284605" indent="-10795">
              <a:lnSpc>
                <a:spcPct val="1344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ООО</a:t>
            </a:r>
            <a:r>
              <a:rPr sz="900" spc="-1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«ЭЛЕМЕНТ» </a:t>
            </a:r>
            <a:r>
              <a:rPr sz="900" dirty="0">
                <a:latin typeface="Segoe UI"/>
                <a:cs typeface="Segoe UI"/>
              </a:rPr>
              <a:t>ИНН</a:t>
            </a:r>
            <a:r>
              <a:rPr sz="900" spc="-6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1218002079</a:t>
            </a:r>
            <a:endParaRPr sz="90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455"/>
              </a:spcBef>
            </a:pPr>
            <a:r>
              <a:rPr sz="900" spc="-10" dirty="0">
                <a:latin typeface="Segoe UI"/>
                <a:cs typeface="Segoe UI"/>
              </a:rPr>
              <a:t>КПП</a:t>
            </a:r>
            <a:r>
              <a:rPr sz="900" spc="-4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121801001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latin typeface="Segoe UI"/>
                <a:cs typeface="Segoe UI"/>
              </a:rPr>
              <a:t>р/с</a:t>
            </a:r>
            <a:r>
              <a:rPr sz="900" spc="-5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40702810070010348277</a:t>
            </a:r>
            <a:r>
              <a:rPr sz="900" spc="2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(Модульбанк)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90"/>
              </a:spcBef>
            </a:pPr>
            <a:r>
              <a:rPr sz="900" spc="-10" dirty="0">
                <a:latin typeface="Segoe UI"/>
                <a:cs typeface="Segoe UI"/>
              </a:rPr>
              <a:t>БИК</a:t>
            </a:r>
            <a:r>
              <a:rPr sz="900" spc="-4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044525092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5041" y="5788477"/>
            <a:ext cx="80976" cy="1736598"/>
            <a:chOff x="149148" y="5161788"/>
            <a:chExt cx="80976" cy="1736598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2" y="5778940"/>
              <a:ext cx="73152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148" y="5161788"/>
              <a:ext cx="73151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53" y="6820662"/>
              <a:ext cx="73151" cy="777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Данное</a:t>
            </a:r>
            <a:r>
              <a:rPr sz="1100" spc="-8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коммерческое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предложение</a:t>
            </a:r>
            <a:r>
              <a:rPr sz="1100" spc="-6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является</a:t>
            </a:r>
            <a:r>
              <a:rPr sz="1100" spc="-5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(в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соответствии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ст.435</a:t>
            </a:r>
            <a:r>
              <a:rPr sz="1100" spc="-7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ГК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РФ),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и</a:t>
            </a:r>
            <a:r>
              <a:rPr sz="1100" spc="-10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влечет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за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собой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ООО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«ЭЛЕМЕНТ»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по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заключению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условиях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настоящего</a:t>
            </a:r>
            <a:r>
              <a:rPr sz="1100" spc="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предложения</a:t>
            </a:r>
            <a:endParaRPr sz="1100">
              <a:latin typeface="Segoe UI"/>
              <a:cs typeface="Segoe UI"/>
            </a:endParaRPr>
          </a:p>
        </p:txBody>
      </p:sp>
      <p:pic>
        <p:nvPicPr>
          <p:cNvPr id="23" name="object 19">
            <a:extLst>
              <a:ext uri="{FF2B5EF4-FFF2-40B4-BE49-F238E27FC236}">
                <a16:creationId xmlns:a16="http://schemas.microsoft.com/office/drawing/2014/main" id="{1215AA66-E233-F62C-4130-39ADAE086EF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348" y="7043030"/>
            <a:ext cx="73152" cy="76200"/>
          </a:xfrm>
          <a:prstGeom prst="rect">
            <a:avLst/>
          </a:prstGeom>
        </p:spPr>
      </p:pic>
      <p:pic>
        <p:nvPicPr>
          <p:cNvPr id="24" name="object 19">
            <a:extLst>
              <a:ext uri="{FF2B5EF4-FFF2-40B4-BE49-F238E27FC236}">
                <a16:creationId xmlns:a16="http://schemas.microsoft.com/office/drawing/2014/main" id="{604CBBA8-F935-9748-0495-392829CA401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7803" y="4999101"/>
            <a:ext cx="73152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836473"/>
              </p:ext>
            </p:extLst>
          </p:nvPr>
        </p:nvGraphicFramePr>
        <p:xfrm>
          <a:off x="44450" y="53087"/>
          <a:ext cx="7459663" cy="88192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1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96875" marR="158750" indent="-3098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20" dirty="0" err="1">
                          <a:latin typeface="Microsoft Sans Serif"/>
                          <a:cs typeface="Microsoft Sans Serif"/>
                        </a:rPr>
                        <a:t>Кол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200" spc="-20" dirty="0" err="1">
                          <a:latin typeface="Microsoft Sans Serif"/>
                          <a:cs typeface="Microsoft Sans Serif"/>
                        </a:rPr>
                        <a:t>во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796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150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150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33337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Сумма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112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</a:t>
                      </a:r>
                      <a:r>
                        <a:rPr lang="ru-RU" sz="1200" spc="-30" dirty="0" err="1">
                          <a:latin typeface="Microsoft Sans Serif"/>
                          <a:cs typeface="Microsoft Sans Serif"/>
                        </a:rPr>
                        <a:t>одель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81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br>
                        <a:rPr lang="ru-RU" sz="120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WP13D317E300NG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19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lang="ru-RU" sz="1200" spc="-3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50Квт/380В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двигатель</a:t>
                      </a:r>
                      <a:r>
                        <a:rPr sz="1200" spc="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Weichai</a:t>
                      </a:r>
                      <a:r>
                        <a:rPr lang="ru-RU" sz="1200" spc="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WP13,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 err="1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генератор</a:t>
                      </a:r>
                      <a:r>
                        <a:rPr sz="1200" spc="-55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Element</a:t>
                      </a:r>
                      <a:r>
                        <a:rPr lang="ru-RU" sz="1200" spc="-1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модернизированный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Leroy Somer)</a:t>
                      </a:r>
                      <a:endParaRPr sz="1200" dirty="0">
                        <a:solidFill>
                          <a:schemeClr val="tx1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9715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7 000 000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7 000 000</a:t>
                      </a:r>
                    </a:p>
                  </a:txBody>
                  <a:tcPr marL="0" marR="0" marT="1581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Водоохлаждаемый коллектор выпускного тракта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659556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Блок </a:t>
                      </a:r>
                      <a:r>
                        <a:rPr lang="ru-RU" sz="1200" b="0" i="0" dirty="0" err="1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антидетонации</a:t>
                      </a: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датчиками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128639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по цилиндрам</a:t>
                      </a: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выхлопных газов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71727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</a:t>
                      </a:r>
                      <a:r>
                        <a:rPr lang="en-US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двумя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/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1492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3960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Электрический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3068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подогрева охлаждающей 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212537"/>
                  </a:ext>
                </a:extLst>
              </a:tr>
              <a:tr h="463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462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масла в картере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9933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866339"/>
                  </a:ext>
                </a:extLst>
              </a:tr>
              <a:tr h="46396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/>
                        <a:ea typeface="+mn-ea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84946"/>
                  </a:ext>
                </a:extLst>
              </a:tr>
              <a:tr h="499933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Sans Serif"/>
                          <a:ea typeface="+mn-ea"/>
                          <a:cs typeface="Microsoft Sans Serif"/>
                        </a:rPr>
                        <a:t>0</a:t>
                      </a: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20751"/>
                  </a:ext>
                </a:extLst>
              </a:tr>
              <a:tr h="499933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00770"/>
                  </a:ext>
                </a:extLst>
              </a:tr>
              <a:tr h="499933">
                <a:tc gridSpan="3"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Срок поставки: до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 дней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Итого руб. с 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7 000 000</a:t>
                      </a: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357853"/>
                  </a:ext>
                </a:extLst>
              </a:tr>
            </a:tbl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13AD6763-93BD-4707-B275-B3736A103D56}"/>
              </a:ext>
            </a:extLst>
          </p:cNvPr>
          <p:cNvSpPr txBox="1"/>
          <p:nvPr/>
        </p:nvSpPr>
        <p:spPr>
          <a:xfrm>
            <a:off x="478314" y="9239250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1400" spc="-10" dirty="0">
                <a:latin typeface="Microsoft Sans Serif"/>
                <a:cs typeface="Microsoft Sans Serif"/>
              </a:rPr>
              <a:t>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технического обслуживания нашей 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вдвое дешевле стандартной и составляет 250.000 руб. в год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600" y="629793"/>
            <a:ext cx="7219900" cy="8112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algn="ctr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Verdana"/>
                <a:cs typeface="Verdana"/>
              </a:rPr>
              <a:t>Вы</a:t>
            </a:r>
            <a:r>
              <a:rPr spc="-380" dirty="0">
                <a:latin typeface="Verdana"/>
                <a:cs typeface="Verdana"/>
              </a:rPr>
              <a:t> </a:t>
            </a:r>
            <a:r>
              <a:rPr spc="-135" dirty="0">
                <a:latin typeface="Verdana"/>
                <a:cs typeface="Verdana"/>
              </a:rPr>
              <a:t>нашли</a:t>
            </a:r>
            <a:r>
              <a:rPr spc="-455" dirty="0">
                <a:latin typeface="Verdana"/>
                <a:cs typeface="Verdana"/>
              </a:rPr>
              <a:t> </a:t>
            </a:r>
            <a:r>
              <a:rPr spc="-175" dirty="0" err="1">
                <a:latin typeface="Verdana"/>
                <a:cs typeface="Verdana"/>
              </a:rPr>
              <a:t>правильную</a:t>
            </a:r>
            <a:r>
              <a:rPr spc="-440" dirty="0">
                <a:latin typeface="Verdana"/>
                <a:cs typeface="Verdana"/>
              </a:rPr>
              <a:t> </a:t>
            </a:r>
            <a:r>
              <a:rPr lang="ru-RU" spc="-440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компанию</a:t>
            </a:r>
            <a:r>
              <a:rPr lang="ru-RU" spc="-125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для</a:t>
            </a:r>
            <a:r>
              <a:rPr spc="-434" dirty="0">
                <a:latin typeface="Verdana"/>
                <a:cs typeface="Verdana"/>
              </a:rPr>
              <a:t> </a:t>
            </a:r>
            <a:r>
              <a:rPr lang="ru-RU" spc="-434" dirty="0">
                <a:latin typeface="Verdana"/>
                <a:cs typeface="Verdana"/>
              </a:rPr>
              <a:t> </a:t>
            </a:r>
            <a:r>
              <a:rPr spc="-170" dirty="0" err="1">
                <a:latin typeface="Verdana"/>
                <a:cs typeface="Verdana"/>
              </a:rPr>
              <a:t>покупки</a:t>
            </a:r>
            <a:r>
              <a:rPr lang="ru-RU" spc="-170" dirty="0">
                <a:latin typeface="Verdana"/>
                <a:cs typeface="Verdana"/>
              </a:rPr>
              <a:t> </a:t>
            </a:r>
            <a:r>
              <a:rPr spc="-484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ГПУ!</a:t>
            </a:r>
            <a:endParaRPr dirty="0">
              <a:latin typeface="Verdana"/>
              <a:cs typeface="Verdana"/>
            </a:endParaRPr>
          </a:p>
          <a:p>
            <a:pPr marL="186055" marR="5080" algn="ctr">
              <a:lnSpc>
                <a:spcPct val="100000"/>
              </a:lnSpc>
              <a:spcBef>
                <a:spcPts val="1505"/>
              </a:spcBef>
            </a:pPr>
            <a:endParaRPr sz="2000" dirty="0">
              <a:latin typeface="Verdana"/>
              <a:cs typeface="Verdana"/>
            </a:endParaRPr>
          </a:p>
          <a:p>
            <a:pPr marL="501650" marR="114300"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9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компании Элемент,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1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5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реалии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российского</a:t>
            </a:r>
            <a:r>
              <a:rPr sz="1600" b="1" spc="-114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рынка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600" dirty="0">
              <a:latin typeface="Verdana"/>
              <a:cs typeface="Verdana"/>
            </a:endParaRPr>
          </a:p>
          <a:p>
            <a:pPr marL="522605" indent="-287655">
              <a:lnSpc>
                <a:spcPct val="100000"/>
              </a:lnSpc>
              <a:buFont typeface="Wingdings"/>
              <a:buChar char=""/>
              <a:tabLst>
                <a:tab pos="522605" algn="l"/>
              </a:tabLst>
            </a:pPr>
            <a:r>
              <a:rPr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sz="1600" spc="-80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базовую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комплектацию</a:t>
            </a:r>
            <a:r>
              <a:rPr sz="1600" spc="-10" dirty="0">
                <a:latin typeface="Microsoft Sans Serif"/>
                <a:cs typeface="Microsoft Sans Serif"/>
              </a:rPr>
              <a:t> входят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 dirty="0">
              <a:latin typeface="Arial MT"/>
              <a:cs typeface="Arial MT"/>
            </a:endParaRPr>
          </a:p>
          <a:p>
            <a:pPr marL="296545" marR="375285" indent="-284480">
              <a:lnSpc>
                <a:spcPct val="100000"/>
              </a:lnSpc>
              <a:buAutoNum type="arabicPeriod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 err="1">
                <a:latin typeface="Verdana"/>
                <a:cs typeface="Verdana"/>
              </a:rPr>
              <a:t>на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1</a:t>
            </a:r>
            <a:r>
              <a:rPr sz="1400" dirty="0">
                <a:latin typeface="Verdana"/>
                <a:cs typeface="Verdana"/>
              </a:rPr>
              <a:t>50кВт</a:t>
            </a:r>
            <a:r>
              <a:rPr lang="ru-RU" sz="1400" dirty="0">
                <a:latin typeface="Verdana"/>
                <a:cs typeface="Verdana"/>
              </a:rPr>
              <a:t> постоянной мощности</a:t>
            </a:r>
            <a:r>
              <a:rPr sz="1400" dirty="0">
                <a:latin typeface="Verdana"/>
                <a:cs typeface="Verdana"/>
              </a:rPr>
              <a:t>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площадью, </a:t>
            </a:r>
            <a:r>
              <a:rPr sz="1400" dirty="0">
                <a:latin typeface="Verdana"/>
                <a:cs typeface="Verdana"/>
              </a:rPr>
              <a:t>с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возможностью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выноса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двумя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электровентиляторами</a:t>
            </a:r>
            <a:endParaRPr sz="1400" dirty="0">
              <a:latin typeface="Verdana"/>
              <a:cs typeface="Verdana"/>
            </a:endParaRPr>
          </a:p>
          <a:p>
            <a:pPr marL="299085" marR="1319530" indent="-2870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Электрический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насос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охлаждающей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жидкости,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вместо </a:t>
            </a:r>
            <a:r>
              <a:rPr sz="1400" dirty="0">
                <a:latin typeface="Verdana"/>
                <a:cs typeface="Verdana"/>
              </a:rPr>
              <a:t>механической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помпы</a:t>
            </a:r>
            <a:endParaRPr sz="1400" dirty="0">
              <a:latin typeface="Verdana"/>
              <a:cs typeface="Verdana"/>
            </a:endParaRPr>
          </a:p>
          <a:p>
            <a:pPr marL="299085" marR="437515" indent="-28702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Полное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отсутствие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ремней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роликов,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что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сокращает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стоимость обслуживания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1315" algn="l"/>
              </a:tabLst>
            </a:pPr>
            <a:r>
              <a:rPr sz="1400" spc="-10" dirty="0">
                <a:latin typeface="Verdana"/>
                <a:cs typeface="Verdana"/>
              </a:rPr>
              <a:t>Использование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постоянного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магнита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альтернаторе,</a:t>
            </a:r>
            <a:endParaRPr sz="1400" dirty="0">
              <a:latin typeface="Verdana"/>
              <a:cs typeface="Verdana"/>
            </a:endParaRPr>
          </a:p>
          <a:p>
            <a:pPr marL="299085" marR="42989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позволяющее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добиваться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точности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выработки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электроэнергии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в </a:t>
            </a:r>
            <a:r>
              <a:rPr sz="1400" dirty="0">
                <a:latin typeface="Verdana"/>
                <a:cs typeface="Verdana"/>
              </a:rPr>
              <a:t>1%,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против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10%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стандартных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моделей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Двигатель с компрессией 1:8, вместо обычных </a:t>
            </a:r>
            <a:r>
              <a:rPr lang="ru-RU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показетелей</a:t>
            </a: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 1:11,5 </a:t>
            </a: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Предполагаемый уровень </a:t>
            </a:r>
            <a:r>
              <a:rPr lang="ru-RU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дерейта</a:t>
            </a: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 25%, в зависимости от химии попутного нефтяного газа</a:t>
            </a: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Работа</a:t>
            </a:r>
            <a:r>
              <a:rPr sz="14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ГПУ</a:t>
            </a:r>
            <a:r>
              <a:rPr sz="1400" spc="-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без</a:t>
            </a:r>
            <a:r>
              <a:rPr sz="1400" spc="-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перегрева</a:t>
            </a:r>
            <a:r>
              <a:rPr sz="1400" spc="-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летний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период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за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счет</a:t>
            </a:r>
            <a:endParaRPr sz="1400" dirty="0">
              <a:latin typeface="Verdana"/>
              <a:cs typeface="Verdana"/>
            </a:endParaRPr>
          </a:p>
          <a:p>
            <a:pPr marL="299085" marR="110109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электронасоса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повышенной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производительности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10" dirty="0">
                <a:latin typeface="Verdana"/>
                <a:cs typeface="Verdana"/>
              </a:rPr>
              <a:t> вдвое </a:t>
            </a:r>
            <a:r>
              <a:rPr sz="1400" dirty="0">
                <a:latin typeface="Verdana"/>
                <a:cs typeface="Verdana"/>
              </a:rPr>
              <a:t>большего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297180" indent="-284480">
              <a:lnSpc>
                <a:spcPct val="100000"/>
              </a:lnSpc>
              <a:spcBef>
                <a:spcPts val="1680"/>
              </a:spcBef>
              <a:buAutoNum type="arabicPeriod" startAt="7"/>
              <a:tabLst>
                <a:tab pos="297180" algn="l"/>
              </a:tabLst>
            </a:pPr>
            <a:r>
              <a:rPr sz="1400" dirty="0">
                <a:latin typeface="Verdana"/>
                <a:cs typeface="Verdana"/>
              </a:rPr>
              <a:t>Установлены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индивидуальные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датчики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температуры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 err="1">
                <a:latin typeface="Verdana"/>
                <a:cs typeface="Verdana"/>
              </a:rPr>
              <a:t>по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цилиндрам</a:t>
            </a:r>
            <a:r>
              <a:rPr lang="en-US" sz="1400" spc="-1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и да</a:t>
            </a:r>
            <a:r>
              <a:rPr lang="ru-RU" sz="1400" dirty="0">
                <a:latin typeface="Verdana"/>
                <a:cs typeface="Verdana"/>
              </a:rPr>
              <a:t>тчик</a:t>
            </a:r>
            <a:r>
              <a:rPr lang="ru-RU" sz="1400" spc="-2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температуры</a:t>
            </a:r>
            <a:r>
              <a:rPr lang="ru-RU" sz="1400" spc="-4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выхлопных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газов</a:t>
            </a:r>
            <a:r>
              <a:rPr lang="ru-RU" sz="1400" spc="-1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целью</a:t>
            </a:r>
            <a:r>
              <a:rPr lang="ru-RU" sz="1400" spc="-3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остановки</a:t>
            </a:r>
            <a:endParaRPr lang="ru-RU"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lang="ru-RU" sz="1400" dirty="0">
                <a:latin typeface="Verdana"/>
                <a:cs typeface="Verdana"/>
              </a:rPr>
              <a:t>двигателя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случае,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если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некачественно</a:t>
            </a:r>
            <a:r>
              <a:rPr lang="ru-RU" sz="1400" spc="-8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отрегулированы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зазоры</a:t>
            </a: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8915">
              <a:lnSpc>
                <a:spcPct val="100000"/>
              </a:lnSpc>
              <a:spcBef>
                <a:spcPts val="950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lang="ru-RU" sz="1600" b="1" spc="-1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70%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9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60"/>
              </a:spcBef>
              <a:tabLst>
                <a:tab pos="789305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20%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5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через</a:t>
            </a:r>
            <a:r>
              <a:rPr sz="1200" spc="-2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94D"/>
                </a:solidFill>
                <a:latin typeface="Verdana"/>
                <a:cs typeface="Verdana"/>
              </a:rPr>
              <a:t>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 marR="50609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10%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6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не</a:t>
            </a:r>
            <a:r>
              <a:rPr sz="1200" spc="-2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позднее</a:t>
            </a:r>
            <a:r>
              <a:rPr sz="1200" spc="-4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3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(Трех)</a:t>
            </a:r>
            <a:r>
              <a:rPr sz="1200" spc="-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рабочих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дней</a:t>
            </a:r>
            <a:r>
              <a:rPr sz="1200" spc="-3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после</a:t>
            </a:r>
            <a:r>
              <a:rPr sz="12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направления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Покупателю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уведомления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</a:t>
            </a:r>
            <a:r>
              <a:rPr sz="1200" spc="-5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готовности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оборудования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к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отгрузке.</a:t>
            </a:r>
            <a:endParaRPr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1698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E271-9777-4B29-ABD5-3A217D09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1"/>
            <a:ext cx="7556500" cy="3505200"/>
          </a:xfrm>
          <a:prstGeom prst="rect">
            <a:avLst/>
          </a:prstGeom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763D7E-56DE-4AB1-9EBB-2CE0AE2F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95615"/>
              </p:ext>
            </p:extLst>
          </p:nvPr>
        </p:nvGraphicFramePr>
        <p:xfrm>
          <a:off x="349250" y="3448050"/>
          <a:ext cx="6934200" cy="655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005"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999">
                <a:tc gridSpan="2">
                  <a:txBody>
                    <a:bodyPr/>
                    <a:lstStyle/>
                    <a:p>
                      <a:pPr marL="231965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406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ГПУ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50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868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Постоянная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150кВт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28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        400В/220В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28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частота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       50 Гц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868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скорость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1500 об/мин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28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0">
                          <a:latin typeface="Times New Roman"/>
                          <a:cs typeface="Times New Roman"/>
                        </a:rPr>
                        <a:t>                                          450А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32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 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,8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15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7365" algn="l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Smartgen9420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999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 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7715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Цифровой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420">
                <a:tc gridSpan="2">
                  <a:txBody>
                    <a:bodyPr/>
                    <a:lstStyle/>
                    <a:p>
                      <a:pPr marL="25082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М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одель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двигателя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/WP13D317E300NG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5937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Рядный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 четырехтактный,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зажигание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</a:t>
                      </a:r>
                      <a:endParaRPr lang="ru-RU" sz="1050" spc="-10" dirty="0">
                        <a:latin typeface="Times New Roman"/>
                        <a:cs typeface="Times New Roman"/>
                      </a:endParaRPr>
                    </a:p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999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Количество цилиндров и клапанов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6 цилиндров/24 клапана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999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Диаметр и ход цилиндра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127×165мм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1848">
                <a:tc>
                  <a:txBody>
                    <a:bodyPr/>
                    <a:lstStyle/>
                    <a:p>
                      <a:pPr marL="4699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3815">
                        <a:lnSpc>
                          <a:spcPts val="116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11.6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999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999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вращения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коленчатого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Против часовой стрелки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999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Водяное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3868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1137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41516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Метод смешивания топливной смеси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Смеситель типа Вентури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622353"/>
                  </a:ext>
                </a:extLst>
              </a:tr>
              <a:tr h="176165">
                <a:tc>
                  <a:txBody>
                    <a:bodyPr/>
                    <a:lstStyle/>
                    <a:p>
                      <a:pPr marL="92710">
                        <a:lnSpc>
                          <a:spcPts val="1135"/>
                        </a:lnSpc>
                      </a:pP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4-6,5 бар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047906"/>
                  </a:ext>
                </a:extLst>
              </a:tr>
              <a:tr h="241474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dirty="0" err="1">
                          <a:latin typeface="Times New Roman"/>
                          <a:cs typeface="Times New Roman"/>
                        </a:rPr>
                        <a:t>Обьем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охлаждающей жидкости двигателя/с радиатором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462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               25/70л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038951"/>
                  </a:ext>
                </a:extLst>
              </a:tr>
              <a:tr h="241474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dirty="0" err="1">
                          <a:latin typeface="Times New Roman"/>
                          <a:cs typeface="Times New Roman"/>
                        </a:rPr>
                        <a:t>Обьем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462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               30л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467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9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E0570E1-4FCE-47F4-A2D5-3FAA6E9C0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305668"/>
              </p:ext>
            </p:extLst>
          </p:nvPr>
        </p:nvGraphicFramePr>
        <p:xfrm>
          <a:off x="273050" y="126491"/>
          <a:ext cx="6934200" cy="2606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325">
                <a:tc gridSpan="2">
                  <a:txBody>
                    <a:bodyPr/>
                    <a:lstStyle/>
                    <a:p>
                      <a:pPr marL="245745" algn="ctr">
                        <a:lnSpc>
                          <a:spcPts val="1195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Производитель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ЭЛЕМЕНТ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875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lang="en-US" sz="1000" b="0" i="0" u="none" strike="noStrike" baseline="0" dirty="0">
                          <a:latin typeface="DengXian" panose="02010600030101010101" pitchFamily="2" charset="-122"/>
                        </a:rPr>
                        <a:t>LSA46.3L10 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815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Шаг обмотки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2/3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016087"/>
                  </a:ext>
                </a:extLst>
              </a:tr>
              <a:tr h="235013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Класс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ru-RU" sz="1100" spc="-70" dirty="0">
                          <a:latin typeface="Times New Roman"/>
                          <a:cs typeface="Times New Roman"/>
                        </a:rPr>
                        <a:t>Постоянная 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1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50кВт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575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3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ования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напряжения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4705" algn="l">
                        <a:lnSpc>
                          <a:spcPts val="1205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0062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170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 err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Тип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в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оз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буждения</a:t>
                      </a:r>
                      <a:endParaRPr sz="10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spc="-10" dirty="0" err="1">
                          <a:latin typeface="Times New Roman"/>
                          <a:cs typeface="Times New Roman"/>
                        </a:rPr>
                        <a:t>Самовозбуждение+постоянный</a:t>
                      </a: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магнит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76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Тип подшипника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Одинарный подшипник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216994"/>
                  </a:ext>
                </a:extLst>
              </a:tr>
              <a:tr h="86354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Точность регулирования напряжения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+/- 1%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735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Тип крепления к двигателю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Жесткая муфта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699625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8B6974D-E03A-425D-864D-C31BE45EF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739227"/>
              </p:ext>
            </p:extLst>
          </p:nvPr>
        </p:nvGraphicFramePr>
        <p:xfrm>
          <a:off x="269374" y="2858361"/>
          <a:ext cx="6858000" cy="24568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4381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dirty="0" err="1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ts val="1230"/>
                        </a:lnSpc>
                      </a:pPr>
                      <a:r>
                        <a:rPr lang="ru-RU" sz="1575" spc="-75" baseline="2645" dirty="0">
                          <a:latin typeface="Times New Roman"/>
                          <a:cs typeface="Times New Roman"/>
                        </a:rPr>
                        <a:t>             </a:t>
                      </a:r>
                      <a:r>
                        <a:rPr sz="1575" spc="-7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575" spc="-75" baseline="2645" dirty="0">
                          <a:latin typeface="Times New Roman"/>
                          <a:cs typeface="Times New Roman"/>
                        </a:rPr>
                        <a:t>не боле </a:t>
                      </a:r>
                      <a:r>
                        <a:rPr lang="ru-RU" sz="1575" baseline="2645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575" spc="-6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Cambria Math"/>
                          <a:cs typeface="Cambria Math"/>
                        </a:rPr>
                        <a:t>℃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575" spc="-15" baseline="2645" dirty="0" err="1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575" spc="-6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575" spc="-3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575" spc="-8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50" baseline="252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95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раме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масса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65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0*1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000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224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(мм)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825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2275кг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60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00*2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00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0*2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30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4350кг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 err="1">
                          <a:latin typeface="Times New Roman"/>
                          <a:cs typeface="Times New Roman"/>
                        </a:rPr>
                        <a:t>Рекомендуемое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давление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вводе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164465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300"/>
                        </a:lnSpc>
                      </a:pP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58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46050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C5AA7B4C-274F-41CB-9C8A-23965B6A6B11}"/>
              </a:ext>
            </a:extLst>
          </p:cNvPr>
          <p:cNvSpPr txBox="1"/>
          <p:nvPr/>
        </p:nvSpPr>
        <p:spPr>
          <a:xfrm>
            <a:off x="234950" y="5689989"/>
            <a:ext cx="6934200" cy="25170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686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8384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ГАРАНТИЙНЫЕ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ОБЯЗАТЕЛЬСТВА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4"/>
            </a:pPr>
            <a:endParaRPr sz="1200" dirty="0">
              <a:latin typeface="Times New Roman"/>
              <a:cs typeface="Times New Roman"/>
            </a:endParaRPr>
          </a:p>
          <a:p>
            <a:pPr marL="259079" marR="244475" lvl="1" indent="-247015" algn="just">
              <a:lnSpc>
                <a:spcPct val="1238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sz="1200" spc="-10" dirty="0">
                <a:latin typeface="Times New Roman"/>
                <a:cs typeface="Times New Roman"/>
              </a:rPr>
              <a:t>Предприятие-изготовитель</a:t>
            </a:r>
            <a:r>
              <a:rPr sz="1200" dirty="0">
                <a:latin typeface="Times New Roman"/>
                <a:cs typeface="Times New Roman"/>
              </a:rPr>
              <a:t> гарантирует </a:t>
            </a:r>
            <a:r>
              <a:rPr sz="1200" dirty="0" err="1">
                <a:latin typeface="Times New Roman"/>
                <a:cs typeface="Times New Roman"/>
              </a:rPr>
              <a:t>соответствие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ГПУ-150</a:t>
            </a:r>
            <a:r>
              <a:rPr sz="1200" spc="-10" dirty="0">
                <a:latin typeface="Times New Roman"/>
                <a:cs typeface="Times New Roman"/>
              </a:rPr>
              <a:t> нормативной документации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соблюдении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правил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транспортирования,</a:t>
            </a:r>
            <a:r>
              <a:rPr sz="1200" dirty="0">
                <a:latin typeface="Times New Roman"/>
                <a:cs typeface="Times New Roman"/>
              </a:rPr>
              <a:t> хранения, </a:t>
            </a:r>
            <a:r>
              <a:rPr sz="1200" spc="-10" dirty="0">
                <a:latin typeface="Times New Roman"/>
                <a:cs typeface="Times New Roman"/>
              </a:rPr>
              <a:t>монтажа,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обслуживания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5875" marR="5080" lvl="1" indent="255588">
              <a:lnSpc>
                <a:spcPts val="1430"/>
              </a:lnSpc>
              <a:buAutoNum type="arabicPeriod"/>
              <a:tabLst>
                <a:tab pos="17145" algn="l"/>
                <a:tab pos="284480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Гарантийный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изготовления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</a:t>
            </a:r>
            <a:r>
              <a:rPr sz="1200" spc="-20" dirty="0" err="1">
                <a:latin typeface="Times New Roman"/>
                <a:cs typeface="Times New Roman"/>
              </a:rPr>
              <a:t>цию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lang="ru-RU" sz="1200" dirty="0">
              <a:latin typeface="Times New Roman"/>
              <a:cs typeface="Times New Roman"/>
            </a:endParaRPr>
          </a:p>
          <a:p>
            <a:pPr marL="15875" marR="5080" lvl="1" indent="255588">
              <a:lnSpc>
                <a:spcPts val="1430"/>
              </a:lnSpc>
              <a:buAutoNum type="arabicPeriod"/>
              <a:tabLst>
                <a:tab pos="17145" algn="l"/>
                <a:tab pos="284480" algn="l"/>
              </a:tabLst>
            </a:pPr>
            <a:r>
              <a:rPr sz="1200" spc="-10" dirty="0" err="1">
                <a:latin typeface="Times New Roman"/>
                <a:cs typeface="Times New Roman"/>
              </a:rPr>
              <a:t>Гарантийный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10" dirty="0">
                <a:latin typeface="Times New Roman"/>
                <a:cs typeface="Times New Roman"/>
              </a:rPr>
              <a:t> эксплуатации</a:t>
            </a:r>
            <a:r>
              <a:rPr sz="1200" dirty="0">
                <a:latin typeface="Times New Roman"/>
                <a:cs typeface="Times New Roman"/>
              </a:rPr>
              <a:t> 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эксплуатацию</a:t>
            </a:r>
            <a:r>
              <a:rPr lang="ru-RU" sz="1200" spc="-10" dirty="0">
                <a:latin typeface="Times New Roman"/>
                <a:cs typeface="Times New Roman"/>
              </a:rPr>
              <a:t> или 1500 моточасов, в зависимости от того, что наступит раньше,</a:t>
            </a:r>
            <a:r>
              <a:rPr sz="1200" dirty="0">
                <a:latin typeface="Times New Roman"/>
                <a:cs typeface="Times New Roman"/>
              </a:rPr>
              <a:t> но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не </a:t>
            </a:r>
            <a:r>
              <a:rPr sz="1200" dirty="0" err="1">
                <a:latin typeface="Times New Roman"/>
                <a:cs typeface="Times New Roman"/>
              </a:rPr>
              <a:t>более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35" dirty="0">
                <a:latin typeface="Times New Roman"/>
                <a:cs typeface="Times New Roman"/>
              </a:rPr>
              <a:t>18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месяцев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даты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изготовления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5590" lvl="1" indent="-26162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75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Нормативный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службы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ГПУ-150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составляет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менее: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лет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59079" marR="128270" lvl="1" indent="-247015">
              <a:lnSpc>
                <a:spcPct val="113700"/>
              </a:lnSpc>
              <a:spcBef>
                <a:spcPts val="225"/>
              </a:spcBef>
              <a:buAutoNum type="arabicPeriod"/>
              <a:tabLst>
                <a:tab pos="259079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предусматривает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возмещение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материального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ущерба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или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травм,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связанных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эксплуатацией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ГПУ-150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Гарантийному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ремонту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подлежат </a:t>
            </a:r>
            <a:r>
              <a:rPr sz="1200" dirty="0">
                <a:latin typeface="Times New Roman"/>
                <a:cs typeface="Times New Roman"/>
              </a:rPr>
              <a:t>поломки,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возникшие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причине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неправильного,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монтажа,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эксплуатации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 err="1">
                <a:latin typeface="Times New Roman"/>
                <a:cs typeface="Times New Roman"/>
              </a:rPr>
              <a:t>или</a:t>
            </a:r>
            <a:r>
              <a:rPr lang="ru-RU"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размещения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ГПУ-150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месте,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непригодном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для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1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858</TotalTime>
  <Words>1069</Words>
  <Application>Microsoft Office PowerPoint</Application>
  <PresentationFormat>Произвольный</PresentationFormat>
  <Paragraphs>208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6" baseType="lpstr">
      <vt:lpstr>DengXian</vt:lpstr>
      <vt:lpstr>Arial MT</vt:lpstr>
      <vt:lpstr>Calibri</vt:lpstr>
      <vt:lpstr>Cambria Math</vt:lpstr>
      <vt:lpstr>Microsoft Sans Serif</vt:lpstr>
      <vt:lpstr>Segoe UI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manager1</cp:lastModifiedBy>
  <cp:revision>61</cp:revision>
  <dcterms:created xsi:type="dcterms:W3CDTF">2025-09-25T10:34:58Z</dcterms:created>
  <dcterms:modified xsi:type="dcterms:W3CDTF">2026-01-15T07:58:24Z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