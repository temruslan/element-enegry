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10706100" cx="7556500"/>
  <p:notesSz cx="7556500" cy="10706100"/>
  <p:embeddedFontLst>
    <p:embeddedFont>
      <p:font typeface="Quattrocento Sans"/>
      <p:regular r:id="rId13"/>
      <p:bold r:id="rId14"/>
      <p:italic r:id="rId15"/>
      <p:boldItalic r:id="rId16"/>
    </p:embeddedFont>
    <p:embeddedFont>
      <p:font typeface="Helvetica Neue"/>
      <p:regular r:id="rId17"/>
      <p:bold r:id="rId18"/>
      <p:italic r:id="rId19"/>
      <p:boldItalic r:id="rId20"/>
    </p:embeddedFont>
    <p:embeddedFont>
      <p:font typeface="Cambria Math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SCQQ5AOU6ArJey2CEEXZdt0VO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B3F1BD-B5F7-49C2-89CB-4AEC0355C9F1}">
  <a:tblStyle styleId="{5DB3F1BD-B5F7-49C2-89CB-4AEC0355C9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CambriaMath-regular.fntdata"/><Relationship Id="rId13" Type="http://schemas.openxmlformats.org/officeDocument/2006/relationships/font" Target="fonts/QuattrocentoSans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QuattrocentoSans-italic.fntdata"/><Relationship Id="rId14" Type="http://schemas.openxmlformats.org/officeDocument/2006/relationships/font" Target="fonts/QuattrocentoSans-bold.fntdata"/><Relationship Id="rId17" Type="http://schemas.openxmlformats.org/officeDocument/2006/relationships/font" Target="fonts/HelveticaNeue-regular.fntdata"/><Relationship Id="rId16" Type="http://schemas.openxmlformats.org/officeDocument/2006/relationships/font" Target="fonts/QuattrocentoSans-boldItalic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HelveticaNeue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HelveticaNeu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755650" y="5085375"/>
            <a:ext cx="6045200" cy="48177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:notes"/>
          <p:cNvSpPr/>
          <p:nvPr>
            <p:ph idx="2" type="sldImg"/>
          </p:nvPr>
        </p:nvSpPr>
        <p:spPr>
          <a:xfrm>
            <a:off x="1259650" y="802950"/>
            <a:ext cx="5037900" cy="40147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subTitle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2" type="body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392679" y="6448044"/>
            <a:ext cx="2496312" cy="399440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7"/>
          <p:cNvSpPr txBox="1"/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7"/>
          <p:cNvSpPr txBox="1"/>
          <p:nvPr>
            <p:ph idx="1" type="body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7"/>
          <p:cNvSpPr txBox="1"/>
          <p:nvPr>
            <p:ph idx="10" type="dt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7"/>
          <p:cNvSpPr txBox="1"/>
          <p:nvPr>
            <p:ph idx="12" type="sldNum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hyperlink" Target="mailto:sales@elementkb.ru" TargetMode="External"/><Relationship Id="rId7" Type="http://schemas.openxmlformats.org/officeDocument/2006/relationships/image" Target="../media/image6.png"/><Relationship Id="rId8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/>
        </p:nvSpPr>
        <p:spPr>
          <a:xfrm>
            <a:off x="19800" y="1436421"/>
            <a:ext cx="7449300" cy="7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КОММЕРЧЕСКОЕ ПРЕДЛОЖЕНИЕ</a:t>
            </a:r>
            <a:endParaRPr b="1" sz="1600">
              <a:solidFill>
                <a:srgbClr val="1C2A4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 на ГПУ </a:t>
            </a:r>
            <a:r>
              <a:rPr b="1" lang="en-US" sz="1600">
                <a:latin typeface="Verdana"/>
                <a:ea typeface="Verdana"/>
                <a:cs typeface="Verdana"/>
                <a:sym typeface="Verdana"/>
              </a:rPr>
              <a:t>Weichai </a:t>
            </a:r>
            <a:r>
              <a:rPr b="1" lang="en-US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номинальной мощностью 250кВт в  контейнере с полками под асики</a:t>
            </a:r>
            <a:endParaRPr b="1" sz="1600">
              <a:solidFill>
                <a:srgbClr val="1C2A4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106" y="229180"/>
            <a:ext cx="133834" cy="1621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3329" y="559646"/>
            <a:ext cx="149860" cy="162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3329" y="897128"/>
            <a:ext cx="149860" cy="12014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Calibri"/>
                <a:ea typeface="Calibri"/>
                <a:cs typeface="Calibri"/>
                <a:sym typeface="Calibri"/>
              </a:rPr>
              <a:t>РФ, РМЭ, Йошкар-Ола, б-р Победы, д.15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2750311" y="557276"/>
            <a:ext cx="960119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Quattrocento Sans"/>
                <a:ea typeface="Quattrocento Sans"/>
                <a:cs typeface="Quattrocento Sans"/>
                <a:sym typeface="Quattrocento Sans"/>
              </a:rPr>
              <a:t>+7(927) 872 98-91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2737866" y="834897"/>
            <a:ext cx="107505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u="sng">
                <a:solidFill>
                  <a:srgbClr val="0000FF"/>
                </a:solidFill>
                <a:latin typeface="Quattrocento Sans"/>
                <a:ea typeface="Quattrocento Sans"/>
                <a:cs typeface="Quattrocento Sans"/>
                <a:sym typeface="Quattrocento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sales1@elementkb.ru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51" name="Google Shape;51;p1"/>
          <p:cNvSpPr txBox="1"/>
          <p:nvPr/>
        </p:nvSpPr>
        <p:spPr>
          <a:xfrm>
            <a:off x="126682" y="5810250"/>
            <a:ext cx="7372477" cy="3286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41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СПЕЦИАЛЬНОЕ ГПУ ДЛЯ РАБОТЫ В РЕЖИМЕ 24/7/365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rtl="0" algn="l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Ресурсные газопоршневые установки для выработки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rtl="0" algn="l">
              <a:lnSpc>
                <a:spcPct val="100000"/>
              </a:lnSpc>
              <a:spcBef>
                <a:spcPts val="359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электроэнергии в режиме 24/7/365.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marR="140970" rtl="0" algn="l">
              <a:lnSpc>
                <a:spcPct val="114999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Моторесурс 36.000 часов. Без перегрева и дерейта. КПД ГПУ – 33% (против 28% в стандарте).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marR="140970" rtl="0" algn="l">
              <a:lnSpc>
                <a:spcPct val="114999"/>
              </a:lnSpc>
              <a:spcBef>
                <a:spcPts val="395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2311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Двигатели WEICHAI </a:t>
            </a:r>
            <a:r>
              <a:rPr lang="en-US" sz="1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WP13</a:t>
            </a: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ведущего мирового производителя (премиальный Китай). С точностью электроэнергии 1%, против 10% в стандарте.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marR="23114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0320" marR="513715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Альтернатор Element с КПД 93% - специально разработанный для нагруженных ГПУ.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Контроллер SmartGen («умный генератор»)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специально разработанный для ГПУ.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2" name="Google Shape;5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73507" y="60840"/>
            <a:ext cx="993241" cy="92196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0795" lvl="0" marL="22860" marR="1284605" rtl="0" algn="l">
              <a:lnSpc>
                <a:spcPct val="134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latin typeface="Quattrocento Sans"/>
                <a:ea typeface="Quattrocento Sans"/>
                <a:cs typeface="Quattrocento Sans"/>
                <a:sym typeface="Quattrocento Sans"/>
              </a:rPr>
              <a:t>ООО «ЭЛЕМЕНТ» ИНН 1218002079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286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lang="en-US" sz="900">
                <a:latin typeface="Quattrocento Sans"/>
                <a:ea typeface="Quattrocento Sans"/>
                <a:cs typeface="Quattrocento Sans"/>
                <a:sym typeface="Quattrocento Sans"/>
              </a:rPr>
              <a:t>КПП 121801001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4765" rtl="0" algn="l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None/>
            </a:pPr>
            <a:r>
              <a:rPr lang="en-US" sz="900">
                <a:latin typeface="Quattrocento Sans"/>
                <a:ea typeface="Quattrocento Sans"/>
                <a:cs typeface="Quattrocento Sans"/>
                <a:sym typeface="Quattrocento Sans"/>
              </a:rPr>
              <a:t>р/с 40702810070010348277 (Модульбанк)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24765" rtl="0" algn="l">
              <a:lnSpc>
                <a:spcPct val="100000"/>
              </a:lnSpc>
              <a:spcBef>
                <a:spcPts val="490"/>
              </a:spcBef>
              <a:spcAft>
                <a:spcPts val="0"/>
              </a:spcAft>
              <a:buNone/>
            </a:pPr>
            <a:r>
              <a:rPr lang="en-US" sz="900">
                <a:latin typeface="Quattrocento Sans"/>
                <a:ea typeface="Quattrocento Sans"/>
                <a:cs typeface="Quattrocento Sans"/>
                <a:sym typeface="Quattrocento Sans"/>
              </a:rPr>
              <a:t>БИК 044525092</a:t>
            </a:r>
            <a:endParaRPr sz="9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54" name="Google Shape;54;p1"/>
          <p:cNvGrpSpPr/>
          <p:nvPr/>
        </p:nvGrpSpPr>
        <p:grpSpPr>
          <a:xfrm>
            <a:off x="149352" y="5219700"/>
            <a:ext cx="80771" cy="1525524"/>
            <a:chOff x="149352" y="5219700"/>
            <a:chExt cx="80771" cy="1525524"/>
          </a:xfrm>
        </p:grpSpPr>
        <p:pic>
          <p:nvPicPr>
            <p:cNvPr id="55" name="Google Shape;55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49352" y="6039612"/>
              <a:ext cx="73152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6972" y="5219700"/>
              <a:ext cx="73151" cy="7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152400" y="6667500"/>
              <a:ext cx="73151" cy="777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1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46484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Данное коммерческое предложение не является офертой (в соответствии со ст.435 ГК РФ), и не влечет за собой обязательств ООО «ЭЛЕМЕНТ» по заключению Договора на условиях настоящего предложения</a:t>
            </a:r>
            <a:endParaRPr sz="1100"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59" name="Google Shape;59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6995" y="2582927"/>
            <a:ext cx="5911850" cy="2887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98823"/>
          </a:schemeClr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Google Shape;64;p2"/>
          <p:cNvGraphicFramePr/>
          <p:nvPr/>
        </p:nvGraphicFramePr>
        <p:xfrm>
          <a:off x="60324" y="2329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{5DB3F1BD-B5F7-49C2-89CB-4AEC0355C9F1}</a:tableStyleId>
              </a:tblPr>
              <a:tblGrid>
                <a:gridCol w="4022725"/>
                <a:gridCol w="1295400"/>
                <a:gridCol w="381000"/>
                <a:gridCol w="762000"/>
                <a:gridCol w="974725"/>
              </a:tblGrid>
              <a:tr h="423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715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18097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Все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-309880" lvl="0" marL="396875" marR="15875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Количество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7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697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Мощность номинальная, кВт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461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55244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1250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09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381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51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267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Мощность постоянная, кВт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7150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210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(вместо 200)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55244" marR="0" rtl="0" algn="ctr">
                        <a:lnSpc>
                          <a:spcPct val="134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1050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(вместо 1000)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616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3333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Сумма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10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Марка двигателя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181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85725" marR="22732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Weichai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WP13D317E300NG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85725" marR="227329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Шт.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45315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ГПУ-250Квт/380В двигатель Weichai WP13, генератор Element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715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4 500 000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(400 000 юаней)</a:t>
                      </a:r>
                      <a:endParaRPr/>
                    </a:p>
                  </a:txBody>
                  <a:tcPr marT="952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52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4 500 000</a:t>
                      </a:r>
                      <a:endParaRPr/>
                    </a:p>
                  </a:txBody>
                  <a:tcPr marT="1581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5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Система контроля температуры двигателя  по цилиндрам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35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255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9700">
                <a:tc>
                  <a:txBody>
                    <a:bodyPr/>
                    <a:lstStyle/>
                    <a:p>
                      <a:pPr indent="0" lvl="0" marL="91440" marR="147955" rtl="0" algn="l">
                        <a:lnSpc>
                          <a:spcPct val="1383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Система контроля температуры выхлопных газов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524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255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150">
                <a:tc>
                  <a:txBody>
                    <a:bodyPr/>
                    <a:lstStyle/>
                    <a:p>
                      <a:pPr indent="0" lvl="0" marL="91440" marR="53911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Радиатор охлаждения вертикальный вдвое большей площадью, с возможностью выноса и двумя электровентиляторами с частотным управлением по температуре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682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32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922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91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Электрический насос охлаждающей жидкости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415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050">
                <a:tc>
                  <a:txBody>
                    <a:bodyPr/>
                    <a:lstStyle/>
                    <a:p>
                      <a:pPr indent="0" lvl="0" marL="91440" marR="11506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Система подогрева охлаждающей жидкости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9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94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Постоянный магнит альтернатора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03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Электроподогреватель масла в картере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5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Удаленный мониторинг с телефона на русском языке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555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Газовая рампа с тремя цифровыми манометрами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3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Автоматическая зарядка аккумуляторов от альтернатора без зарядного генератора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8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Пуско-наладочные работы на предприятии-изготовителя с видеоотчетом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Входит в базовую поставку, 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нет в стандартной ГПУ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3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Интеркулер вода-воздух</a:t>
                      </a:r>
                      <a:endParaRPr/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150 000</a:t>
                      </a:r>
                      <a:endParaRPr/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487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Горизонтальный радиатор с 4 вентиляторами с частотным управлением</a:t>
                      </a:r>
                      <a:endParaRPr/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50 000</a:t>
                      </a:r>
                      <a:endParaRPr/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8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для ГПУ типа Север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850 000</a:t>
                      </a:r>
                      <a:endParaRPr/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850 000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825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Модуль рекуперации тепла выхлопных газов, 250кВт с автоматикой</a:t>
                      </a:r>
                      <a:endParaRPr/>
                    </a:p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2978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247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1 000 000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31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5075">
                <a:tc gridSpan="4">
                  <a:txBody>
                    <a:bodyPr/>
                    <a:lstStyle/>
                    <a:p>
                      <a:pPr indent="0" lvl="0" marL="180975" marR="4138295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Срок поставки: 90 дней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Итого, руб с НДС: 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7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6 550 000</a:t>
                      </a:r>
                      <a:endParaRPr/>
                    </a:p>
                  </a:txBody>
                  <a:tcPr marT="1263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5" name="Google Shape;65;p2"/>
          <p:cNvSpPr txBox="1"/>
          <p:nvPr/>
        </p:nvSpPr>
        <p:spPr>
          <a:xfrm>
            <a:off x="482282" y="9997701"/>
            <a:ext cx="6591934" cy="4437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Helvetica Neue"/>
                <a:ea typeface="Helvetica Neue"/>
                <a:cs typeface="Helvetica Neue"/>
                <a:sym typeface="Helvetica Neue"/>
              </a:rPr>
              <a:t>Стоимость технического обслуживания нашей  ГПУ вдвое дешевле стандартной и составляет 250.000 руб. в год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0" name="Google Shape;70;p3"/>
          <p:cNvGraphicFramePr/>
          <p:nvPr/>
        </p:nvGraphicFramePr>
        <p:xfrm>
          <a:off x="120649" y="171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{5DB3F1BD-B5F7-49C2-89CB-4AEC0355C9F1}</a:tableStyleId>
              </a:tblPr>
              <a:tblGrid>
                <a:gridCol w="3531000"/>
                <a:gridCol w="2470325"/>
                <a:gridCol w="1313850"/>
              </a:tblGrid>
              <a:tr h="457200">
                <a:tc gridSpan="3">
                  <a:txBody>
                    <a:bodyPr/>
                    <a:lstStyle/>
                    <a:p>
                      <a:pPr indent="0" lvl="0" marL="91440" marR="241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Helvetica Neue"/>
                        <a:buNone/>
                      </a:pPr>
                      <a:r>
                        <a:rPr b="0"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Возможные опции к ГПУ-250кВт </a:t>
                      </a:r>
                      <a:r>
                        <a:rPr lang="en-US" sz="14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Weichai:</a:t>
                      </a:r>
                      <a:endParaRPr b="0" sz="14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57995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Модуль рекуперации тепла выхлопных газов, интеркулера и охлаждающей жидкости 250кВт с автоматикой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1 850 000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175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Модуль рекуперации тепла выхлопных газов, 250кВт с автоматикой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1 000 000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075">
                <a:tc>
                  <a:txBody>
                    <a:bodyPr/>
                    <a:lstStyle/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b="0"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Модуль рекуперации тепла интеркулера и охлаждающей жидкости 250кВт с автоматикой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850 000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72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Интеркулер вода-воздух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920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Промежуточный охладитель рубашки двигателя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150 000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Автоматическая система долива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  <a:p>
                      <a:pPr indent="0" lvl="0" marL="91440" marR="0" rtl="0" algn="l">
                        <a:lnSpc>
                          <a:spcPct val="133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масла с баком на 20 л и дополнительным внешним датчиком уровня масла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43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40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525">
                <a:tc>
                  <a:txBody>
                    <a:bodyPr/>
                    <a:lstStyle/>
                    <a:p>
                      <a:pPr indent="0" lvl="0" marL="92075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Датчик контроля уровня охлаждающей жидкости</a:t>
                      </a:r>
                      <a:endParaRPr/>
                    </a:p>
                  </a:txBody>
                  <a:tcPr marT="7625" marB="0" marR="7625" marL="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40 000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62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Шкаф параллельной работы 1250А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900 000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032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АВР Delixi (автоматический ввод резерва) 630A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140 000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Сверхтихий глушитель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170 000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07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Индивидуальный счетчик газа на ГПУ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Индивидуальный счетчик тепла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70 000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Сверхтихий вертикальный радиатор охлаждения двигателя с 4 вентиляторами с частотным управлением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162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Горизонтальный радиатор с 4 вентиляторами с частотным управлением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17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Кожух погодозащитный на 1 ГПУ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250 000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175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Кожух погодозащитный большой на 1 ГПУ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500 000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типа Север на 1 ГПУ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850 000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525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типа Север на 1 ГПУ и 60 воздушных асиков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2 000 000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Контейнер типа Север на 1 ГПУ и 40 водоохлаждаемых асиков с градирней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3 600 000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Проектные работы 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2-5% от стоимости счета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Пуско-наладочные работы выездные (ПНР)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5% стоимости счёта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8600">
                <a:tc>
                  <a:txBody>
                    <a:bodyPr/>
                    <a:lstStyle/>
                    <a:p>
                      <a:pPr indent="0" lvl="0" marL="91440" marR="2413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Helvetica Neue"/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Строительно-монтажные работы (СМР)</a:t>
                      </a:r>
                      <a:endParaRPr/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5-10% от сложности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7475" marB="0" marR="0" marL="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325">
                <a:tc gridSpan="2">
                  <a:txBody>
                    <a:bodyPr/>
                    <a:lstStyle/>
                    <a:p>
                      <a:pPr indent="0" lvl="0" marL="180975" marR="4138295" rtl="0" algn="l">
                        <a:lnSpc>
                          <a:spcPct val="11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Срок поставки: 90 дней</a:t>
                      </a:r>
                      <a:b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</a:br>
                      <a:r>
                        <a:rPr lang="en-US" sz="12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Итого, руб с НДС:</a:t>
                      </a:r>
                      <a:endParaRPr sz="12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1797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63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/>
        </p:nvSpPr>
        <p:spPr>
          <a:xfrm>
            <a:off x="336600" y="629793"/>
            <a:ext cx="7219900" cy="801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44069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Verdana"/>
                <a:ea typeface="Verdana"/>
                <a:cs typeface="Verdana"/>
                <a:sym typeface="Verdana"/>
              </a:rPr>
              <a:t>Вы нашли правильную  компанию для  покупки  ГПУ!</a:t>
            </a:r>
            <a:endParaRPr sz="1800">
              <a:latin typeface="Verdana"/>
              <a:ea typeface="Verdana"/>
              <a:cs typeface="Verdana"/>
              <a:sym typeface="Verdana"/>
            </a:endParaRPr>
          </a:p>
          <a:p>
            <a:pPr indent="0" lvl="0" marL="186055" marR="5080" rtl="0" algn="ctr">
              <a:lnSpc>
                <a:spcPct val="100000"/>
              </a:lnSpc>
              <a:spcBef>
                <a:spcPts val="1505"/>
              </a:spcBef>
              <a:spcAft>
                <a:spcPts val="0"/>
              </a:spcAft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То самое  чувство, когда ты круче всех  и у тебя   с Нами всё получится!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None/>
            </a:pPr>
            <a:r>
              <a:rPr lang="en-US" sz="1600">
                <a:latin typeface="Verdana"/>
                <a:ea typeface="Verdana"/>
                <a:cs typeface="Verdana"/>
                <a:sym typeface="Verdana"/>
              </a:rPr>
              <a:t>И вот  почему:</a:t>
            </a:r>
            <a:br>
              <a:rPr lang="en-US" sz="1600">
                <a:latin typeface="Verdana"/>
                <a:ea typeface="Verdana"/>
                <a:cs typeface="Verdana"/>
                <a:sym typeface="Verdana"/>
              </a:rPr>
            </a:br>
            <a:endParaRPr sz="2000">
              <a:latin typeface="Verdana"/>
              <a:ea typeface="Verdana"/>
              <a:cs typeface="Verdana"/>
              <a:sym typeface="Verdana"/>
            </a:endParaRPr>
          </a:p>
          <a:p>
            <a:pPr indent="0" lvl="0" marL="501650" marR="114300" rtl="0" algn="ctr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Преимущества газопоршневой установки компании Элемент, специально разработанной под реалии российского рынка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-287655" lvl="0" marL="5226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Noto Sans Symbols"/>
              <a:buChar char="⮚"/>
            </a:pPr>
            <a:r>
              <a:rPr lang="en-US" sz="1600">
                <a:solidFill>
                  <a:srgbClr val="0D0D0D"/>
                </a:solidFill>
                <a:latin typeface="Trebuchet MS"/>
                <a:ea typeface="Trebuchet MS"/>
                <a:cs typeface="Trebuchet MS"/>
                <a:sym typeface="Trebuchet MS"/>
              </a:rPr>
              <a:t>В </a:t>
            </a:r>
            <a:r>
              <a:rPr lang="en-US" sz="1600">
                <a:latin typeface="Helvetica Neue"/>
                <a:ea typeface="Helvetica Neue"/>
                <a:cs typeface="Helvetica Neue"/>
                <a:sym typeface="Helvetica Neue"/>
              </a:rPr>
              <a:t>базовую комплектацию входят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284480" lvl="0" marL="296545" marR="3752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ГПУ на 250кВт, радиатор охлаждения вдвое большей площадью, 	с возможностью выноса и двумя электровентиляторами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7019" lvl="0" marL="299085" marR="131953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	Электрический насос охлаждающей жидкости, вместо механической помпы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7019" lvl="0" marL="299085" marR="437515" rtl="0" algn="l">
              <a:lnSpc>
                <a:spcPct val="100000"/>
              </a:lnSpc>
              <a:spcBef>
                <a:spcPts val="1685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	Полное отсутствие ремней и роликов, что сокращает стоимость обслуживания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Использование постоянного магнита в альтернаторе,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4298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позволяющее добиваться точности выработки электроэнергии в 1%, против 10% у стандартных моделей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5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Увеличенная постоянная мощность – 210кВт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(против базовых 200кВт), без уменьшения ресурса двигателя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348615" lvl="0" marL="361315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6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Работа ГПУ без перегрева в летний период за счет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marR="110109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электронасоса повышенной производительности и вдвое большего радиатора охлаждения двигателя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-284480" lvl="0" marL="29718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SzPts val="1400"/>
              <a:buFont typeface="Verdana"/>
              <a:buAutoNum type="arabicPeriod" startAt="7"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Установлены индивидуальные датчики температуры по цилиндрам и датчик температуры выхлопных газов с целью остановки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  <a:p>
            <a:pPr indent="0" lvl="0" marL="299085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1400">
                <a:latin typeface="Verdana"/>
                <a:ea typeface="Verdana"/>
                <a:cs typeface="Verdana"/>
                <a:sym typeface="Verdana"/>
              </a:rPr>
              <a:t>двигателя в случае, если некачественно отрегулированы зазоры</a:t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089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1C2A45"/>
                </a:solidFill>
                <a:latin typeface="Verdana"/>
                <a:ea typeface="Verdana"/>
                <a:cs typeface="Verdana"/>
                <a:sym typeface="Verdana"/>
              </a:rPr>
              <a:t>Условия оплаты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7" name="Google Shape;77;p4"/>
          <p:cNvSpPr txBox="1"/>
          <p:nvPr/>
        </p:nvSpPr>
        <p:spPr>
          <a:xfrm>
            <a:off x="584200" y="9512925"/>
            <a:ext cx="26598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8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70%	</a:t>
            </a:r>
            <a:r>
              <a:rPr lang="en-US" sz="1200">
                <a:solidFill>
                  <a:srgbClr val="46494D"/>
                </a:solidFill>
                <a:latin typeface="Verdana"/>
                <a:ea typeface="Verdana"/>
                <a:cs typeface="Verdana"/>
                <a:sym typeface="Verdana"/>
              </a:rPr>
              <a:t>– предоплата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p4"/>
          <p:cNvSpPr txBox="1"/>
          <p:nvPr/>
        </p:nvSpPr>
        <p:spPr>
          <a:xfrm>
            <a:off x="577850" y="9840809"/>
            <a:ext cx="20715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1100">
            <a:spAutoFit/>
          </a:bodyPr>
          <a:lstStyle/>
          <a:p>
            <a:pPr indent="0" lvl="0" marL="128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20%	</a:t>
            </a:r>
            <a:r>
              <a:rPr lang="en-US" sz="1200">
                <a:solidFill>
                  <a:srgbClr val="46494D"/>
                </a:solidFill>
                <a:latin typeface="Verdana"/>
                <a:ea typeface="Verdana"/>
                <a:cs typeface="Verdana"/>
                <a:sym typeface="Verdana"/>
              </a:rPr>
              <a:t>– через месяц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" name="Google Shape;79;p4"/>
          <p:cNvSpPr txBox="1"/>
          <p:nvPr/>
        </p:nvSpPr>
        <p:spPr>
          <a:xfrm>
            <a:off x="552450" y="10168703"/>
            <a:ext cx="68022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0475">
            <a:spAutoFit/>
          </a:bodyPr>
          <a:lstStyle/>
          <a:p>
            <a:pPr indent="0" lvl="0" marL="128904" marR="5060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baseline="-25000" lang="en-US" sz="2100">
                <a:solidFill>
                  <a:srgbClr val="1F2A43"/>
                </a:solidFill>
                <a:latin typeface="Verdana"/>
                <a:ea typeface="Verdana"/>
                <a:cs typeface="Verdana"/>
                <a:sym typeface="Verdana"/>
              </a:rPr>
              <a:t>10%	</a:t>
            </a:r>
            <a:r>
              <a:rPr lang="en-US" sz="1200">
                <a:solidFill>
                  <a:srgbClr val="4D4D4D"/>
                </a:solidFill>
                <a:latin typeface="Verdana"/>
                <a:ea typeface="Verdana"/>
                <a:cs typeface="Verdana"/>
                <a:sym typeface="Verdana"/>
              </a:rPr>
              <a:t>– не позднее 3 (Трех) рабочих дней после направления Покупателю уведомления о готовности оборудования к отгрузке.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250"/>
            <a:ext cx="7556500" cy="40960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" name="Google Shape;85;p5"/>
          <p:cNvGraphicFramePr/>
          <p:nvPr/>
        </p:nvGraphicFramePr>
        <p:xfrm>
          <a:off x="273050" y="41912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{5DB3F1BD-B5F7-49C2-89CB-4AEC0355C9F1}</a:tableStyleId>
              </a:tblPr>
              <a:tblGrid>
                <a:gridCol w="3467100"/>
                <a:gridCol w="3467100"/>
              </a:tblGrid>
              <a:tr h="344175">
                <a:tc>
                  <a:txBody>
                    <a:bodyPr/>
                    <a:lstStyle/>
                    <a:p>
                      <a:pPr indent="0" lvl="0" marL="5695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Наименование показателя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3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Значение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19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/>
                    </a:solidFill>
                  </a:tcPr>
                </a:tc>
              </a:tr>
              <a:tr h="184150">
                <a:tc gridSpan="2">
                  <a:txBody>
                    <a:bodyPr/>
                    <a:lstStyle/>
                    <a:p>
                      <a:pPr indent="0" lvl="0" marL="2319655" marR="0" rtl="0" algn="l">
                        <a:lnSpc>
                          <a:spcPct val="11083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Параметры генераторной установки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5D5D5"/>
                    </a:solidFill>
                  </a:tcPr>
                </a:tc>
                <a:tc hMerge="1"/>
              </a:tr>
              <a:tr h="184150">
                <a:tc>
                  <a:txBody>
                    <a:bodyPr/>
                    <a:lstStyle/>
                    <a:p>
                      <a:pPr indent="0" lvl="0" marL="501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Модель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ГПУ-250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Номинальная мощность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29969" marR="0" rtl="0" algn="l">
                        <a:lnSpc>
                          <a:spcPct val="11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250Квт/315,5кВа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Резервная мощность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29969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275кВт/342,5кВа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60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Номинальное напряжение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400В/220В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60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Номинальная частота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50 Гц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Номинальная скорость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1500 об/мин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600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Номинальный ток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76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450А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132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Фактор мощности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0,8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67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Контроллер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07365" marR="0" rtl="0" algn="l">
                        <a:lnSpc>
                          <a:spcPct val="11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Smartgen9420/Deepsea 7320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225">
                <a:tc>
                  <a:txBody>
                    <a:bodyPr/>
                    <a:lstStyle/>
                    <a:p>
                      <a:pPr indent="0" lvl="0" marL="5143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Регулятор скорости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8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67715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Цифровой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5425">
                <a:tc gridSpan="2">
                  <a:txBody>
                    <a:bodyPr/>
                    <a:lstStyle/>
                    <a:p>
                      <a:pPr indent="0" lvl="0" marL="250825" marR="0" rtl="0" algn="ctr">
                        <a:lnSpc>
                          <a:spcPct val="112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Параметры двигателя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/>
                    </a:solidFill>
                  </a:tcPr>
                </a:tc>
                <a:tc hMerge="1"/>
              </a:tr>
              <a:tr h="182250">
                <a:tc>
                  <a:txBody>
                    <a:bodyPr/>
                    <a:lstStyle/>
                    <a:p>
                      <a:pPr indent="0" lvl="0" marL="5016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Инженерная модель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62585" marR="0" rtl="0" algn="l">
                        <a:lnSpc>
                          <a:spcPct val="11142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Двигатель Weichai /WP13D317E300NG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92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Тип двигателя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852169" lvl="0" marL="894080" marR="60960" rtl="0" algn="l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Рядный, четырехтактный, электронное зажигание,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852169" lvl="0" marL="894080" marR="60960" rtl="0" algn="l">
                        <a:lnSpc>
                          <a:spcPct val="11428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водяное охлаждение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Количество цилиндров и клапанов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397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цилиндров/24 клапана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Диаметр и ход цилиндра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127×165мм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25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Объем двигателя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13815" marR="0" rtl="0" algn="l">
                        <a:lnSpc>
                          <a:spcPct val="1104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11.6 л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Метод запуска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Электрический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Направление вращения коленчатого вала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7183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Против часовой стрелки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Метод охлаждения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12140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Водяное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22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Тип принудительного нагнетания воздуха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2545" marR="0" rtl="0" algn="l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С турбонаддувом и промежуточным охлаждением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050">
                <a:tc>
                  <a:txBody>
                    <a:bodyPr/>
                    <a:lstStyle/>
                    <a:p>
                      <a:pPr indent="0" lvl="0" marL="4699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Регулятор скорости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Электронный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654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Метод смешивания топливной смеси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0383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Смеситель типа Вентури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84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92710" marR="0" rtl="0" algn="l">
                        <a:lnSpc>
                          <a:spcPct val="113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Давление масла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822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345 -483 КПа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5461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Номинальный расход газа (м³/ч) при нагрузке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08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7653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100% -57м3/час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76530" marR="0" rtl="0" algn="l">
                        <a:lnSpc>
                          <a:spcPct val="113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75% -50м3/час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74625" marR="0" rtl="0" algn="l">
                        <a:lnSpc>
                          <a:spcPct val="112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50% -40м3/час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84150" marR="0" rtl="0" algn="l">
                        <a:lnSpc>
                          <a:spcPct val="11454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16.5м3/час холостой ход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31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Google Shape;90;p6"/>
          <p:cNvGraphicFramePr/>
          <p:nvPr/>
        </p:nvGraphicFramePr>
        <p:xfrm>
          <a:off x="273050" y="1264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{5DB3F1BD-B5F7-49C2-89CB-4AEC0355C9F1}</a:tableStyleId>
              </a:tblPr>
              <a:tblGrid>
                <a:gridCol w="3471575"/>
                <a:gridCol w="3462625"/>
              </a:tblGrid>
              <a:tr h="187325">
                <a:tc gridSpan="2">
                  <a:txBody>
                    <a:bodyPr/>
                    <a:lstStyle/>
                    <a:p>
                      <a:pPr indent="0" lvl="0" marL="245745" marR="0" rtl="0" algn="ctr">
                        <a:lnSpc>
                          <a:spcPct val="119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Ге нератор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/>
                    </a:solidFill>
                  </a:tcPr>
                </a:tc>
                <a:tc hMerge="1"/>
              </a:tr>
              <a:tr h="180975">
                <a:tc>
                  <a:txBody>
                    <a:bodyPr/>
                    <a:lstStyle/>
                    <a:p>
                      <a:pPr indent="0" lvl="0" marL="43815" marR="0" rtl="0" algn="l">
                        <a:lnSpc>
                          <a:spcPct val="1195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 изоляции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985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Класс Н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2575">
                <a:tc>
                  <a:txBody>
                    <a:bodyPr/>
                    <a:lstStyle/>
                    <a:p>
                      <a:pPr indent="0" lvl="0" marL="40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Связь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799465" rtl="0" algn="ctr">
                        <a:lnSpc>
                          <a:spcPct val="7587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3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фазный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проводной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indent="0" lvl="0" marL="31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Номинальная мощность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353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250кВт/312.5кВА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275">
                <a:tc>
                  <a:txBody>
                    <a:bodyPr/>
                    <a:lstStyle/>
                    <a:p>
                      <a:pPr indent="0" lvl="0" marL="438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Кла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сс з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ащиты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IP23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175">
                <a:tc>
                  <a:txBody>
                    <a:bodyPr/>
                    <a:lstStyle/>
                    <a:p>
                      <a:pPr indent="0" lvl="0" marL="438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Режим регули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ования напряжения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814705" rtl="0" algn="l">
                        <a:lnSpc>
                          <a:spcPct val="765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АВР 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автоматический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baseline="30000" sz="1575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8275">
                <a:tc>
                  <a:txBody>
                    <a:bodyPr/>
                    <a:lstStyle/>
                    <a:p>
                      <a:pPr indent="0" lvl="0" marL="4064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Фактор мощности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0,8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0175">
                <a:tc>
                  <a:txBody>
                    <a:bodyPr/>
                    <a:lstStyle/>
                    <a:p>
                      <a:pPr indent="0" lvl="0" marL="4254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Тип в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озб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ужд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е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ния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3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" marR="0" rtl="0" algn="ctr">
                        <a:lnSpc>
                          <a:spcPct val="11238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Бесщеточный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1" name="Google Shape;91;p6"/>
          <p:cNvGraphicFramePr/>
          <p:nvPr/>
        </p:nvGraphicFramePr>
        <p:xfrm>
          <a:off x="273050" y="1847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{5DB3F1BD-B5F7-49C2-89CB-4AEC0355C9F1}</a:tableStyleId>
              </a:tblPr>
              <a:tblGrid>
                <a:gridCol w="3433400"/>
                <a:gridCol w="3424600"/>
              </a:tblGrid>
              <a:tr h="182875">
                <a:tc gridSpan="2">
                  <a:txBody>
                    <a:bodyPr/>
                    <a:lstStyle/>
                    <a:p>
                      <a:pPr indent="0" lvl="0" marL="43815" marR="0" rtl="0" algn="ctr">
                        <a:lnSpc>
                          <a:spcPct val="11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Обща я информация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ADADA"/>
                    </a:solidFill>
                  </a:tcPr>
                </a:tc>
                <a:tc hMerge="1"/>
              </a:tr>
              <a:tr h="205100">
                <a:tc>
                  <a:txBody>
                    <a:bodyPr/>
                    <a:lstStyle/>
                    <a:p>
                      <a:pPr indent="0" lvl="0" marL="603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Допустимая температура окружающей среды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0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95985" marR="0" rtl="0" algn="l">
                        <a:lnSpc>
                          <a:spcPct val="78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Температура &lt;25 </a:t>
                      </a:r>
                      <a:r>
                        <a:rPr lang="en-US" sz="105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℃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3050">
                <a:tc>
                  <a:txBody>
                    <a:bodyPr/>
                    <a:lstStyle/>
                    <a:p>
                      <a:pPr indent="0" lvl="0" marL="730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С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уммарный КП</a:t>
                      </a: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 </a:t>
                      </a:r>
                      <a:r>
                        <a:rPr baseline="30000" lang="en-US" sz="1575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при номинальной мощности</a:t>
                      </a:r>
                      <a:endParaRPr baseline="30000" sz="1575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2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20510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80%</a:t>
                      </a:r>
                      <a:endParaRPr sz="10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58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indent="0" lvl="0" marL="12446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КПД </a:t>
                      </a:r>
                      <a:r>
                        <a:rPr baseline="30000" lang="en-US" sz="165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электрическая</a:t>
                      </a:r>
                      <a:endParaRPr baseline="30000" sz="165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6954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33%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1428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Внешние габариты на раме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94945" marR="0" rtl="0" algn="l">
                        <a:lnSpc>
                          <a:spcPct val="100000"/>
                        </a:lnSpc>
                        <a:spcBef>
                          <a:spcPts val="62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Общая масса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63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620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 * Ш * В: 3650*1000*2240 (мм)</a:t>
                      </a:r>
                      <a:endParaRPr sz="10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82550" rtl="0" algn="ctr">
                        <a:lnSpc>
                          <a:spcPct val="100000"/>
                        </a:lnSpc>
                        <a:spcBef>
                          <a:spcPts val="3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2275кг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15811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Внешние габариты контейнера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71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807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Д*Ш*В  4000*2160*2210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3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6375">
                <a:tc>
                  <a:txBody>
                    <a:bodyPr/>
                    <a:lstStyle/>
                    <a:p>
                      <a:pPr indent="0" lvl="0" marL="1841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Общая масса в контейнере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17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683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4350кг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60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11366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Рекомендуемое давление газа на вводе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9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6985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3-5кПа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795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indent="0" lvl="0" marL="115570" marR="0" rtl="0" algn="l">
                        <a:lnSpc>
                          <a:spcPct val="112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Номинальное давление газа при холостом ходу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9461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3-5кПа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825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8600">
                <a:tc>
                  <a:txBody>
                    <a:bodyPr/>
                    <a:lstStyle/>
                    <a:p>
                      <a:pPr indent="0" lvl="0" marL="164465" marR="0" rtl="0" algn="l">
                        <a:lnSpc>
                          <a:spcPct val="110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Макс. температура выхлопных газов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715" rtl="0" algn="ctr">
                        <a:lnSpc>
                          <a:spcPct val="11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600</a:t>
                      </a:r>
                      <a:r>
                        <a:rPr lang="en-US" sz="1100" u="none" cap="none" strike="noStrike">
                          <a:latin typeface="Cambria Math"/>
                          <a:ea typeface="Cambria Math"/>
                          <a:cs typeface="Cambria Math"/>
                          <a:sym typeface="Cambria Math"/>
                        </a:rPr>
                        <a:t>℃</a:t>
                      </a: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±25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275"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159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Точка ввода газа, диаметр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5461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DN50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920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" name="Google Shape;92;p6"/>
          <p:cNvSpPr txBox="1"/>
          <p:nvPr/>
        </p:nvSpPr>
        <p:spPr>
          <a:xfrm>
            <a:off x="311150" y="5048250"/>
            <a:ext cx="6934200" cy="26507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268605" lvl="0" marL="2838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 startAt="4"/>
            </a:pPr>
            <a:r>
              <a:rPr b="1" lang="en-US" sz="1200">
                <a:latin typeface="Times New Roman"/>
                <a:ea typeface="Times New Roman"/>
                <a:cs typeface="Times New Roman"/>
                <a:sym typeface="Times New Roman"/>
              </a:rPr>
              <a:t>ГАРАНТИЙНЫЕ ОБЯЗАТЕЛЬСТВА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SzPts val="1200"/>
              <a:buFont typeface="Times New Roman"/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015" lvl="1" marL="259079" marR="244475" rtl="0" algn="just">
              <a:lnSpc>
                <a:spcPct val="123800"/>
              </a:lnSpc>
              <a:spcBef>
                <a:spcPts val="5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Предприятие-изготовитель гарантирует соответствие ГПУ-250 нормативной документации при соблюдении правил транспортирования, хранения, монтажа, эксплуатации и обслуживания.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1" marL="17145" marR="5080" rtl="0" algn="l">
              <a:lnSpc>
                <a:spcPct val="119166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Гарантийный срок хранения - 12 месяца со дня изготовления до ввода в эксплуатацию.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1" marL="6350" marR="288925" rtl="0" algn="l">
              <a:lnSpc>
                <a:spcPct val="123300"/>
              </a:lnSpc>
              <a:spcBef>
                <a:spcPts val="335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Гарантийный срок эксплуатации 12 месяца со дня ввода в эксплуатацию или 1500 моточасов, </a:t>
            </a:r>
            <a:b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 в зависимости от того, что наступит раньше, но не более 18 месяцев с даты изготовления.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620" lvl="1" marL="27559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Нормативный срок службы ГПУ-250 составляет не менее: 15 лет 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7015" lvl="1" marL="259079" marR="128270" rtl="0" algn="l">
              <a:lnSpc>
                <a:spcPct val="113700"/>
              </a:lnSpc>
              <a:spcBef>
                <a:spcPts val="225"/>
              </a:spcBef>
              <a:spcAft>
                <a:spcPts val="0"/>
              </a:spcAft>
              <a:buSzPts val="1200"/>
              <a:buFont typeface="Times New Roman"/>
              <a:buAutoNum type="arabicPeriod"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Гарантия не предусматривает возмещение материального ущерба или травм, связанных с эксплуатацией ГПУ-250. Гарантийному ремонту не подлежат поломки, возникшие по причине неправильного, монтажа, эксплуатации или размещения ГПУ-250 в месте, непригодном для эксплуатации 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2025-09-25T10:34:58Z</dcterms:created>
  <dc:creator>pav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