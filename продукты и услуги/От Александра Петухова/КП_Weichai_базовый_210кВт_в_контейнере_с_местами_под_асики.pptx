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</p:sldIdLst>
  <p:sldSz cx="7556500" cy="10706100"/>
  <p:notesSz cx="7556500" cy="107061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Раздел по умолчанию" id="{BB18C549-3DC8-41B5-9190-D2FB0F76C086}">
          <p14:sldIdLst>
            <p14:sldId id="256"/>
          </p14:sldIdLst>
        </p14:section>
        <p14:section name="Раздел без заголовка" id="{1C742C74-E3E6-4A2D-A424-7B5F55AC43F1}">
          <p14:sldIdLst>
            <p14:sldId id="257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82" autoAdjust="0"/>
  </p:normalViewPr>
  <p:slideViewPr>
    <p:cSldViewPr>
      <p:cViewPr>
        <p:scale>
          <a:sx n="70" d="100"/>
          <a:sy n="70" d="100"/>
        </p:scale>
        <p:origin x="2160" y="-6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92679" y="6448044"/>
            <a:ext cx="2496312" cy="3994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hyperlink" Target="mailto:sales@elementkb.ru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0" y="1187121"/>
            <a:ext cx="7449439" cy="7636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КОММЕРЧЕСКОЕ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ПРЕДЛОЖЕНИЕ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5" dirty="0" err="1">
                <a:solidFill>
                  <a:srgbClr val="1C2A45"/>
                </a:solidFill>
                <a:latin typeface="Verdana"/>
                <a:cs typeface="Verdana"/>
              </a:rPr>
              <a:t>на</a:t>
            </a:r>
            <a:r>
              <a:rPr lang="ru-RU" sz="1600" b="1" spc="-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ГПУ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Weichai</a:t>
            </a:r>
            <a:r>
              <a:rPr sz="1600" b="1" spc="-95" dirty="0"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номинальной</a:t>
            </a:r>
            <a:r>
              <a:rPr sz="1600" b="1" spc="-8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мощность</a:t>
            </a:r>
            <a:r>
              <a:rPr lang="ru-RU" sz="1600" b="1" dirty="0">
                <a:solidFill>
                  <a:srgbClr val="1C2A45"/>
                </a:solidFill>
                <a:latin typeface="Verdana"/>
                <a:cs typeface="Verdana"/>
              </a:rPr>
              <a:t>ю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250кВт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 в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lang="ru-RU" sz="1600" b="1" dirty="0">
                <a:solidFill>
                  <a:srgbClr val="1C2A45"/>
                </a:solidFill>
                <a:latin typeface="Verdana"/>
                <a:cs typeface="Verdana"/>
              </a:rPr>
              <a:t>контейнере с полками под </a:t>
            </a:r>
            <a:r>
              <a:rPr lang="ru-RU" sz="1600" b="1" dirty="0" err="1">
                <a:solidFill>
                  <a:srgbClr val="1C2A45"/>
                </a:solidFill>
                <a:latin typeface="Verdana"/>
                <a:cs typeface="Verdana"/>
              </a:rPr>
              <a:t>асики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1106" y="229180"/>
            <a:ext cx="133834" cy="1621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3329" y="559646"/>
            <a:ext cx="149860" cy="1625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3329" y="897128"/>
            <a:ext cx="149860" cy="12014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763773" y="241554"/>
            <a:ext cx="196151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РФ,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РМЭ,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Йошкар-Ола,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б-р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Победы,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д.15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0311" y="557276"/>
            <a:ext cx="9601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+7(927)</a:t>
            </a:r>
            <a:r>
              <a:rPr sz="900" spc="-25" dirty="0">
                <a:latin typeface="Segoe UI"/>
                <a:cs typeface="Segoe UI"/>
              </a:rPr>
              <a:t> </a:t>
            </a:r>
            <a:r>
              <a:rPr sz="900" dirty="0">
                <a:latin typeface="Segoe UI"/>
                <a:cs typeface="Segoe UI"/>
              </a:rPr>
              <a:t>872</a:t>
            </a:r>
            <a:r>
              <a:rPr sz="900" spc="-3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98-</a:t>
            </a:r>
            <a:r>
              <a:rPr sz="900" spc="-25" dirty="0">
                <a:latin typeface="Segoe UI"/>
                <a:cs typeface="Segoe UI"/>
              </a:rPr>
              <a:t>91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7866" y="834897"/>
            <a:ext cx="1075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5"/>
              </a:rPr>
              <a:t>sales1@elementkb.ru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682" y="5810250"/>
            <a:ext cx="7372477" cy="3286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СПЕЦИАЛЬНОЕ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ГПУ</a:t>
            </a:r>
            <a:r>
              <a:rPr sz="1400" b="1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ДЛЯ</a:t>
            </a:r>
            <a:r>
              <a:rPr sz="1400" b="1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РАБОТЫ</a:t>
            </a:r>
            <a:r>
              <a:rPr sz="140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Verdana"/>
                <a:cs typeface="Verdana"/>
              </a:rPr>
              <a:t>В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РЕЖИМЕ</a:t>
            </a:r>
            <a:r>
              <a:rPr sz="1400" b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24/7/365</a:t>
            </a:r>
            <a:endParaRPr sz="1400" dirty="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1180"/>
              </a:spcBef>
            </a:pP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Ресурсные</a:t>
            </a:r>
            <a:r>
              <a:rPr sz="1200" spc="-9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газопоршневые</a:t>
            </a:r>
            <a:r>
              <a:rPr sz="1200" spc="-5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установки</a:t>
            </a:r>
            <a:r>
              <a:rPr sz="1200" spc="-7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для</a:t>
            </a:r>
            <a:r>
              <a:rPr sz="1200" spc="-8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выработки</a:t>
            </a:r>
            <a:endParaRPr sz="1200" dirty="0">
              <a:solidFill>
                <a:schemeClr val="tx1"/>
              </a:solidFill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359"/>
              </a:spcBef>
            </a:pP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электроэнергии</a:t>
            </a:r>
            <a:r>
              <a:rPr sz="1200" spc="1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в</a:t>
            </a:r>
            <a:r>
              <a:rPr sz="1200" spc="-8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режиме</a:t>
            </a:r>
            <a:r>
              <a:rPr sz="1200" spc="-3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24/7/365.</a:t>
            </a:r>
            <a:endParaRPr sz="1200" dirty="0">
              <a:solidFill>
                <a:schemeClr val="tx1"/>
              </a:solidFill>
              <a:latin typeface="Verdana"/>
              <a:cs typeface="Verdana"/>
            </a:endParaRPr>
          </a:p>
          <a:p>
            <a:pPr marL="20320" marR="140970">
              <a:lnSpc>
                <a:spcPct val="114999"/>
              </a:lnSpc>
              <a:spcBef>
                <a:spcPts val="395"/>
              </a:spcBef>
            </a:pP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Моторесурс</a:t>
            </a:r>
            <a:r>
              <a:rPr sz="1200" spc="-5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36.000</a:t>
            </a:r>
            <a:r>
              <a:rPr sz="1200" spc="-9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часов.</a:t>
            </a:r>
            <a:r>
              <a:rPr sz="1200" spc="-2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Без</a:t>
            </a:r>
            <a:r>
              <a:rPr sz="1200" spc="-8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перегрева</a:t>
            </a:r>
            <a:r>
              <a:rPr sz="1200" spc="-1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и</a:t>
            </a:r>
            <a:r>
              <a:rPr sz="1200" spc="-9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дерейта.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КПД</a:t>
            </a:r>
            <a:r>
              <a:rPr sz="1200" spc="-5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ГПУ</a:t>
            </a:r>
            <a:r>
              <a:rPr sz="1200" spc="-4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–</a:t>
            </a:r>
            <a:r>
              <a:rPr sz="1200" spc="-4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33%</a:t>
            </a:r>
            <a:r>
              <a:rPr sz="1200" spc="-3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(против 28%</a:t>
            </a:r>
            <a:r>
              <a:rPr sz="1200" spc="-4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в</a:t>
            </a:r>
            <a:r>
              <a:rPr sz="1200" spc="-3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 err="1">
                <a:solidFill>
                  <a:schemeClr val="tx1"/>
                </a:solidFill>
                <a:latin typeface="Verdana"/>
                <a:cs typeface="Verdana"/>
              </a:rPr>
              <a:t>стандарте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).</a:t>
            </a:r>
            <a:endParaRPr lang="ru-RU" sz="1200" spc="-10" dirty="0">
              <a:solidFill>
                <a:schemeClr val="tx1"/>
              </a:solidFill>
              <a:latin typeface="Verdana"/>
              <a:cs typeface="Verdana"/>
            </a:endParaRPr>
          </a:p>
          <a:p>
            <a:pPr marL="20320" marR="140970">
              <a:lnSpc>
                <a:spcPct val="114999"/>
              </a:lnSpc>
              <a:spcBef>
                <a:spcPts val="395"/>
              </a:spcBef>
            </a:pPr>
            <a:endParaRPr sz="1200" dirty="0">
              <a:solidFill>
                <a:schemeClr val="tx1"/>
              </a:solidFill>
              <a:latin typeface="Verdana"/>
              <a:cs typeface="Verdana"/>
            </a:endParaRPr>
          </a:p>
          <a:p>
            <a:pPr marL="12700" marR="231140">
              <a:lnSpc>
                <a:spcPct val="130000"/>
              </a:lnSpc>
            </a:pP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Двигатели</a:t>
            </a:r>
            <a:r>
              <a:rPr sz="1200" spc="-7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WEICHAI</a:t>
            </a:r>
            <a:r>
              <a:rPr sz="1200" spc="-3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WP13</a:t>
            </a:r>
            <a:r>
              <a:rPr sz="1200" spc="-20" dirty="0">
                <a:solidFill>
                  <a:schemeClr val="tx1"/>
                </a:solidFill>
                <a:latin typeface="Verdana"/>
                <a:cs typeface="Verdana"/>
              </a:rPr>
              <a:t>,</a:t>
            </a:r>
            <a:r>
              <a:rPr sz="1200" spc="-7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ведущего</a:t>
            </a:r>
            <a:r>
              <a:rPr sz="1200" spc="-2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мирового производителя</a:t>
            </a:r>
            <a:r>
              <a:rPr sz="1200" spc="4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(премиальный</a:t>
            </a:r>
            <a:r>
              <a:rPr sz="1200" spc="2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Китай).</a:t>
            </a:r>
            <a:r>
              <a:rPr sz="1200" spc="-8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С</a:t>
            </a:r>
            <a:r>
              <a:rPr sz="1200" spc="-8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точностью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электроэнергии</a:t>
            </a:r>
            <a:r>
              <a:rPr sz="1200" spc="-1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1%,</a:t>
            </a:r>
            <a:r>
              <a:rPr sz="1200" spc="-9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против</a:t>
            </a:r>
            <a:r>
              <a:rPr sz="1200" spc="-5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10%</a:t>
            </a:r>
            <a:r>
              <a:rPr sz="1200" spc="-9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в</a:t>
            </a:r>
            <a:r>
              <a:rPr sz="1200" spc="-8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 err="1">
                <a:solidFill>
                  <a:schemeClr val="tx1"/>
                </a:solidFill>
                <a:latin typeface="Verdana"/>
                <a:cs typeface="Verdana"/>
              </a:rPr>
              <a:t>стандарте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.</a:t>
            </a:r>
            <a:endParaRPr lang="ru-RU" sz="1200" spc="-10" dirty="0">
              <a:solidFill>
                <a:schemeClr val="tx1"/>
              </a:solidFill>
              <a:latin typeface="Verdana"/>
              <a:cs typeface="Verdana"/>
            </a:endParaRPr>
          </a:p>
          <a:p>
            <a:pPr marL="12700" marR="231140">
              <a:lnSpc>
                <a:spcPct val="130000"/>
              </a:lnSpc>
            </a:pPr>
            <a:endParaRPr sz="1200" dirty="0">
              <a:solidFill>
                <a:schemeClr val="tx1"/>
              </a:solidFill>
              <a:latin typeface="Verdana"/>
              <a:cs typeface="Verdana"/>
            </a:endParaRPr>
          </a:p>
          <a:p>
            <a:pPr marL="20320" marR="513715">
              <a:lnSpc>
                <a:spcPct val="130000"/>
              </a:lnSpc>
            </a:pP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Альтернатор</a:t>
            </a:r>
            <a:r>
              <a:rPr sz="1200" spc="1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Element</a:t>
            </a:r>
            <a:r>
              <a:rPr sz="1200" spc="-1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с</a:t>
            </a:r>
            <a:r>
              <a:rPr sz="1200" spc="-7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КПД</a:t>
            </a:r>
            <a:r>
              <a:rPr sz="1200" spc="-7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93%</a:t>
            </a:r>
            <a:r>
              <a:rPr sz="1200" spc="-7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-</a:t>
            </a:r>
            <a:r>
              <a:rPr sz="1200" spc="-7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специально разработанный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для</a:t>
            </a:r>
            <a:r>
              <a:rPr sz="1200" spc="-6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нагруженных</a:t>
            </a:r>
            <a:r>
              <a:rPr sz="1200" spc="-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chemeClr val="tx1"/>
                </a:solidFill>
                <a:latin typeface="Verdana"/>
                <a:cs typeface="Verdana"/>
              </a:rPr>
              <a:t>ГПУ.</a:t>
            </a:r>
            <a:endParaRPr sz="1200" dirty="0">
              <a:solidFill>
                <a:schemeClr val="tx1"/>
              </a:solidFill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00" dirty="0">
              <a:solidFill>
                <a:schemeClr val="tx1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Контроллер</a:t>
            </a:r>
            <a:r>
              <a:rPr sz="1200" spc="-6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SmartGen</a:t>
            </a:r>
            <a:r>
              <a:rPr sz="1200" spc="-6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(«умный</a:t>
            </a:r>
            <a:r>
              <a:rPr sz="1200" spc="-8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Verdana"/>
                <a:cs typeface="Verdana"/>
              </a:rPr>
              <a:t>генератор»)</a:t>
            </a:r>
            <a:endParaRPr sz="1200" dirty="0">
              <a:solidFill>
                <a:schemeClr val="tx1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специально</a:t>
            </a:r>
            <a:r>
              <a:rPr sz="1200" spc="1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chemeClr val="tx1"/>
                </a:solidFill>
                <a:latin typeface="Verdana"/>
                <a:cs typeface="Verdana"/>
              </a:rPr>
              <a:t>разработанный</a:t>
            </a:r>
            <a:r>
              <a:rPr sz="1200" spc="-5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chemeClr val="tx1"/>
                </a:solidFill>
                <a:latin typeface="Verdana"/>
                <a:cs typeface="Verdana"/>
              </a:rPr>
              <a:t>для</a:t>
            </a:r>
            <a:r>
              <a:rPr sz="1200" spc="-5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chemeClr val="tx1"/>
                </a:solidFill>
                <a:latin typeface="Verdana"/>
                <a:cs typeface="Verdana"/>
              </a:rPr>
              <a:t>ГПУ.</a:t>
            </a:r>
            <a:endParaRPr sz="12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3507" y="60840"/>
            <a:ext cx="993241" cy="92196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238369" y="75691"/>
            <a:ext cx="221107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1284605" indent="-10795">
              <a:lnSpc>
                <a:spcPct val="1344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ООО</a:t>
            </a:r>
            <a:r>
              <a:rPr sz="900" spc="-1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«ЭЛЕМЕНТ» </a:t>
            </a:r>
            <a:r>
              <a:rPr sz="900" dirty="0">
                <a:latin typeface="Segoe UI"/>
                <a:cs typeface="Segoe UI"/>
              </a:rPr>
              <a:t>ИНН</a:t>
            </a:r>
            <a:r>
              <a:rPr sz="900" spc="-6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1218002079</a:t>
            </a:r>
            <a:endParaRPr sz="900">
              <a:latin typeface="Segoe UI"/>
              <a:cs typeface="Segoe UI"/>
            </a:endParaRPr>
          </a:p>
          <a:p>
            <a:pPr marL="22860">
              <a:lnSpc>
                <a:spcPct val="100000"/>
              </a:lnSpc>
              <a:spcBef>
                <a:spcPts val="455"/>
              </a:spcBef>
            </a:pPr>
            <a:r>
              <a:rPr sz="900" spc="-10" dirty="0">
                <a:latin typeface="Segoe UI"/>
                <a:cs typeface="Segoe UI"/>
              </a:rPr>
              <a:t>КПП</a:t>
            </a:r>
            <a:r>
              <a:rPr sz="900" spc="-4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121801001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latin typeface="Segoe UI"/>
                <a:cs typeface="Segoe UI"/>
              </a:rPr>
              <a:t>р/с</a:t>
            </a:r>
            <a:r>
              <a:rPr sz="900" spc="-5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40702810070010348277</a:t>
            </a:r>
            <a:r>
              <a:rPr sz="900" spc="2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(Модульбанк)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90"/>
              </a:spcBef>
            </a:pPr>
            <a:r>
              <a:rPr sz="900" spc="-10" dirty="0">
                <a:latin typeface="Segoe UI"/>
                <a:cs typeface="Segoe UI"/>
              </a:rPr>
              <a:t>БИК</a:t>
            </a:r>
            <a:r>
              <a:rPr sz="900" spc="-4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044525092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9352" y="5219700"/>
            <a:ext cx="81280" cy="1525905"/>
            <a:chOff x="149352" y="5219700"/>
            <a:chExt cx="81280" cy="1525905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352" y="6039612"/>
              <a:ext cx="73152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972" y="5219700"/>
              <a:ext cx="73151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400" y="6667500"/>
              <a:ext cx="73151" cy="777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0738" y="10010647"/>
            <a:ext cx="67735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Данное</a:t>
            </a:r>
            <a:r>
              <a:rPr sz="1100" spc="-8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коммерческое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предложение</a:t>
            </a:r>
            <a:r>
              <a:rPr sz="1100" spc="-6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является</a:t>
            </a:r>
            <a:r>
              <a:rPr sz="1100" spc="-5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офертой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(в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соответствии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ст.435</a:t>
            </a:r>
            <a:r>
              <a:rPr sz="1100" spc="-7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ГК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РФ),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и</a:t>
            </a:r>
            <a:r>
              <a:rPr sz="1100" spc="-10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влечет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за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собой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обязательств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ООО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«ЭЛЕМЕНТ»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по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заключению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Договора на</a:t>
            </a:r>
            <a:r>
              <a:rPr sz="1100" spc="-4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условиях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настоящего</a:t>
            </a:r>
            <a:r>
              <a:rPr sz="1100" spc="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предложения</a:t>
            </a:r>
            <a:endParaRPr sz="1100">
              <a:latin typeface="Segoe UI"/>
              <a:cs typeface="Segoe UI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0C2FD32-26A8-41B5-B92F-EF55273676F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" y="1920782"/>
            <a:ext cx="7556500" cy="41188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058329"/>
              </p:ext>
            </p:extLst>
          </p:nvPr>
        </p:nvGraphicFramePr>
        <p:xfrm>
          <a:off x="60324" y="232938"/>
          <a:ext cx="7435851" cy="91290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2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832061480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3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Все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96875" marR="158750" indent="-30988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Количество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972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номинальная,</a:t>
                      </a:r>
                      <a:r>
                        <a:rPr sz="12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1250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lang="ru-RU" sz="12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11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680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постоянная,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>
                          <a:latin typeface="Microsoft Sans Serif"/>
                          <a:cs typeface="Microsoft Sans Serif"/>
                        </a:rPr>
                        <a:t>210</a:t>
                      </a:r>
                      <a:br>
                        <a:rPr lang="ru-RU" sz="1200" spc="-45">
                          <a:latin typeface="Microsoft Sans Serif"/>
                          <a:cs typeface="Microsoft Sans Serif"/>
                        </a:rPr>
                      </a:b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(вместо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200)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1050 </a:t>
                      </a:r>
                      <a:br>
                        <a:rPr lang="ru-RU" sz="1200" spc="-25" dirty="0">
                          <a:latin typeface="Microsoft Sans Serif"/>
                          <a:cs typeface="Microsoft Sans Serif"/>
                        </a:rPr>
                      </a:b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(вместо 1000)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3337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Сумма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104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Марка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81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 marR="227329" indent="0" algn="ctr">
                        <a:lnSpc>
                          <a:spcPct val="100000"/>
                        </a:lnSpc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br>
                        <a:rPr lang="ru-RU" sz="1200" spc="-1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WP13D317E300NG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85725" marR="227329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Шт.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16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250Квт/380В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двигатель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lang="ru-RU" sz="1200" spc="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WP13,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генератор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Element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715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 45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(400 000 юаней)</a:t>
                      </a:r>
                    </a:p>
                  </a:txBody>
                  <a:tcPr marL="0" marR="0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4 450 000</a:t>
                      </a:r>
                    </a:p>
                  </a:txBody>
                  <a:tcPr marL="0" marR="0" marT="1581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545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температуры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двигателя 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цилиндрам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35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702">
                <a:tc>
                  <a:txBody>
                    <a:bodyPr/>
                    <a:lstStyle/>
                    <a:p>
                      <a:pPr marL="91440" marR="147955">
                        <a:lnSpc>
                          <a:spcPts val="166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температуры выхлопных газов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5240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52160">
                <a:tc>
                  <a:txBody>
                    <a:bodyPr/>
                    <a:lstStyle/>
                    <a:p>
                      <a:pPr marL="91440" marR="539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Радиатор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охлаждения</a:t>
                      </a:r>
                      <a:r>
                        <a:rPr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вертикальный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вдвое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большей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площадью,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возможностью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выноса</a:t>
                      </a:r>
                      <a:r>
                        <a:rPr sz="1200" spc="-5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двумя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электровентиляторами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с частотным управлением по температуре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683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105"/>
                        </a:spcBef>
                        <a:tabLst/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92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323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Электри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ч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еский</a:t>
                      </a:r>
                      <a:r>
                        <a:rPr sz="1200" spc="-114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насос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414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96053">
                <a:tc>
                  <a:txBody>
                    <a:bodyPr/>
                    <a:lstStyle/>
                    <a:p>
                      <a:pPr marL="91440" marR="11506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подогрева охлаждающей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97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946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Постоянный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магнит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альтернатора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4318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032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Электроподогреватель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масла в картере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05554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Удаленный мониторинг с телефона на русском языке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866339"/>
                  </a:ext>
                </a:extLst>
              </a:tr>
              <a:tr h="405554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Газовая рампа с тремя цифровыми манометрами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584946"/>
                  </a:ext>
                </a:extLst>
              </a:tr>
              <a:tr h="426333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Автоматическая зарядка аккумуляторов от альтернатора без зарядного генератора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20751"/>
                  </a:ext>
                </a:extLst>
              </a:tr>
              <a:tr h="414869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на предприятии-изготовителя с видеоотчетом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800770"/>
                  </a:ext>
                </a:extLst>
              </a:tr>
              <a:tr h="348317">
                <a:tc>
                  <a:txBody>
                    <a:bodyPr/>
                    <a:lstStyle/>
                    <a:p>
                      <a:pPr marL="91440" marR="0" lvl="0" indent="0" algn="l" defTabSz="914400" eaLnBrk="1" fontAlgn="auto" latinLnBrk="0" hangingPunct="1">
                        <a:lnSpc>
                          <a:spcPts val="16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Интеркулер вода-воздух</a:t>
                      </a: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627588"/>
                  </a:ext>
                </a:extLst>
              </a:tr>
              <a:tr h="414869">
                <a:tc>
                  <a:txBody>
                    <a:bodyPr/>
                    <a:lstStyle/>
                    <a:p>
                      <a:pPr marL="91440" marR="0" lvl="0" indent="0" algn="l" defTabSz="914400" eaLnBrk="1" fontAlgn="auto" latinLnBrk="0" hangingPunct="1">
                        <a:lnSpc>
                          <a:spcPts val="16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Горизонтальный радиатор с 4 вентиляторами с частотным управлением</a:t>
                      </a: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247550"/>
                  </a:ext>
                </a:extLst>
              </a:tr>
              <a:tr h="405669">
                <a:tc>
                  <a:txBody>
                    <a:bodyPr/>
                    <a:lstStyle/>
                    <a:p>
                      <a:pPr marL="91440" marR="0" lvl="0" indent="0" algn="l" defTabSz="914400" eaLnBrk="1" fontAlgn="auto" latinLnBrk="0" hangingPunct="1">
                        <a:lnSpc>
                          <a:spcPts val="16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для ГПУ и полками под 60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асиков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2 000 000</a:t>
                      </a: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2 000 000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296191"/>
                  </a:ext>
                </a:extLst>
              </a:tr>
              <a:tr h="735074">
                <a:tc gridSpan="4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: 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дней</a:t>
                      </a:r>
                      <a:br>
                        <a:rPr lang="ru-RU" sz="1200" spc="-2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Итого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НДС:</a:t>
                      </a: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6 650 000</a:t>
                      </a:r>
                    </a:p>
                  </a:txBody>
                  <a:tcPr marL="0" marR="0" marT="12636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object 6"/>
          <p:cNvSpPr txBox="1"/>
          <p:nvPr/>
        </p:nvSpPr>
        <p:spPr>
          <a:xfrm>
            <a:off x="482282" y="10029452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*Стоимость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самой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составляет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400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000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юаней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 </a:t>
            </a:r>
            <a:r>
              <a:rPr sz="1400" spc="-10" dirty="0">
                <a:latin typeface="Microsoft Sans Serif"/>
                <a:cs typeface="Microsoft Sans Serif"/>
              </a:rPr>
              <a:t>курсу</a:t>
            </a:r>
            <a:r>
              <a:rPr sz="1400" dirty="0">
                <a:latin typeface="Microsoft Sans Serif"/>
                <a:cs typeface="Microsoft Sans Serif"/>
              </a:rPr>
              <a:t> на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день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оплаты.</a:t>
            </a:r>
            <a:endParaRPr sz="14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Microsoft Sans Serif"/>
                <a:cs typeface="Microsoft Sans Serif"/>
              </a:rPr>
              <a:t>Все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опции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полностью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российского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производства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Arial MT"/>
                <a:cs typeface="Arial MT"/>
              </a:rPr>
              <a:t>-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цены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 err="1">
                <a:latin typeface="Microsoft Sans Serif"/>
                <a:cs typeface="Microsoft Sans Serif"/>
              </a:rPr>
              <a:t>рублях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0" dirty="0" err="1">
                <a:latin typeface="Microsoft Sans Serif"/>
                <a:cs typeface="Microsoft Sans Serif"/>
              </a:rPr>
              <a:t>фиксированы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13AD6763-93BD-4707-B275-B3736A103D56}"/>
              </a:ext>
            </a:extLst>
          </p:cNvPr>
          <p:cNvSpPr txBox="1"/>
          <p:nvPr/>
        </p:nvSpPr>
        <p:spPr>
          <a:xfrm>
            <a:off x="445769" y="9372264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 err="1">
                <a:latin typeface="Microsoft Sans Serif"/>
                <a:cs typeface="Microsoft Sans Serif"/>
              </a:rPr>
              <a:t>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технического обслуживания нашей 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вдвое дешевле стандартной и составляет 250.000 руб. в год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600" y="629793"/>
            <a:ext cx="7219900" cy="801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algn="ctr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latin typeface="Verdana"/>
                <a:cs typeface="Verdana"/>
              </a:rPr>
              <a:t>Вы</a:t>
            </a:r>
            <a:r>
              <a:rPr spc="-380" dirty="0">
                <a:latin typeface="Verdana"/>
                <a:cs typeface="Verdana"/>
              </a:rPr>
              <a:t> </a:t>
            </a:r>
            <a:r>
              <a:rPr spc="-135" dirty="0">
                <a:latin typeface="Verdana"/>
                <a:cs typeface="Verdana"/>
              </a:rPr>
              <a:t>нашли</a:t>
            </a:r>
            <a:r>
              <a:rPr spc="-455" dirty="0">
                <a:latin typeface="Verdana"/>
                <a:cs typeface="Verdana"/>
              </a:rPr>
              <a:t> </a:t>
            </a:r>
            <a:r>
              <a:rPr spc="-175" dirty="0" err="1">
                <a:latin typeface="Verdana"/>
                <a:cs typeface="Verdana"/>
              </a:rPr>
              <a:t>правильную</a:t>
            </a:r>
            <a:r>
              <a:rPr spc="-440" dirty="0">
                <a:latin typeface="Verdana"/>
                <a:cs typeface="Verdana"/>
              </a:rPr>
              <a:t> </a:t>
            </a:r>
            <a:r>
              <a:rPr lang="ru-RU" spc="-440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компанию</a:t>
            </a:r>
            <a:r>
              <a:rPr lang="ru-RU" spc="-125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для</a:t>
            </a:r>
            <a:r>
              <a:rPr spc="-434" dirty="0">
                <a:latin typeface="Verdana"/>
                <a:cs typeface="Verdana"/>
              </a:rPr>
              <a:t> </a:t>
            </a:r>
            <a:r>
              <a:rPr lang="ru-RU" spc="-434" dirty="0">
                <a:latin typeface="Verdana"/>
                <a:cs typeface="Verdana"/>
              </a:rPr>
              <a:t> </a:t>
            </a:r>
            <a:r>
              <a:rPr spc="-170" dirty="0" err="1">
                <a:latin typeface="Verdana"/>
                <a:cs typeface="Verdana"/>
              </a:rPr>
              <a:t>покупки</a:t>
            </a:r>
            <a:r>
              <a:rPr lang="ru-RU" spc="-170" dirty="0">
                <a:latin typeface="Verdana"/>
                <a:cs typeface="Verdana"/>
              </a:rPr>
              <a:t> </a:t>
            </a:r>
            <a:r>
              <a:rPr spc="-484" dirty="0">
                <a:latin typeface="Verdana"/>
                <a:cs typeface="Verdana"/>
              </a:rPr>
              <a:t> </a:t>
            </a:r>
            <a:r>
              <a:rPr spc="-20" dirty="0">
                <a:latin typeface="Verdana"/>
                <a:cs typeface="Verdana"/>
              </a:rPr>
              <a:t>ГПУ!</a:t>
            </a:r>
            <a:endParaRPr dirty="0">
              <a:latin typeface="Verdana"/>
              <a:cs typeface="Verdana"/>
            </a:endParaRPr>
          </a:p>
          <a:p>
            <a:pPr marL="186055" marR="5080" algn="ctr">
              <a:lnSpc>
                <a:spcPct val="100000"/>
              </a:lnSpc>
              <a:spcBef>
                <a:spcPts val="1505"/>
              </a:spcBef>
            </a:pPr>
            <a:r>
              <a:rPr sz="1600" spc="-5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То</a:t>
            </a:r>
            <a:r>
              <a:rPr sz="1600" spc="-4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3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самое</a:t>
            </a:r>
            <a:r>
              <a:rPr lang="ru-RU" sz="16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чувство</a:t>
            </a:r>
            <a:r>
              <a:rPr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,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когда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ты</a:t>
            </a:r>
            <a:r>
              <a:rPr sz="1600" spc="-4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круче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всех</a:t>
            </a:r>
            <a:r>
              <a:rPr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</a:t>
            </a:r>
            <a:r>
              <a:rPr sz="1600" spc="-3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у</a:t>
            </a:r>
            <a:r>
              <a:rPr sz="1600" spc="-3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тебя</a:t>
            </a:r>
            <a:r>
              <a:rPr lang="ru-RU" sz="16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</a:t>
            </a:r>
            <a:r>
              <a:rPr sz="1600" spc="-3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Нами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ё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получится!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sz="1600" dirty="0">
                <a:latin typeface="Verdana"/>
                <a:cs typeface="Verdana"/>
              </a:rPr>
              <a:t>И</a:t>
            </a:r>
            <a:r>
              <a:rPr sz="1600" spc="-375" dirty="0">
                <a:latin typeface="Verdana"/>
                <a:cs typeface="Verdana"/>
              </a:rPr>
              <a:t> </a:t>
            </a:r>
            <a:r>
              <a:rPr sz="1600" spc="-100" dirty="0" err="1">
                <a:latin typeface="Verdana"/>
                <a:cs typeface="Verdana"/>
              </a:rPr>
              <a:t>вот</a:t>
            </a:r>
            <a:r>
              <a:rPr sz="1600" spc="-490" dirty="0">
                <a:latin typeface="Verdana"/>
                <a:cs typeface="Verdana"/>
              </a:rPr>
              <a:t> </a:t>
            </a:r>
            <a:r>
              <a:rPr lang="ru-RU" sz="1600" spc="-490" dirty="0">
                <a:latin typeface="Verdana"/>
                <a:cs typeface="Verdana"/>
              </a:rPr>
              <a:t> </a:t>
            </a:r>
            <a:r>
              <a:rPr sz="1600" spc="-10" dirty="0" err="1">
                <a:latin typeface="Verdana"/>
                <a:cs typeface="Verdana"/>
              </a:rPr>
              <a:t>почему</a:t>
            </a:r>
            <a:r>
              <a:rPr sz="1600" spc="-10" dirty="0">
                <a:latin typeface="Verdana"/>
                <a:cs typeface="Verdana"/>
              </a:rPr>
              <a:t>:</a:t>
            </a:r>
            <a:br>
              <a:rPr lang="ru-RU" sz="1600" dirty="0">
                <a:latin typeface="Verdana"/>
                <a:cs typeface="Verdana"/>
              </a:rPr>
            </a:br>
            <a:endParaRPr sz="2000" dirty="0">
              <a:latin typeface="Verdana"/>
              <a:cs typeface="Verdana"/>
            </a:endParaRPr>
          </a:p>
          <a:p>
            <a:pPr marL="501650" marR="114300" algn="ct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Преимущества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1C2A45"/>
                </a:solidFill>
                <a:latin typeface="Verdana"/>
                <a:cs typeface="Verdana"/>
              </a:rPr>
              <a:t>газопоршневой</a:t>
            </a:r>
            <a:r>
              <a:rPr sz="1600" b="1" spc="-9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установки</a:t>
            </a:r>
            <a:r>
              <a:rPr sz="1600" b="1" spc="-10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компании Элемент,</a:t>
            </a:r>
            <a:r>
              <a:rPr sz="1600" b="1" spc="-6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специально</a:t>
            </a:r>
            <a:r>
              <a:rPr sz="1600" b="1" spc="-1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разработанной</a:t>
            </a:r>
            <a:r>
              <a:rPr sz="1600" b="1" spc="-5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под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реалии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российского</a:t>
            </a:r>
            <a:r>
              <a:rPr sz="1600" b="1" spc="-114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рынка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600" dirty="0">
              <a:latin typeface="Verdana"/>
              <a:cs typeface="Verdana"/>
            </a:endParaRPr>
          </a:p>
          <a:p>
            <a:pPr marL="522605" indent="-287655">
              <a:lnSpc>
                <a:spcPct val="100000"/>
              </a:lnSpc>
              <a:buFont typeface="Wingdings"/>
              <a:buChar char=""/>
              <a:tabLst>
                <a:tab pos="522605" algn="l"/>
              </a:tabLst>
            </a:pPr>
            <a:r>
              <a:rPr sz="1600" dirty="0">
                <a:solidFill>
                  <a:srgbClr val="0D0D0D"/>
                </a:solidFill>
                <a:latin typeface="Trebuchet MS"/>
                <a:cs typeface="Trebuchet MS"/>
              </a:rPr>
              <a:t>В</a:t>
            </a:r>
            <a:r>
              <a:rPr sz="1600" spc="-80" dirty="0">
                <a:solidFill>
                  <a:srgbClr val="0D0D0D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базовую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комплектацию</a:t>
            </a:r>
            <a:r>
              <a:rPr sz="1600" spc="-10" dirty="0">
                <a:latin typeface="Microsoft Sans Serif"/>
                <a:cs typeface="Microsoft Sans Serif"/>
              </a:rPr>
              <a:t> входят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600" dirty="0">
              <a:latin typeface="Arial MT"/>
              <a:cs typeface="Arial MT"/>
            </a:endParaRPr>
          </a:p>
          <a:p>
            <a:pPr marL="296545" marR="375285" indent="-284480">
              <a:lnSpc>
                <a:spcPct val="100000"/>
              </a:lnSpc>
              <a:buAutoNum type="arabicPeriod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250кВт,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вдвое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большей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площадью, 	</a:t>
            </a:r>
            <a:r>
              <a:rPr sz="1400" dirty="0">
                <a:latin typeface="Verdana"/>
                <a:cs typeface="Verdana"/>
              </a:rPr>
              <a:t>с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возможностью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выноса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двумя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электровентиляторами</a:t>
            </a:r>
            <a:endParaRPr sz="1400" dirty="0">
              <a:latin typeface="Verdana"/>
              <a:cs typeface="Verdana"/>
            </a:endParaRPr>
          </a:p>
          <a:p>
            <a:pPr marL="299085" marR="1319530" indent="-2870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Электрический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насос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охлаждающей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жидкости,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вместо </a:t>
            </a:r>
            <a:r>
              <a:rPr sz="1400" dirty="0">
                <a:latin typeface="Verdana"/>
                <a:cs typeface="Verdana"/>
              </a:rPr>
              <a:t>механической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помпы</a:t>
            </a:r>
            <a:endParaRPr sz="1400" dirty="0">
              <a:latin typeface="Verdana"/>
              <a:cs typeface="Verdana"/>
            </a:endParaRPr>
          </a:p>
          <a:p>
            <a:pPr marL="299085" marR="437515" indent="-28702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Полное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отсутствие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ремней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роликов,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что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сокращает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стоимость обслуживания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61315" algn="l"/>
              </a:tabLst>
            </a:pPr>
            <a:r>
              <a:rPr sz="1400" spc="-10" dirty="0">
                <a:latin typeface="Verdana"/>
                <a:cs typeface="Verdana"/>
              </a:rPr>
              <a:t>Использование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постоянного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магнита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альтернаторе,</a:t>
            </a:r>
            <a:endParaRPr sz="1400" dirty="0">
              <a:latin typeface="Verdana"/>
              <a:cs typeface="Verdana"/>
            </a:endParaRPr>
          </a:p>
          <a:p>
            <a:pPr marL="299085" marR="42989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позволяющее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добиваться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точности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выработки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электроэнергии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в </a:t>
            </a:r>
            <a:r>
              <a:rPr sz="1400" dirty="0">
                <a:latin typeface="Verdana"/>
                <a:cs typeface="Verdana"/>
              </a:rPr>
              <a:t>1%,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против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10%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стандартных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моделей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5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Увеличенная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постоянная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мощность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210кВт</a:t>
            </a:r>
            <a:endParaRPr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(против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базовых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200кВт),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уменьшения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ресурса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6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Работа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перегрева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летний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период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за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счет</a:t>
            </a:r>
            <a:endParaRPr sz="1400" dirty="0">
              <a:latin typeface="Verdana"/>
              <a:cs typeface="Verdana"/>
            </a:endParaRPr>
          </a:p>
          <a:p>
            <a:pPr marL="299085" marR="110109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электронасоса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повышенной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производительности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10" dirty="0">
                <a:latin typeface="Verdana"/>
                <a:cs typeface="Verdana"/>
              </a:rPr>
              <a:t> вдвое </a:t>
            </a:r>
            <a:r>
              <a:rPr sz="1400" dirty="0">
                <a:latin typeface="Verdana"/>
                <a:cs typeface="Verdana"/>
              </a:rPr>
              <a:t>большего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297180" indent="-284480">
              <a:lnSpc>
                <a:spcPct val="100000"/>
              </a:lnSpc>
              <a:spcBef>
                <a:spcPts val="1680"/>
              </a:spcBef>
              <a:buAutoNum type="arabicPeriod" startAt="7"/>
              <a:tabLst>
                <a:tab pos="297180" algn="l"/>
              </a:tabLst>
            </a:pPr>
            <a:r>
              <a:rPr sz="1400" dirty="0">
                <a:latin typeface="Verdana"/>
                <a:cs typeface="Verdana"/>
              </a:rPr>
              <a:t>Установлены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индивидуальные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датчики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температуры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 err="1">
                <a:latin typeface="Verdana"/>
                <a:cs typeface="Verdana"/>
              </a:rPr>
              <a:t>по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10" dirty="0" err="1">
                <a:latin typeface="Verdana"/>
                <a:cs typeface="Verdana"/>
              </a:rPr>
              <a:t>цилиндрам</a:t>
            </a:r>
            <a:r>
              <a:rPr lang="en-US" sz="1400" spc="-1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и да</a:t>
            </a:r>
            <a:r>
              <a:rPr lang="ru-RU" sz="1400" dirty="0">
                <a:latin typeface="Verdana"/>
                <a:cs typeface="Verdana"/>
              </a:rPr>
              <a:t>тчик</a:t>
            </a:r>
            <a:r>
              <a:rPr lang="ru-RU" sz="1400" spc="-2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температуры</a:t>
            </a:r>
            <a:r>
              <a:rPr lang="ru-RU" sz="1400" spc="-4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выхлопных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газов</a:t>
            </a:r>
            <a:r>
              <a:rPr lang="ru-RU" sz="1400" spc="-1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целью</a:t>
            </a:r>
            <a:r>
              <a:rPr lang="ru-RU" sz="1400" spc="-3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остановки</a:t>
            </a:r>
            <a:endParaRPr lang="ru-RU"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lang="ru-RU" sz="1400" dirty="0">
                <a:latin typeface="Verdana"/>
                <a:cs typeface="Verdana"/>
              </a:rPr>
              <a:t>двигателя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случае,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если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некачественно</a:t>
            </a:r>
            <a:r>
              <a:rPr lang="ru-RU" sz="1400" spc="-8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отрегулированы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зазоры</a:t>
            </a:r>
            <a:endParaRPr lang="ru-RU" sz="1400" dirty="0">
              <a:latin typeface="Verdana"/>
              <a:cs typeface="Verdana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3079" y="9180520"/>
            <a:ext cx="229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8915">
              <a:lnSpc>
                <a:spcPct val="100000"/>
              </a:lnSpc>
              <a:spcBef>
                <a:spcPts val="950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Условия</a:t>
            </a:r>
            <a:r>
              <a:rPr lang="ru-RU" sz="1600" b="1" spc="-1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оплаты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584200" y="9512915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70%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4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94D"/>
                </a:solidFill>
                <a:latin typeface="Verdana"/>
                <a:cs typeface="Verdana"/>
              </a:rPr>
              <a:t>предоплата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577850" y="9840809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112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60"/>
              </a:spcBef>
              <a:tabLst>
                <a:tab pos="789305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20%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5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через</a:t>
            </a:r>
            <a:r>
              <a:rPr sz="1200" spc="-2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94D"/>
                </a:solidFill>
                <a:latin typeface="Verdana"/>
                <a:cs typeface="Verdana"/>
              </a:rPr>
              <a:t>месяц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552450" y="10168703"/>
            <a:ext cx="6802120" cy="47117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 marR="50609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10%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–</a:t>
            </a:r>
            <a:r>
              <a:rPr sz="1200" spc="-6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не</a:t>
            </a:r>
            <a:r>
              <a:rPr sz="1200" spc="-2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позднее</a:t>
            </a:r>
            <a:r>
              <a:rPr sz="1200" spc="-4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3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(Трех)</a:t>
            </a:r>
            <a:r>
              <a:rPr sz="1200" spc="-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рабочих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дней</a:t>
            </a:r>
            <a:r>
              <a:rPr sz="1200" spc="-3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после</a:t>
            </a:r>
            <a:r>
              <a:rPr sz="1200" spc="-3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направления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Покупателю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уведомления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</a:t>
            </a:r>
            <a:r>
              <a:rPr sz="1200" spc="-5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готовности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оборудования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к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отгрузке.</a:t>
            </a:r>
            <a:endParaRPr sz="12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1698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ACE271-9777-4B29-ABD5-3A217D093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"/>
            <a:ext cx="7556500" cy="4096047"/>
          </a:xfrm>
          <a:prstGeom prst="rect">
            <a:avLst/>
          </a:prstGeom>
        </p:spPr>
      </p:pic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1F763D7E-56DE-4AB1-9EBB-2CE0AE2FD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70967"/>
              </p:ext>
            </p:extLst>
          </p:nvPr>
        </p:nvGraphicFramePr>
        <p:xfrm>
          <a:off x="273050" y="4191297"/>
          <a:ext cx="6934200" cy="62392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Наименование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показателя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Значение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marL="2319655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генераторной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установки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ГПУ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5"/>
                        </a:lnSpc>
                      </a:pP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Квт/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315,5</a:t>
                      </a:r>
                      <a:r>
                        <a:rPr lang="ru-RU" sz="1050" spc="-10" dirty="0" err="1">
                          <a:latin typeface="Times New Roman"/>
                          <a:cs typeface="Times New Roman"/>
                        </a:rPr>
                        <a:t>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Резервная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275кВт/342,5кВа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напряжение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        400В/220В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частота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       50 Гц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скорость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1500 об/мин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ток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0">
                          <a:latin typeface="Times New Roman"/>
                          <a:cs typeface="Times New Roman"/>
                        </a:rPr>
                        <a:t>                                          450А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323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  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,8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Контроллер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7365" algn="l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Smartgen9420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lang="en-US" sz="1050" spc="-10">
                          <a:latin typeface="Times New Roman"/>
                          <a:cs typeface="Times New Roman"/>
                        </a:rPr>
                        <a:t>Deepsea 7320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 скорости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7715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Цифровой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5420">
                <a:tc gridSpan="2">
                  <a:txBody>
                    <a:bodyPr/>
                    <a:lstStyle/>
                    <a:p>
                      <a:pPr marL="250825" algn="ctr">
                        <a:lnSpc>
                          <a:spcPts val="134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Инженерная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Двигатель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Weichai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/WP13D317E300NG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Рядный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 четырехтактный,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электронное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зажигание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</a:t>
                      </a:r>
                      <a:endParaRPr lang="ru-RU" sz="1050" spc="-10" dirty="0">
                        <a:latin typeface="Times New Roman"/>
                        <a:cs typeface="Times New Roman"/>
                      </a:endParaRPr>
                    </a:p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водяное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Количество цилиндров и клапанов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6 цилиндров/24 клапана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Диаметр и ход цилиндра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127×165мм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46990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Объем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3815">
                        <a:lnSpc>
                          <a:spcPts val="116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11.6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л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запуска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Электрический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Направление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вращения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коленчатого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вала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Против часовой стрелки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Водяное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принудительного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нагнетания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воздуха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турбонаддувом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промежуточным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охлаждением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46038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скорости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Метод смешивания топливной смеси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Смеситель типа Вентури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622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2710">
                        <a:lnSpc>
                          <a:spcPts val="1135"/>
                        </a:lnSpc>
                      </a:pP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масла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    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345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483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КПа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047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расход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(м³/ч)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нагрузке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265"/>
                        </a:lnSpc>
                        <a:spcBef>
                          <a:spcPts val="34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57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6530">
                        <a:lnSpc>
                          <a:spcPts val="124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75%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ts val="123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50%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40м3/час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16.5м3/час</a:t>
                      </a:r>
                      <a:r>
                        <a:rPr sz="11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холостой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ход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77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299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BE0570E1-4FCE-47F4-A2D5-3FAA6E9C0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78002"/>
              </p:ext>
            </p:extLst>
          </p:nvPr>
        </p:nvGraphicFramePr>
        <p:xfrm>
          <a:off x="273050" y="126491"/>
          <a:ext cx="6934200" cy="16332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325">
                <a:tc gridSpan="2">
                  <a:txBody>
                    <a:bodyPr/>
                    <a:lstStyle/>
                    <a:p>
                      <a:pPr marL="245745" algn="ctr">
                        <a:lnSpc>
                          <a:spcPts val="1195"/>
                        </a:lnSpc>
                      </a:pP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Ге</a:t>
                      </a:r>
                      <a:r>
                        <a:rPr sz="1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нератор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Класс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изоляции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Класс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Связь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9465" algn="ctr">
                        <a:lnSpc>
                          <a:spcPts val="1195"/>
                        </a:lnSpc>
                      </a:pPr>
                      <a:r>
                        <a:rPr lang="ru-RU" sz="1050" spc="-30" dirty="0">
                          <a:latin typeface="Times New Roman"/>
                          <a:cs typeface="Times New Roman"/>
                        </a:rPr>
                        <a:t>                   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575" spc="-44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фазный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575" spc="-22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проводной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1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53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250кВт/312.5кВА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сс</a:t>
                      </a:r>
                      <a:r>
                        <a:rPr sz="1575" spc="-89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з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ащиты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3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IP23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Режим</a:t>
                      </a:r>
                      <a:r>
                        <a:rPr sz="10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регули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ования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напряжения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4705" algn="l">
                        <a:lnSpc>
                          <a:spcPts val="1205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АВР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автоматический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)</a:t>
                      </a:r>
                      <a:endParaRPr sz="1575" baseline="26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0,8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озб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ужд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Бесщеточный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8B6974D-E03A-425D-864D-C31BE45EF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832974"/>
              </p:ext>
            </p:extLst>
          </p:nvPr>
        </p:nvGraphicFramePr>
        <p:xfrm>
          <a:off x="273050" y="1847850"/>
          <a:ext cx="6858000" cy="2679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marL="43815" algn="ctr">
                        <a:lnSpc>
                          <a:spcPts val="1160"/>
                        </a:lnSpc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Обща</a:t>
                      </a:r>
                      <a:r>
                        <a:rPr sz="1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я</a:t>
                      </a:r>
                      <a:r>
                        <a:rPr sz="1000" b="1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информация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Допустимая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окружающей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среды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985">
                        <a:lnSpc>
                          <a:spcPts val="1230"/>
                        </a:lnSpc>
                      </a:pPr>
                      <a:r>
                        <a:rPr sz="1575" baseline="2645" dirty="0" err="1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575" spc="-75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lang="ru-RU" sz="1575" baseline="2645" dirty="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sz="1575" spc="-6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.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уммарный</a:t>
                      </a:r>
                      <a:r>
                        <a:rPr sz="1575" spc="-6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КП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575" spc="-3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номинальной</a:t>
                      </a:r>
                      <a:r>
                        <a:rPr sz="1575" spc="-82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575" baseline="2645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80%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КПД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5" baseline="2525" dirty="0">
                          <a:latin typeface="Times New Roman"/>
                          <a:cs typeface="Times New Roman"/>
                        </a:rPr>
                        <a:t>электрическая</a:t>
                      </a:r>
                      <a:endParaRPr sz="1650" baseline="2525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954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раме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масса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Ш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В: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65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0*1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000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224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(мм)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R="825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2275кг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70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07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Д*Ш*В</a:t>
                      </a:r>
                      <a:r>
                        <a:rPr sz="11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00*2160*2210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масса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4350кг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Рекомендуемое давление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вводе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115570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холостом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ходу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164465">
                        <a:lnSpc>
                          <a:spcPts val="121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Макс.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выхлопных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газов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600</a:t>
                      </a:r>
                      <a:r>
                        <a:rPr sz="1100" spc="-10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±25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146050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Точка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ввода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газа,</a:t>
                      </a:r>
                      <a:r>
                        <a:rPr sz="11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диаметр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DN50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C5AA7B4C-274F-41CB-9C8A-23965B6A6B11}"/>
              </a:ext>
            </a:extLst>
          </p:cNvPr>
          <p:cNvSpPr txBox="1"/>
          <p:nvPr/>
        </p:nvSpPr>
        <p:spPr>
          <a:xfrm>
            <a:off x="311150" y="5048250"/>
            <a:ext cx="6934200" cy="26507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686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4"/>
              <a:tabLst>
                <a:tab pos="28384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ГАРАНТИЙНЫЕ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ОБЯЗАТЕЛЬСТВА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Times New Roman"/>
              <a:buAutoNum type="arabicPeriod" startAt="4"/>
            </a:pPr>
            <a:endParaRPr sz="1200" dirty="0">
              <a:latin typeface="Times New Roman"/>
              <a:cs typeface="Times New Roman"/>
            </a:endParaRPr>
          </a:p>
          <a:p>
            <a:pPr marL="259079" marR="244475" lvl="1" indent="-247015" algn="just">
              <a:lnSpc>
                <a:spcPct val="123800"/>
              </a:lnSpc>
              <a:spcBef>
                <a:spcPts val="5"/>
              </a:spcBef>
              <a:buAutoNum type="arabicPeriod"/>
              <a:tabLst>
                <a:tab pos="259079" algn="l"/>
              </a:tabLst>
            </a:pPr>
            <a:r>
              <a:rPr sz="1200" spc="-10" dirty="0">
                <a:latin typeface="Times New Roman"/>
                <a:cs typeface="Times New Roman"/>
              </a:rPr>
              <a:t>Предприятие-изготовитель</a:t>
            </a:r>
            <a:r>
              <a:rPr sz="1200" dirty="0">
                <a:latin typeface="Times New Roman"/>
                <a:cs typeface="Times New Roman"/>
              </a:rPr>
              <a:t> гарантирует </a:t>
            </a:r>
            <a:r>
              <a:rPr sz="1200" dirty="0" err="1">
                <a:latin typeface="Times New Roman"/>
                <a:cs typeface="Times New Roman"/>
              </a:rPr>
              <a:t>соответствие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10" dirty="0">
                <a:latin typeface="Times New Roman"/>
                <a:cs typeface="Times New Roman"/>
              </a:rPr>
              <a:t> нормативной документации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соблюдении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правил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транспортирования,</a:t>
            </a:r>
            <a:r>
              <a:rPr sz="1200" dirty="0">
                <a:latin typeface="Times New Roman"/>
                <a:cs typeface="Times New Roman"/>
              </a:rPr>
              <a:t> хранения, </a:t>
            </a:r>
            <a:r>
              <a:rPr sz="1200" spc="-10" dirty="0">
                <a:latin typeface="Times New Roman"/>
                <a:cs typeface="Times New Roman"/>
              </a:rPr>
              <a:t>монтажа,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обслуживания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17145" marR="5080" lvl="1" indent="-5080">
              <a:lnSpc>
                <a:spcPts val="1430"/>
              </a:lnSpc>
              <a:buAutoNum type="arabicPeriod"/>
              <a:tabLst>
                <a:tab pos="17145" algn="l"/>
                <a:tab pos="284480" algn="l"/>
              </a:tabLst>
            </a:pPr>
            <a:r>
              <a:rPr lang="ru-RU" sz="1200" dirty="0">
                <a:latin typeface="Times New Roman"/>
                <a:cs typeface="Times New Roman"/>
              </a:rPr>
              <a:t>   </a:t>
            </a:r>
            <a:r>
              <a:rPr sz="1200" dirty="0" err="1">
                <a:latin typeface="Times New Roman"/>
                <a:cs typeface="Times New Roman"/>
              </a:rPr>
              <a:t>Гарантийный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хранения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изготовления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до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</a:t>
            </a:r>
            <a:r>
              <a:rPr sz="1200" spc="-20" dirty="0" err="1">
                <a:latin typeface="Times New Roman"/>
                <a:cs typeface="Times New Roman"/>
              </a:rPr>
              <a:t>цию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6350" marR="288925" lvl="1" indent="-6350">
              <a:lnSpc>
                <a:spcPct val="123300"/>
              </a:lnSpc>
              <a:spcBef>
                <a:spcPts val="335"/>
              </a:spcBef>
              <a:buAutoNum type="arabicPeriod"/>
              <a:tabLst>
                <a:tab pos="265113" algn="l"/>
                <a:tab pos="271463" algn="l"/>
              </a:tabLst>
            </a:pPr>
            <a:r>
              <a:rPr lang="ru-RU" sz="1200" spc="-10" dirty="0">
                <a:latin typeface="Times New Roman"/>
                <a:cs typeface="Times New Roman"/>
              </a:rPr>
              <a:t>    </a:t>
            </a:r>
            <a:r>
              <a:rPr sz="1200" spc="-10" dirty="0" err="1">
                <a:latin typeface="Times New Roman"/>
                <a:cs typeface="Times New Roman"/>
              </a:rPr>
              <a:t>Гарантийный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10" dirty="0">
                <a:latin typeface="Times New Roman"/>
                <a:cs typeface="Times New Roman"/>
              </a:rPr>
              <a:t> эксплуатации</a:t>
            </a:r>
            <a:r>
              <a:rPr sz="1200" dirty="0">
                <a:latin typeface="Times New Roman"/>
                <a:cs typeface="Times New Roman"/>
              </a:rPr>
              <a:t> 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эксплуатацию</a:t>
            </a:r>
            <a:r>
              <a:rPr lang="ru-RU" sz="1200" spc="-10" dirty="0">
                <a:latin typeface="Times New Roman"/>
                <a:cs typeface="Times New Roman"/>
              </a:rPr>
              <a:t> или 1500 моточасов, </a:t>
            </a:r>
            <a:br>
              <a:rPr lang="ru-RU" sz="1200" spc="-10" dirty="0">
                <a:latin typeface="Times New Roman"/>
                <a:cs typeface="Times New Roman"/>
              </a:rPr>
            </a:br>
            <a:r>
              <a:rPr lang="ru-RU" sz="1200" spc="-10" dirty="0">
                <a:latin typeface="Times New Roman"/>
                <a:cs typeface="Times New Roman"/>
              </a:rPr>
              <a:t>       в зависимости от того, что наступит раньше,</a:t>
            </a:r>
            <a:r>
              <a:rPr sz="1200" dirty="0">
                <a:latin typeface="Times New Roman"/>
                <a:cs typeface="Times New Roman"/>
              </a:rPr>
              <a:t> но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не </a:t>
            </a:r>
            <a:r>
              <a:rPr sz="1200" dirty="0" err="1">
                <a:latin typeface="Times New Roman"/>
                <a:cs typeface="Times New Roman"/>
              </a:rPr>
              <a:t>более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35" dirty="0">
                <a:latin typeface="Times New Roman"/>
                <a:cs typeface="Times New Roman"/>
              </a:rPr>
              <a:t>18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месяцев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даты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изготовления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75590" lvl="1" indent="-26162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275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Нормативный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службы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составляет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менее: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лет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59079" marR="128270" lvl="1" indent="-247015">
              <a:lnSpc>
                <a:spcPct val="113700"/>
              </a:lnSpc>
              <a:spcBef>
                <a:spcPts val="225"/>
              </a:spcBef>
              <a:buAutoNum type="arabicPeriod"/>
              <a:tabLst>
                <a:tab pos="259079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предусматривает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возмещение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материального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ущерба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или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травм,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связанных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эксплуатацией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Гарантийному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ремонту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подлежат </a:t>
            </a:r>
            <a:r>
              <a:rPr sz="1200" dirty="0">
                <a:latin typeface="Times New Roman"/>
                <a:cs typeface="Times New Roman"/>
              </a:rPr>
              <a:t>поломки,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возникшие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по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причине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неправильного,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монтажа,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эксплуатации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 err="1">
                <a:latin typeface="Times New Roman"/>
                <a:cs typeface="Times New Roman"/>
              </a:rPr>
              <a:t>или</a:t>
            </a:r>
            <a:r>
              <a:rPr lang="ru-RU"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размещения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месте,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непригодном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для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51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</TotalTime>
  <Words>830</Words>
  <Application>Microsoft Office PowerPoint</Application>
  <PresentationFormat>Произвольный</PresentationFormat>
  <Paragraphs>218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5" baseType="lpstr">
      <vt:lpstr>Arial MT</vt:lpstr>
      <vt:lpstr>Calibri</vt:lpstr>
      <vt:lpstr>Cambria Math</vt:lpstr>
      <vt:lpstr>Microsoft Sans Serif</vt:lpstr>
      <vt:lpstr>Segoe UI</vt:lpstr>
      <vt:lpstr>Times New Roman</vt:lpstr>
      <vt:lpstr>Trebuchet MS</vt:lpstr>
      <vt:lpstr>Verdana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</dc:creator>
  <cp:lastModifiedBy>pav</cp:lastModifiedBy>
  <cp:revision>43</cp:revision>
  <dcterms:created xsi:type="dcterms:W3CDTF">2025-09-25T10:34:58Z</dcterms:created>
  <dcterms:modified xsi:type="dcterms:W3CDTF">2025-10-17T11:57:14Z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2025-09-25T00:00:00Z</vt:filetime>
  </property>
  <property fmtid="{D5CDD505-2E9C-101B-9397-08002B2CF9AE}" pid="5" name="Producer">
    <vt:lpwstr>Microsoft® PowerPoint® 2019</vt:lpwstr>
  </property>
</Properties>
</file>