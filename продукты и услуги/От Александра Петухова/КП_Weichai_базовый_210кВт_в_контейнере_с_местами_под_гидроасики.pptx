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10706100" cx="7556500"/>
  <p:notesSz cx="7556500" cy="10706100"/>
  <p:embeddedFontLst>
    <p:embeddedFont>
      <p:font typeface="Quattrocento Sans"/>
      <p:regular r:id="rId12"/>
      <p:bold r:id="rId13"/>
      <p:italic r:id="rId14"/>
      <p:boldItalic r:id="rId15"/>
    </p:embeddedFont>
    <p:embeddedFont>
      <p:font typeface="Helvetica Neue"/>
      <p:regular r:id="rId16"/>
      <p:bold r:id="rId17"/>
      <p:italic r:id="rId18"/>
      <p:boldItalic r:id="rId19"/>
    </p:embeddedFont>
    <p:embeddedFont>
      <p:font typeface="Cambria Math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0gM6+7bcFEIuTwuZmgWXpYTqz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4951D0-8663-4D30-A23A-3E3E67BD2FB0}">
  <a:tblStyle styleId="{6E4951D0-8663-4D30-A23A-3E3E67BD2FB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mbriaMath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2" type="body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92679" y="6448044"/>
            <a:ext cx="2496312" cy="399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6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6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8.jpg"/><Relationship Id="rId5" Type="http://schemas.openxmlformats.org/officeDocument/2006/relationships/image" Target="../media/image5.png"/><Relationship Id="rId6" Type="http://schemas.openxmlformats.org/officeDocument/2006/relationships/hyperlink" Target="mailto:sales@elementkb.ru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0" y="1187121"/>
            <a:ext cx="7449439" cy="763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КОММЕРЧЕСКОЕ ПРЕДЛОЖЕНИЕ</a:t>
            </a:r>
            <a:endParaRPr b="1" sz="1600">
              <a:solidFill>
                <a:srgbClr val="1C2A4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 на ГПУ </a:t>
            </a:r>
            <a:r>
              <a:rPr b="1" lang="en-US" sz="1600">
                <a:latin typeface="Verdana"/>
                <a:ea typeface="Verdana"/>
                <a:cs typeface="Verdana"/>
                <a:sym typeface="Verdana"/>
              </a:rPr>
              <a:t>Weichai </a:t>
            </a: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номинальной мощностью 250кВт в  контейнере с полками под гидроасики</a:t>
            </a:r>
            <a:endParaRPr b="1" sz="1600">
              <a:solidFill>
                <a:srgbClr val="1C2A4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106" y="229180"/>
            <a:ext cx="133834" cy="16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329" y="559646"/>
            <a:ext cx="149860" cy="16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3329" y="897128"/>
            <a:ext cx="149860" cy="1201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РФ, РМЭ, Йошкар-Ола, б-р Победы, д.15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+7(927) 872 98-91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000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sales1@elementkb.ru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26682" y="5810250"/>
            <a:ext cx="7372477" cy="32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СПЕЦИАЛЬНОЕ ГПУ ДЛЯ РАБОТЫ В РЕЖИМЕ 24/7/365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Ресурсные газопоршневые установки для выработки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электроэнергии в режиме 24/7/365.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Моторесурс 36.000 часов. Без перегрева и дерейта. КПД ГПУ – 33% (против 28% в стандарте).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Двигатели WEICHAI 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WP13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ведущего мирового производителя (премиальный Китай). С точностью электроэнергии 1%, против 10% в стандарте.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51371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Альтернатор Element с КПД 93% - специально разработанный для нагруженных ГПУ.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Контроллер SmartGen («умный генератор»)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специально разработанный для ГПУ.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507" y="60840"/>
            <a:ext cx="993241" cy="92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5" lvl="0" marL="22860" marR="128460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ООО «ЭЛЕМЕНТ» ИНН 1218002079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КПП 121801001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р/с 40702810070010348277 (Модульбанк)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БИК 044525092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4" name="Google Shape;54;p1"/>
          <p:cNvGrpSpPr/>
          <p:nvPr/>
        </p:nvGrpSpPr>
        <p:grpSpPr>
          <a:xfrm>
            <a:off x="149352" y="5219700"/>
            <a:ext cx="80771" cy="1525524"/>
            <a:chOff x="149352" y="5219700"/>
            <a:chExt cx="80771" cy="1525524"/>
          </a:xfrm>
        </p:grpSpPr>
        <p:pic>
          <p:nvPicPr>
            <p:cNvPr id="55" name="Google Shape;55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9352" y="6039612"/>
              <a:ext cx="73152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6972" y="5219700"/>
              <a:ext cx="73151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2400" y="666750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648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Данное коммерческое предложение не является офертой (в соответствии со ст.435 ГК РФ), и не влечет за собой обязательств ООО «ЭЛЕМЕНТ» по заключению Договора на условиях настоящего предложения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2155113"/>
            <a:ext cx="7556500" cy="388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8823"/>
          </a:schemeClr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2"/>
          <p:cNvGraphicFramePr/>
          <p:nvPr/>
        </p:nvGraphicFramePr>
        <p:xfrm>
          <a:off x="60324" y="232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{6E4951D0-8663-4D30-A23A-3E3E67BD2FB0}</a:tableStyleId>
              </a:tblPr>
              <a:tblGrid>
                <a:gridCol w="4022725"/>
                <a:gridCol w="1295400"/>
                <a:gridCol w="381000"/>
                <a:gridCol w="762000"/>
                <a:gridCol w="974725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Все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-309880" lvl="0" marL="396875" marR="1587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7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номинальная,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461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1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6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постоянная,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(вместо 200)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1050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(вместо 1000)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3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Сумма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1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Марка двигателя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81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WP13D317E300NG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Шт.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531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ГПУ-250Квт/380В двигатель Weichai WP13, генератор Element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71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4 450 000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(400 000 юаней)</a:t>
                      </a:r>
                      <a:endParaRPr/>
                    </a:p>
                  </a:txBody>
                  <a:tcPr marT="95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5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4 450 000</a:t>
                      </a:r>
                      <a:endParaRPr/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контроля температуры двигателя  по цилиндрам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35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700">
                <a:tc>
                  <a:txBody>
                    <a:bodyPr/>
                    <a:lstStyle/>
                    <a:p>
                      <a:pPr indent="0" lvl="0" marL="91440" marR="147955" rtl="0" algn="l">
                        <a:lnSpc>
                          <a:spcPct val="13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контроля температуры выхлопных газов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24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150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Радиатор охлаждения вертикальный вдвое большей площадью, с возможностью выноса и двумя электровентиляторами с частотным управлением по температуре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68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Электрический насос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050">
                <a:tc>
                  <a:txBody>
                    <a:bodyPr/>
                    <a:lstStyle/>
                    <a:p>
                      <a:pPr indent="0" lvl="0" marL="91440" marR="11506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подогрева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4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Постоянный магнит альтернатора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масла в картере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Удаленный мониторинг с телефона на русском языке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Газовая рампа с тремя цифровыми манометрами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на предприятии-изготовителя с видеоотчетом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Интеркулер вода-воздух</a:t>
                      </a:r>
                      <a:endParaRPr/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Горизонтальный радиатор с 4 вентиляторами с частотным управлением</a:t>
                      </a:r>
                      <a:endParaRPr/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для ГПУ и полками под 40 асиков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2 000 000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3 600 000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075">
                <a:tc gridSpan="4">
                  <a:txBody>
                    <a:bodyPr/>
                    <a:lstStyle/>
                    <a:p>
                      <a:pPr indent="0" lvl="0" marL="180975" marR="4138295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Срок поставки: 90 дней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Итого, руб с НДС: 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7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8 350 000</a:t>
                      </a:r>
                      <a:endParaRPr/>
                    </a:p>
                  </a:txBody>
                  <a:tcPr marT="1263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" name="Google Shape;65;p2"/>
          <p:cNvSpPr txBox="1"/>
          <p:nvPr/>
        </p:nvSpPr>
        <p:spPr>
          <a:xfrm>
            <a:off x="482282" y="10029452"/>
            <a:ext cx="6591934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*Стоимость самой ГПУ составляет 400 000 юаней по курсу на день оплаты.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Все опции полностью российского производства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цены в рублях фиксированы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45769" y="9372264"/>
            <a:ext cx="6591934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Стоимость технического обслуживания нашей  ГПУ вдвое дешевле стандартной и составляет 250.000 руб. в год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06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Вы нашли правильную  компанию для  покупки  ГПУ!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186055" marR="5080" rtl="0" algn="ctr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То самое  чувство, когда ты круче всех  и у тебя   с Нами всё получится!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И вот  почему:</a:t>
            </a:r>
            <a:br>
              <a:rPr lang="en-US" sz="1600">
                <a:latin typeface="Verdana"/>
                <a:ea typeface="Verdana"/>
                <a:cs typeface="Verdana"/>
                <a:sym typeface="Verdana"/>
              </a:rPr>
            </a:b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501650" marR="11430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Преимущества газопоршневой установки компании Элемент, специально разработанной под реалии российского рынка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287655" lvl="0" marL="5226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rPr>
              <a:t>В </a:t>
            </a: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базовую комплектацию входят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4480" lvl="0" marL="29654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ГПУ на 250кВт, радиатор охлаждения вдвое большей площадью, 	с возможностью выноса и двумя электровентиляторами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131953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	Электрический насос охлаждающей жидкости, вместо механической помпы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4375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	Полное отсутствие ремней и роликов, что сокращает стоимость обслуживания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Использование постоянного магнита в альтернаторе,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429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позволяющее добиваться точности выработки электроэнергии в 1%, против 10% у стандартных моделей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5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Увеличенная постоянная мощность – 210кВт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(против базовых 200кВт), без уменьшения ресурса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6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Работа ГПУ без перегрева в летний период за счет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11010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электронасоса повышенной производительности и вдвое большего радиатора охлаждения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Установлены индивидуальные датчики температуры по цилиндрам и датчик температуры выхлопных газов с целью остановки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двигателя в случае, если некачественно отрегулированы зазоры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08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Условия оплаты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70%	</a:t>
            </a:r>
            <a:r>
              <a:rPr lang="en-US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предоплата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20%	</a:t>
            </a:r>
            <a:r>
              <a:rPr lang="en-US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через месяц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marR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10%	</a:t>
            </a:r>
            <a:r>
              <a:rPr lang="en-US" sz="1200">
                <a:solidFill>
                  <a:srgbClr val="4D4D4D"/>
                </a:solidFill>
                <a:latin typeface="Verdana"/>
                <a:ea typeface="Verdana"/>
                <a:cs typeface="Verdana"/>
                <a:sym typeface="Verdana"/>
              </a:rPr>
              <a:t>– не позднее 3 (Трех) рабочих дней после направления Покупателю уведомления о готовности оборудования к отгрузке.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"/>
            <a:ext cx="7556500" cy="40960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4"/>
          <p:cNvGraphicFramePr/>
          <p:nvPr/>
        </p:nvGraphicFramePr>
        <p:xfrm>
          <a:off x="273050" y="4191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{6E4951D0-8663-4D30-A23A-3E3E67BD2FB0}</a:tableStyleId>
              </a:tblPr>
              <a:tblGrid>
                <a:gridCol w="3467100"/>
                <a:gridCol w="3467100"/>
              </a:tblGrid>
              <a:tr h="344175">
                <a:tc>
                  <a:txBody>
                    <a:bodyPr/>
                    <a:lstStyle/>
                    <a:p>
                      <a:pPr indent="0" lvl="0" marL="5695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Наименование показателя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</a:tr>
              <a:tr h="184150">
                <a:tc gridSpan="2">
                  <a:txBody>
                    <a:bodyPr/>
                    <a:lstStyle/>
                    <a:p>
                      <a:pPr indent="0" lvl="0" marL="2319655" marR="0" rtl="0" algn="l">
                        <a:lnSpc>
                          <a:spcPct val="11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Параметры генераторной установки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D5"/>
                    </a:solidFill>
                  </a:tcPr>
                </a:tc>
                <a:tc hMerge="1"/>
              </a:tr>
              <a:tr h="184150">
                <a:tc>
                  <a:txBody>
                    <a:bodyPr/>
                    <a:lstStyle/>
                    <a:p>
                      <a:pPr indent="0" lvl="0" marL="501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ГПУ-250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мощность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29969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250Квт/315,5кВа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Резервная мощность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29969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275кВт/342,5кВа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Номинальное напряжение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400В/220В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частота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50 Гц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скорость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1500 об/мин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Номинальный ток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450А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Фактор мощности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0,8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Контроллер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07365" marR="0" rtl="0" algn="l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Smartgen9420/Deepsea 7320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Регулятор скорости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8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7715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Цифровой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425">
                <a:tc gridSpan="2">
                  <a:txBody>
                    <a:bodyPr/>
                    <a:lstStyle/>
                    <a:p>
                      <a:pPr indent="0" lvl="0" marL="250825" marR="0" rtl="0" algn="ctr">
                        <a:lnSpc>
                          <a:spcPct val="11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Параметры двигателя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182250">
                <a:tc>
                  <a:txBody>
                    <a:bodyPr/>
                    <a:lstStyle/>
                    <a:p>
                      <a:pPr indent="0" lvl="0" marL="501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Инженерная модель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Двигатель Weichai /WP13D317E300NG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2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двигателя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52169" lvl="0" marL="894080" marR="60960" rtl="0" algn="l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Рядный, четырехтактный, электронное зажигание,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852169" lvl="0" marL="894080" marR="60960" rtl="0" algn="l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водяное охлаждение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цилиндров и клапанов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397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цилиндров/24 клапана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Диаметр и ход цилиндра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127×165мм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5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Объем двигателя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13815" marR="0" rtl="0" algn="l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11.6 л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запуска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Электрический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Направление вращения коленчатого вала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7183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Против часовой стрелки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охлаждения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214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Водяное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2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принудительного нагнетания воздуха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2545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С турбонаддувом и промежуточным охлаждением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Регулятор скорости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Электронный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65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смешивания топливной смеси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383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Смеситель типа Вентури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84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1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Давление масла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2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345 -483 КПа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546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Номинальный расход газа (м³/ч) при нагрузке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0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653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-57м3/час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7653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 -50м3/час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74625" marR="0" rtl="0" algn="l">
                        <a:lnSpc>
                          <a:spcPct val="112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 -40м3/час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4150" marR="0" rtl="0" algn="l">
                        <a:lnSpc>
                          <a:spcPct val="1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16.5м3/час холостой ход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5"/>
          <p:cNvGraphicFramePr/>
          <p:nvPr/>
        </p:nvGraphicFramePr>
        <p:xfrm>
          <a:off x="273050" y="126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{6E4951D0-8663-4D30-A23A-3E3E67BD2FB0}</a:tableStyleId>
              </a:tblPr>
              <a:tblGrid>
                <a:gridCol w="3471575"/>
                <a:gridCol w="3462625"/>
              </a:tblGrid>
              <a:tr h="187325">
                <a:tc gridSpan="2">
                  <a:txBody>
                    <a:bodyPr/>
                    <a:lstStyle/>
                    <a:p>
                      <a:pPr indent="0" lvl="0" marL="245745" marR="0" rtl="0" algn="ctr">
                        <a:lnSpc>
                          <a:spcPct val="11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 нератор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1809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1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изоляции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Н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575"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Связь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99465" rtl="0" algn="ctr">
                        <a:lnSpc>
                          <a:spcPct val="758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3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фазный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проводной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мощность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53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250кВт/312.5кВА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сс з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ащиты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IP23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Режим регули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ования напряжения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14705" rtl="0" algn="l">
                        <a:lnSpc>
                          <a:spcPct val="765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АВР 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автоматический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aseline="30000" sz="1575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Фактор мощности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">
                <a:tc>
                  <a:txBody>
                    <a:bodyPr/>
                    <a:lstStyle/>
                    <a:p>
                      <a:pPr indent="0" lvl="0" marL="425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в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озб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ужд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Бесщеточный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" name="Google Shape;87;p5"/>
          <p:cNvGraphicFramePr/>
          <p:nvPr/>
        </p:nvGraphicFramePr>
        <p:xfrm>
          <a:off x="27305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{6E4951D0-8663-4D30-A23A-3E3E67BD2FB0}</a:tableStyleId>
              </a:tblPr>
              <a:tblGrid>
                <a:gridCol w="3433400"/>
                <a:gridCol w="3424600"/>
              </a:tblGrid>
              <a:tr h="182875">
                <a:tc gridSpan="2">
                  <a:txBody>
                    <a:bodyPr/>
                    <a:lstStyle/>
                    <a:p>
                      <a:pPr indent="0" lvl="0" marL="43815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 я информация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205100"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Допустимая температура окружающей среды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95985" marR="0" rtl="0" algn="l">
                        <a:lnSpc>
                          <a:spcPct val="7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Температура &lt;25 </a:t>
                      </a:r>
                      <a:r>
                        <a:rPr lang="en-US" sz="10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℃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50"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уммарный КП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 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 номинальной мощности</a:t>
                      </a:r>
                      <a:endParaRPr baseline="30000" sz="1575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510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indent="0" lvl="0" marL="1244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КПД </a:t>
                      </a:r>
                      <a:r>
                        <a:rPr baseline="30000" lang="en-US" sz="16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электрическая</a:t>
                      </a:r>
                      <a:endParaRPr baseline="30000"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695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Внешние габариты на раме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Общая масса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 * Ш * В: 3650*1000*2240 (мм)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82550" rtl="0" algn="ctr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2275кг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1581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Внешние габариты контейнера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80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Д*Ш*В  4000*2160*2210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75"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Общая масса в контейнере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68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4350кг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Рекомендуемое давление газа на вводе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985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3-5кПа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indent="0" lvl="0" marL="115570" marR="0" rtl="0" algn="l">
                        <a:lnSpc>
                          <a:spcPct val="11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Номинальное давление газа при холостом ходу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46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3-5кПа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600">
                <a:tc>
                  <a:txBody>
                    <a:bodyPr/>
                    <a:lstStyle/>
                    <a:p>
                      <a:pPr indent="0" lvl="0" marL="164465" marR="0" rtl="0" algn="l">
                        <a:lnSpc>
                          <a:spcPct val="110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Макс. температура выхлопных газов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r>
                        <a:rPr lang="en-US" sz="11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℃</a:t>
                      </a: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±25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Точка ввода газа, диаметр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461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DN50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5"/>
          <p:cNvSpPr txBox="1"/>
          <p:nvPr/>
        </p:nvSpPr>
        <p:spPr>
          <a:xfrm>
            <a:off x="311150" y="5048250"/>
            <a:ext cx="6934200" cy="2650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68605" lvl="0" marL="2838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 startAt="4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ГАРАНТИЙНЫЕ ОБЯЗАТЕЛЬСТВА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SzPts val="1200"/>
              <a:buFont typeface="Times New Roman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015" lvl="1" marL="259079" marR="244475" rtl="0" algn="just">
              <a:lnSpc>
                <a:spcPct val="123800"/>
              </a:lnSpc>
              <a:spcBef>
                <a:spcPts val="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Предприятие-изготовитель гарантирует соответствие ГПУ-250 нормативной документации при соблюдении правил транспортирования, хранения, монтажа, эксплуатации и обслуживания.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17145" marR="508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Гарантийный срок хранения - 12 месяца со дня изготовления до ввода в эксплуатацию.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6350" marR="288925" rtl="0" algn="l">
              <a:lnSpc>
                <a:spcPct val="123300"/>
              </a:lnSpc>
              <a:spcBef>
                <a:spcPts val="33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Гарантийный срок эксплуатации 12 месяца со дня ввода в эксплуатацию или 1500 моточасов,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в зависимости от того, что наступит раньше, но не более 18 месяцев с даты изготовления.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1" marL="27559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Нормативный срок службы ГПУ-250 составляет не менее: 15 лет 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015" lvl="1" marL="259079" marR="128270" rtl="0" algn="l">
              <a:lnSpc>
                <a:spcPct val="113700"/>
              </a:lnSpc>
              <a:spcBef>
                <a:spcPts val="22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Гарантия не предусматривает возмещение материального ущерба или травм, связанных с эксплуатацией ГПУ-250. Гарантийному ремонту не подлежат поломки, возникшие по причине неправильного, монтажа, эксплуатации или размещения ГПУ-250 в месте, непригодном для эксплуатации 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2025-09-25T10:34:58Z</dcterms:created>
  <dc:creator>pav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