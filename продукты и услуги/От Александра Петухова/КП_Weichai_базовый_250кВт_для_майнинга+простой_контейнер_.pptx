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62" r:id="rId7"/>
  </p:sldIdLst>
  <p:sldSz cx="7556500" cy="10706100"/>
  <p:notesSz cx="7556500" cy="10706100"/>
  <p:defaultTextStyle>
    <a:defPPr>
      <a:defRPr kern="0"/>
    </a:defPPr>
  </p:defaultTextStyle>
  <p:extLst>
    <p:ext uri="{521415D9-36F7-43E2-AB2F-B90AF26B5E84}">
      <p14:sectionLst xmlns:p14="http://schemas.microsoft.com/office/powerpoint/2010/main">
        <p14:section name="Раздел по умолчанию" id="{BB18C549-3DC8-41B5-9190-D2FB0F76C086}">
          <p14:sldIdLst>
            <p14:sldId id="256"/>
          </p14:sldIdLst>
        </p14:section>
        <p14:section name="Раздел без заголовка" id="{1C742C74-E3E6-4A2D-A424-7B5F55AC43F1}">
          <p14:sldIdLst>
            <p14:sldId id="257"/>
            <p14:sldId id="259"/>
            <p14:sldId id="260"/>
            <p14:sldId id="261"/>
            <p14:sldId id="26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382" autoAdjust="0"/>
  </p:normalViewPr>
  <p:slideViewPr>
    <p:cSldViewPr>
      <p:cViewPr varScale="1">
        <p:scale>
          <a:sx n="67" d="100"/>
          <a:sy n="67" d="100"/>
        </p:scale>
        <p:origin x="3126" y="9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66737" y="3318891"/>
            <a:ext cx="6423025" cy="22482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33475" y="5995416"/>
            <a:ext cx="5289550" cy="26765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77825" y="2462403"/>
            <a:ext cx="3287077" cy="706602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3891597" y="2462403"/>
            <a:ext cx="3287077" cy="706602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10/10/2025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10/10/2025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10/10/2025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392679" y="6448044"/>
            <a:ext cx="2496312" cy="399440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7825" y="428244"/>
            <a:ext cx="6800850" cy="17129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825" y="2462403"/>
            <a:ext cx="6800850" cy="706602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9210" y="9956673"/>
            <a:ext cx="2418080" cy="5353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825" y="9956673"/>
            <a:ext cx="1737995" cy="5353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40680" y="9956673"/>
            <a:ext cx="1737995" cy="5353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8.png"/><Relationship Id="rId4" Type="http://schemas.openxmlformats.org/officeDocument/2006/relationships/image" Target="../media/image3.png"/><Relationship Id="rId9" Type="http://schemas.openxmlformats.org/officeDocument/2006/relationships/hyperlink" Target="mailto:sales@elementkb.ru" TargetMode="Externa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2961132"/>
            <a:ext cx="7556500" cy="7574280"/>
            <a:chOff x="0" y="2961132"/>
            <a:chExt cx="7556500" cy="757428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583179" y="6568440"/>
              <a:ext cx="2324099" cy="3966972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3424428"/>
              <a:ext cx="4395470" cy="3997325"/>
            </a:xfrm>
            <a:custGeom>
              <a:avLst/>
              <a:gdLst/>
              <a:ahLst/>
              <a:cxnLst/>
              <a:rect l="l" t="t" r="r" b="b"/>
              <a:pathLst>
                <a:path w="4395470" h="3997325">
                  <a:moveTo>
                    <a:pt x="4395216" y="0"/>
                  </a:moveTo>
                  <a:lnTo>
                    <a:pt x="0" y="0"/>
                  </a:lnTo>
                  <a:lnTo>
                    <a:pt x="0" y="3997071"/>
                  </a:lnTo>
                  <a:lnTo>
                    <a:pt x="4395216" y="3997071"/>
                  </a:lnTo>
                  <a:lnTo>
                    <a:pt x="4395216" y="0"/>
                  </a:lnTo>
                  <a:close/>
                </a:path>
              </a:pathLst>
            </a:custGeom>
            <a:solidFill>
              <a:srgbClr val="1F2A4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809999" y="3049524"/>
              <a:ext cx="3745992" cy="4789932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029455" y="2961132"/>
              <a:ext cx="3526536" cy="4462272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56971" y="4244340"/>
              <a:ext cx="73151" cy="77724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156971" y="1863979"/>
            <a:ext cx="7292468" cy="10355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sz="1600" b="1" spc="-10" dirty="0">
                <a:solidFill>
                  <a:srgbClr val="1C2A45"/>
                </a:solidFill>
                <a:latin typeface="Verdana"/>
                <a:cs typeface="Verdana"/>
              </a:rPr>
              <a:t>КОММЕРЧЕСКОЕ</a:t>
            </a:r>
            <a:r>
              <a:rPr sz="1600" b="1" spc="-130" dirty="0">
                <a:solidFill>
                  <a:srgbClr val="1C2A45"/>
                </a:solidFill>
                <a:latin typeface="Verdana"/>
                <a:cs typeface="Verdana"/>
              </a:rPr>
              <a:t> </a:t>
            </a:r>
            <a:r>
              <a:rPr sz="1600" b="1" spc="-10" dirty="0">
                <a:solidFill>
                  <a:srgbClr val="1C2A45"/>
                </a:solidFill>
                <a:latin typeface="Verdana"/>
                <a:cs typeface="Verdana"/>
              </a:rPr>
              <a:t>ПРЕДЛОЖЕНИЕ</a:t>
            </a:r>
            <a:endParaRPr lang="ru-RU" sz="1600" b="1" spc="-10" dirty="0">
              <a:solidFill>
                <a:srgbClr val="1C2A45"/>
              </a:solidFill>
              <a:latin typeface="Verdana"/>
              <a:cs typeface="Verdana"/>
            </a:endParaRPr>
          </a:p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sz="1600" b="1" spc="-100" dirty="0">
                <a:solidFill>
                  <a:srgbClr val="1C2A45"/>
                </a:solidFill>
                <a:latin typeface="Verdana"/>
                <a:cs typeface="Verdana"/>
              </a:rPr>
              <a:t> </a:t>
            </a:r>
            <a:r>
              <a:rPr sz="1600" b="1" spc="-25" dirty="0" err="1">
                <a:solidFill>
                  <a:srgbClr val="1C2A45"/>
                </a:solidFill>
                <a:latin typeface="Verdana"/>
                <a:cs typeface="Verdana"/>
              </a:rPr>
              <a:t>на</a:t>
            </a:r>
            <a:r>
              <a:rPr lang="ru-RU" sz="1600" b="1" spc="-25" dirty="0">
                <a:solidFill>
                  <a:srgbClr val="1C2A45"/>
                </a:solidFill>
                <a:latin typeface="Verdana"/>
                <a:cs typeface="Verdana"/>
              </a:rPr>
              <a:t> </a:t>
            </a:r>
            <a:r>
              <a:rPr sz="1600" b="1" dirty="0">
                <a:solidFill>
                  <a:srgbClr val="1C2A45"/>
                </a:solidFill>
                <a:latin typeface="Verdana"/>
                <a:cs typeface="Verdana"/>
              </a:rPr>
              <a:t>ГПУ</a:t>
            </a:r>
            <a:r>
              <a:rPr sz="1600" b="1" spc="-130" dirty="0">
                <a:solidFill>
                  <a:srgbClr val="1C2A45"/>
                </a:solidFill>
                <a:latin typeface="Verdana"/>
                <a:cs typeface="Verdana"/>
              </a:rPr>
              <a:t> </a:t>
            </a:r>
            <a:r>
              <a:rPr sz="1600" b="1" dirty="0">
                <a:latin typeface="Verdana"/>
                <a:cs typeface="Verdana"/>
              </a:rPr>
              <a:t>Weichai</a:t>
            </a:r>
            <a:r>
              <a:rPr sz="1600" b="1" spc="-95" dirty="0">
                <a:latin typeface="Verdana"/>
                <a:cs typeface="Verdana"/>
              </a:rPr>
              <a:t> </a:t>
            </a:r>
            <a:r>
              <a:rPr sz="1600" b="1" spc="-10" dirty="0" err="1">
                <a:solidFill>
                  <a:srgbClr val="1C2A45"/>
                </a:solidFill>
                <a:latin typeface="Verdana"/>
                <a:cs typeface="Verdana"/>
              </a:rPr>
              <a:t>номинальной</a:t>
            </a:r>
            <a:r>
              <a:rPr sz="1600" b="1" spc="-85" dirty="0">
                <a:solidFill>
                  <a:srgbClr val="1C2A45"/>
                </a:solidFill>
                <a:latin typeface="Verdana"/>
                <a:cs typeface="Verdana"/>
              </a:rPr>
              <a:t> </a:t>
            </a:r>
            <a:r>
              <a:rPr sz="1600" b="1" dirty="0" err="1">
                <a:solidFill>
                  <a:srgbClr val="1C2A45"/>
                </a:solidFill>
                <a:latin typeface="Verdana"/>
                <a:cs typeface="Verdana"/>
              </a:rPr>
              <a:t>мощностью</a:t>
            </a:r>
            <a:endParaRPr lang="ru-RU" sz="1600" b="1" dirty="0">
              <a:solidFill>
                <a:srgbClr val="1C2A45"/>
              </a:solidFill>
              <a:latin typeface="Verdana"/>
              <a:cs typeface="Verdana"/>
            </a:endParaRPr>
          </a:p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sz="1600" b="1" spc="-120" dirty="0">
                <a:solidFill>
                  <a:srgbClr val="1C2A45"/>
                </a:solidFill>
                <a:latin typeface="Verdana"/>
                <a:cs typeface="Verdana"/>
              </a:rPr>
              <a:t> </a:t>
            </a:r>
            <a:r>
              <a:rPr sz="1600" b="1" spc="-10" dirty="0">
                <a:solidFill>
                  <a:srgbClr val="1C2A45"/>
                </a:solidFill>
                <a:latin typeface="Verdana"/>
                <a:cs typeface="Verdana"/>
              </a:rPr>
              <a:t>250кВт </a:t>
            </a:r>
            <a:r>
              <a:rPr sz="1600" b="1" dirty="0" err="1">
                <a:solidFill>
                  <a:srgbClr val="1C2A45"/>
                </a:solidFill>
                <a:latin typeface="Verdana"/>
                <a:cs typeface="Verdana"/>
              </a:rPr>
              <a:t>открытого</a:t>
            </a:r>
            <a:r>
              <a:rPr sz="1600" b="1" spc="-120" dirty="0">
                <a:solidFill>
                  <a:srgbClr val="1C2A45"/>
                </a:solidFill>
                <a:latin typeface="Verdana"/>
                <a:cs typeface="Verdana"/>
              </a:rPr>
              <a:t> </a:t>
            </a:r>
            <a:r>
              <a:rPr sz="1600" b="1" spc="-10" dirty="0" err="1">
                <a:solidFill>
                  <a:srgbClr val="1C2A45"/>
                </a:solidFill>
                <a:latin typeface="Verdana"/>
                <a:cs typeface="Verdana"/>
              </a:rPr>
              <a:t>исполнения</a:t>
            </a:r>
            <a:endParaRPr lang="ru-RU" sz="1600" b="1" spc="-10" dirty="0">
              <a:solidFill>
                <a:srgbClr val="1C2A45"/>
              </a:solidFill>
              <a:latin typeface="Verdana"/>
              <a:cs typeface="Verdana"/>
            </a:endParaRPr>
          </a:p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lang="ru-RU" sz="1600" b="1" spc="-10" dirty="0">
                <a:solidFill>
                  <a:srgbClr val="1C2A45"/>
                </a:solidFill>
                <a:latin typeface="Verdana"/>
                <a:cs typeface="Verdana"/>
              </a:rPr>
              <a:t> специально адаптированную для майнинга</a:t>
            </a:r>
            <a:endParaRPr sz="1600" dirty="0">
              <a:latin typeface="Verdana"/>
              <a:cs typeface="Verdana"/>
            </a:endParaRPr>
          </a:p>
        </p:txBody>
      </p:sp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411106" y="229180"/>
            <a:ext cx="133834" cy="162197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423329" y="559646"/>
            <a:ext cx="149860" cy="162559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423329" y="897128"/>
            <a:ext cx="149860" cy="120141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2763773" y="241554"/>
            <a:ext cx="1961514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Calibri"/>
                <a:cs typeface="Calibri"/>
              </a:rPr>
              <a:t>РФ,</a:t>
            </a:r>
            <a:r>
              <a:rPr sz="900" spc="-15" dirty="0">
                <a:latin typeface="Calibri"/>
                <a:cs typeface="Calibri"/>
              </a:rPr>
              <a:t> </a:t>
            </a:r>
            <a:r>
              <a:rPr sz="900" dirty="0">
                <a:latin typeface="Calibri"/>
                <a:cs typeface="Calibri"/>
              </a:rPr>
              <a:t>РМЭ,</a:t>
            </a:r>
            <a:r>
              <a:rPr sz="900" spc="-15" dirty="0">
                <a:latin typeface="Calibri"/>
                <a:cs typeface="Calibri"/>
              </a:rPr>
              <a:t> </a:t>
            </a:r>
            <a:r>
              <a:rPr sz="900" spc="-10" dirty="0">
                <a:latin typeface="Calibri"/>
                <a:cs typeface="Calibri"/>
              </a:rPr>
              <a:t>Йошкар-Ола,</a:t>
            </a:r>
            <a:r>
              <a:rPr sz="900" spc="-30" dirty="0">
                <a:latin typeface="Calibri"/>
                <a:cs typeface="Calibri"/>
              </a:rPr>
              <a:t> </a:t>
            </a:r>
            <a:r>
              <a:rPr sz="900" dirty="0">
                <a:latin typeface="Calibri"/>
                <a:cs typeface="Calibri"/>
              </a:rPr>
              <a:t>б-р</a:t>
            </a:r>
            <a:r>
              <a:rPr sz="900" spc="-20" dirty="0">
                <a:latin typeface="Calibri"/>
                <a:cs typeface="Calibri"/>
              </a:rPr>
              <a:t> </a:t>
            </a:r>
            <a:r>
              <a:rPr sz="900" spc="-10" dirty="0">
                <a:latin typeface="Calibri"/>
                <a:cs typeface="Calibri"/>
              </a:rPr>
              <a:t>Победы,</a:t>
            </a:r>
            <a:r>
              <a:rPr sz="900" spc="-40" dirty="0">
                <a:latin typeface="Calibri"/>
                <a:cs typeface="Calibri"/>
              </a:rPr>
              <a:t> </a:t>
            </a:r>
            <a:r>
              <a:rPr sz="900" spc="-20" dirty="0">
                <a:latin typeface="Calibri"/>
                <a:cs typeface="Calibri"/>
              </a:rPr>
              <a:t>д.15</a:t>
            </a:r>
            <a:endParaRPr sz="9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750311" y="557276"/>
            <a:ext cx="960119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latin typeface="Segoe UI"/>
                <a:cs typeface="Segoe UI"/>
              </a:rPr>
              <a:t>+7(927)</a:t>
            </a:r>
            <a:r>
              <a:rPr sz="900" spc="-25" dirty="0">
                <a:latin typeface="Segoe UI"/>
                <a:cs typeface="Segoe UI"/>
              </a:rPr>
              <a:t> </a:t>
            </a:r>
            <a:r>
              <a:rPr sz="900" dirty="0">
                <a:latin typeface="Segoe UI"/>
                <a:cs typeface="Segoe UI"/>
              </a:rPr>
              <a:t>872</a:t>
            </a:r>
            <a:r>
              <a:rPr sz="900" spc="-30" dirty="0">
                <a:latin typeface="Segoe UI"/>
                <a:cs typeface="Segoe UI"/>
              </a:rPr>
              <a:t> </a:t>
            </a:r>
            <a:r>
              <a:rPr sz="900" spc="-10" dirty="0">
                <a:latin typeface="Segoe UI"/>
                <a:cs typeface="Segoe UI"/>
              </a:rPr>
              <a:t>98-</a:t>
            </a:r>
            <a:r>
              <a:rPr sz="900" spc="-25" dirty="0">
                <a:latin typeface="Segoe UI"/>
                <a:cs typeface="Segoe UI"/>
              </a:rPr>
              <a:t>91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737866" y="834897"/>
            <a:ext cx="107505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Segoe UI"/>
                <a:cs typeface="Segoe UI"/>
                <a:hlinkClick r:id="rId9"/>
              </a:rPr>
              <a:t>sales1@elementkb.ru</a:t>
            </a:r>
            <a:endParaRPr sz="900">
              <a:latin typeface="Segoe UI"/>
              <a:cs typeface="Segoe U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70738" y="3404718"/>
            <a:ext cx="3611245" cy="35426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41400"/>
              </a:lnSpc>
              <a:spcBef>
                <a:spcPts val="100"/>
              </a:spcBef>
            </a:pPr>
            <a:r>
              <a:rPr sz="1400" b="1" spc="-10" dirty="0">
                <a:solidFill>
                  <a:srgbClr val="FFFFFF"/>
                </a:solidFill>
                <a:latin typeface="Verdana"/>
                <a:cs typeface="Verdana"/>
              </a:rPr>
              <a:t>СПЕЦИАЛЬНОЕ</a:t>
            </a:r>
            <a:r>
              <a:rPr sz="1400" b="1" spc="-5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400" b="1" dirty="0">
                <a:solidFill>
                  <a:srgbClr val="FFFFFF"/>
                </a:solidFill>
                <a:latin typeface="Verdana"/>
                <a:cs typeface="Verdana"/>
              </a:rPr>
              <a:t>ГПУ</a:t>
            </a:r>
            <a:r>
              <a:rPr sz="1400" b="1" spc="-10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400" b="1" dirty="0">
                <a:solidFill>
                  <a:srgbClr val="FFFFFF"/>
                </a:solidFill>
                <a:latin typeface="Verdana"/>
                <a:cs typeface="Verdana"/>
              </a:rPr>
              <a:t>ДЛЯ</a:t>
            </a:r>
            <a:r>
              <a:rPr sz="1400" b="1" spc="-114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400" b="1" dirty="0">
                <a:solidFill>
                  <a:srgbClr val="FFFFFF"/>
                </a:solidFill>
                <a:latin typeface="Verdana"/>
                <a:cs typeface="Verdana"/>
              </a:rPr>
              <a:t>РАБОТЫ</a:t>
            </a:r>
            <a:r>
              <a:rPr sz="1400" b="1" spc="-120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400" b="1" spc="-50" dirty="0">
                <a:solidFill>
                  <a:srgbClr val="FFFFFF"/>
                </a:solidFill>
                <a:latin typeface="Verdana"/>
                <a:cs typeface="Verdana"/>
              </a:rPr>
              <a:t>В </a:t>
            </a:r>
            <a:r>
              <a:rPr sz="1400" b="1" dirty="0">
                <a:solidFill>
                  <a:srgbClr val="FFFFFF"/>
                </a:solidFill>
                <a:latin typeface="Verdana"/>
                <a:cs typeface="Verdana"/>
              </a:rPr>
              <a:t>РЕЖИМЕ</a:t>
            </a:r>
            <a:r>
              <a:rPr sz="1400" b="1" spc="-95" dirty="0">
                <a:solidFill>
                  <a:srgbClr val="FFFFFF"/>
                </a:solidFill>
                <a:latin typeface="Verdana"/>
                <a:cs typeface="Verdana"/>
              </a:rPr>
              <a:t> </a:t>
            </a:r>
            <a:r>
              <a:rPr sz="1400" b="1" spc="-10" dirty="0">
                <a:solidFill>
                  <a:srgbClr val="FFFFFF"/>
                </a:solidFill>
                <a:latin typeface="Verdana"/>
                <a:cs typeface="Verdana"/>
              </a:rPr>
              <a:t>24/7/365</a:t>
            </a:r>
            <a:endParaRPr sz="1400">
              <a:latin typeface="Verdana"/>
              <a:cs typeface="Verdana"/>
            </a:endParaRPr>
          </a:p>
          <a:p>
            <a:pPr marL="20320">
              <a:lnSpc>
                <a:spcPct val="100000"/>
              </a:lnSpc>
              <a:spcBef>
                <a:spcPts val="1180"/>
              </a:spcBef>
            </a:pPr>
            <a:r>
              <a:rPr sz="1000" dirty="0">
                <a:solidFill>
                  <a:srgbClr val="E6E6E6"/>
                </a:solidFill>
                <a:latin typeface="Verdana"/>
                <a:cs typeface="Verdana"/>
              </a:rPr>
              <a:t>Ресурсные</a:t>
            </a:r>
            <a:r>
              <a:rPr sz="1000" spc="-90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rgbClr val="E6E6E6"/>
                </a:solidFill>
                <a:latin typeface="Verdana"/>
                <a:cs typeface="Verdana"/>
              </a:rPr>
              <a:t>газопоршневые</a:t>
            </a:r>
            <a:r>
              <a:rPr sz="1000" spc="-55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rgbClr val="E6E6E6"/>
                </a:solidFill>
                <a:latin typeface="Verdana"/>
                <a:cs typeface="Verdana"/>
              </a:rPr>
              <a:t>установки</a:t>
            </a:r>
            <a:r>
              <a:rPr sz="1000" spc="-70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rgbClr val="E6E6E6"/>
                </a:solidFill>
                <a:latin typeface="Verdana"/>
                <a:cs typeface="Verdana"/>
              </a:rPr>
              <a:t>для</a:t>
            </a:r>
            <a:r>
              <a:rPr sz="1000" spc="-85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sz="1000" spc="-10" dirty="0">
                <a:solidFill>
                  <a:srgbClr val="E6E6E6"/>
                </a:solidFill>
                <a:latin typeface="Verdana"/>
                <a:cs typeface="Verdana"/>
              </a:rPr>
              <a:t>выработки</a:t>
            </a:r>
            <a:endParaRPr sz="1000">
              <a:latin typeface="Verdana"/>
              <a:cs typeface="Verdana"/>
            </a:endParaRPr>
          </a:p>
          <a:p>
            <a:pPr marL="20320">
              <a:lnSpc>
                <a:spcPct val="100000"/>
              </a:lnSpc>
              <a:spcBef>
                <a:spcPts val="359"/>
              </a:spcBef>
            </a:pPr>
            <a:r>
              <a:rPr sz="1000" spc="-10" dirty="0">
                <a:solidFill>
                  <a:srgbClr val="E6E6E6"/>
                </a:solidFill>
                <a:latin typeface="Verdana"/>
                <a:cs typeface="Verdana"/>
              </a:rPr>
              <a:t>электроэнергии</a:t>
            </a:r>
            <a:r>
              <a:rPr sz="1000" spc="10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rgbClr val="E6E6E6"/>
                </a:solidFill>
                <a:latin typeface="Verdana"/>
                <a:cs typeface="Verdana"/>
              </a:rPr>
              <a:t>в</a:t>
            </a:r>
            <a:r>
              <a:rPr sz="1000" spc="-80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rgbClr val="E6E6E6"/>
                </a:solidFill>
                <a:latin typeface="Verdana"/>
                <a:cs typeface="Verdana"/>
              </a:rPr>
              <a:t>режиме</a:t>
            </a:r>
            <a:r>
              <a:rPr sz="1000" spc="-30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sz="1000" spc="-10" dirty="0">
                <a:solidFill>
                  <a:srgbClr val="E6E6E6"/>
                </a:solidFill>
                <a:latin typeface="Verdana"/>
                <a:cs typeface="Verdana"/>
              </a:rPr>
              <a:t>24/7/365.</a:t>
            </a:r>
            <a:endParaRPr sz="1000">
              <a:latin typeface="Verdana"/>
              <a:cs typeface="Verdana"/>
            </a:endParaRPr>
          </a:p>
          <a:p>
            <a:pPr marL="20320" marR="140970">
              <a:lnSpc>
                <a:spcPct val="114999"/>
              </a:lnSpc>
              <a:spcBef>
                <a:spcPts val="395"/>
              </a:spcBef>
            </a:pPr>
            <a:r>
              <a:rPr sz="1000" dirty="0">
                <a:solidFill>
                  <a:srgbClr val="E6E6E6"/>
                </a:solidFill>
                <a:latin typeface="Verdana"/>
                <a:cs typeface="Verdana"/>
              </a:rPr>
              <a:t>Моторесурс</a:t>
            </a:r>
            <a:r>
              <a:rPr sz="1000" spc="-50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rgbClr val="E6E6E6"/>
                </a:solidFill>
                <a:latin typeface="Verdana"/>
                <a:cs typeface="Verdana"/>
              </a:rPr>
              <a:t>36.000</a:t>
            </a:r>
            <a:r>
              <a:rPr sz="1000" spc="-90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rgbClr val="E6E6E6"/>
                </a:solidFill>
                <a:latin typeface="Verdana"/>
                <a:cs typeface="Verdana"/>
              </a:rPr>
              <a:t>часов.</a:t>
            </a:r>
            <a:r>
              <a:rPr sz="1000" spc="-25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rgbClr val="E6E6E6"/>
                </a:solidFill>
                <a:latin typeface="Verdana"/>
                <a:cs typeface="Verdana"/>
              </a:rPr>
              <a:t>Без</a:t>
            </a:r>
            <a:r>
              <a:rPr sz="1000" spc="-85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rgbClr val="E6E6E6"/>
                </a:solidFill>
                <a:latin typeface="Verdana"/>
                <a:cs typeface="Verdana"/>
              </a:rPr>
              <a:t>перегрева</a:t>
            </a:r>
            <a:r>
              <a:rPr sz="1000" spc="-15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rgbClr val="E6E6E6"/>
                </a:solidFill>
                <a:latin typeface="Verdana"/>
                <a:cs typeface="Verdana"/>
              </a:rPr>
              <a:t>и</a:t>
            </a:r>
            <a:r>
              <a:rPr sz="1000" spc="-90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sz="1000" spc="-10" dirty="0">
                <a:solidFill>
                  <a:srgbClr val="E6E6E6"/>
                </a:solidFill>
                <a:latin typeface="Verdana"/>
                <a:cs typeface="Verdana"/>
              </a:rPr>
              <a:t>дерейта. </a:t>
            </a:r>
            <a:r>
              <a:rPr sz="1000" dirty="0">
                <a:solidFill>
                  <a:srgbClr val="E6E6E6"/>
                </a:solidFill>
                <a:latin typeface="Verdana"/>
                <a:cs typeface="Verdana"/>
              </a:rPr>
              <a:t>КПД</a:t>
            </a:r>
            <a:r>
              <a:rPr sz="1000" spc="-55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rgbClr val="E6E6E6"/>
                </a:solidFill>
                <a:latin typeface="Verdana"/>
                <a:cs typeface="Verdana"/>
              </a:rPr>
              <a:t>ГПУ</a:t>
            </a:r>
            <a:r>
              <a:rPr sz="1000" spc="-40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rgbClr val="E6E6E6"/>
                </a:solidFill>
                <a:latin typeface="Verdana"/>
                <a:cs typeface="Verdana"/>
              </a:rPr>
              <a:t>–</a:t>
            </a:r>
            <a:r>
              <a:rPr sz="1000" spc="-45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rgbClr val="E6E6E6"/>
                </a:solidFill>
                <a:latin typeface="Verdana"/>
                <a:cs typeface="Verdana"/>
              </a:rPr>
              <a:t>33%</a:t>
            </a:r>
            <a:r>
              <a:rPr sz="1000" spc="-35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rgbClr val="E6E6E6"/>
                </a:solidFill>
                <a:latin typeface="Verdana"/>
                <a:cs typeface="Verdana"/>
              </a:rPr>
              <a:t>(против 28%</a:t>
            </a:r>
            <a:r>
              <a:rPr sz="1000" spc="-45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rgbClr val="E6E6E6"/>
                </a:solidFill>
                <a:latin typeface="Verdana"/>
                <a:cs typeface="Verdana"/>
              </a:rPr>
              <a:t>в</a:t>
            </a:r>
            <a:r>
              <a:rPr sz="1000" spc="-30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sz="1000" spc="-10" dirty="0">
                <a:solidFill>
                  <a:srgbClr val="E6E6E6"/>
                </a:solidFill>
                <a:latin typeface="Verdana"/>
                <a:cs typeface="Verdana"/>
              </a:rPr>
              <a:t>стандарте).</a:t>
            </a:r>
            <a:endParaRPr sz="10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345"/>
              </a:spcBef>
            </a:pPr>
            <a:endParaRPr sz="1000">
              <a:latin typeface="Verdana"/>
              <a:cs typeface="Verdana"/>
            </a:endParaRPr>
          </a:p>
          <a:p>
            <a:pPr marL="12700" marR="231140">
              <a:lnSpc>
                <a:spcPct val="130000"/>
              </a:lnSpc>
            </a:pPr>
            <a:r>
              <a:rPr sz="1000" spc="-10" dirty="0">
                <a:solidFill>
                  <a:srgbClr val="E6E6E6"/>
                </a:solidFill>
                <a:latin typeface="Verdana"/>
                <a:cs typeface="Verdana"/>
              </a:rPr>
              <a:t>Двигатели</a:t>
            </a:r>
            <a:r>
              <a:rPr sz="1000" spc="-70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rgbClr val="E6E6E6"/>
                </a:solidFill>
                <a:latin typeface="Verdana"/>
                <a:cs typeface="Verdana"/>
              </a:rPr>
              <a:t>WEICHAI</a:t>
            </a:r>
            <a:r>
              <a:rPr sz="1000" spc="-35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sz="1000" spc="-20" dirty="0">
                <a:solidFill>
                  <a:srgbClr val="F1F1F1"/>
                </a:solidFill>
                <a:latin typeface="Microsoft Sans Serif"/>
                <a:cs typeface="Microsoft Sans Serif"/>
              </a:rPr>
              <a:t>WP13</a:t>
            </a:r>
            <a:r>
              <a:rPr sz="1000" spc="-20" dirty="0">
                <a:solidFill>
                  <a:srgbClr val="E6E6E6"/>
                </a:solidFill>
                <a:latin typeface="Verdana"/>
                <a:cs typeface="Verdana"/>
              </a:rPr>
              <a:t>,</a:t>
            </a:r>
            <a:r>
              <a:rPr sz="1000" spc="-70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rgbClr val="E6E6E6"/>
                </a:solidFill>
                <a:latin typeface="Verdana"/>
                <a:cs typeface="Verdana"/>
              </a:rPr>
              <a:t>ведущего</a:t>
            </a:r>
            <a:r>
              <a:rPr sz="1000" spc="-20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sz="1000" spc="-10" dirty="0">
                <a:solidFill>
                  <a:srgbClr val="E6E6E6"/>
                </a:solidFill>
                <a:latin typeface="Verdana"/>
                <a:cs typeface="Verdana"/>
              </a:rPr>
              <a:t>мирового производителя</a:t>
            </a:r>
            <a:r>
              <a:rPr sz="1000" spc="45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sz="1000" spc="-10" dirty="0">
                <a:solidFill>
                  <a:srgbClr val="E6E6E6"/>
                </a:solidFill>
                <a:latin typeface="Verdana"/>
                <a:cs typeface="Verdana"/>
              </a:rPr>
              <a:t>(премиальный</a:t>
            </a:r>
            <a:r>
              <a:rPr sz="1000" spc="25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sz="1000" spc="-10" dirty="0">
                <a:solidFill>
                  <a:srgbClr val="E6E6E6"/>
                </a:solidFill>
                <a:latin typeface="Verdana"/>
                <a:cs typeface="Verdana"/>
              </a:rPr>
              <a:t>Китай).</a:t>
            </a:r>
            <a:r>
              <a:rPr sz="1000" spc="-80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sz="1000" spc="-10" dirty="0">
                <a:solidFill>
                  <a:srgbClr val="E6E6E6"/>
                </a:solidFill>
                <a:latin typeface="Verdana"/>
                <a:cs typeface="Verdana"/>
              </a:rPr>
              <a:t>С</a:t>
            </a:r>
            <a:r>
              <a:rPr sz="1000" spc="-80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sz="1000" spc="-10" dirty="0">
                <a:solidFill>
                  <a:srgbClr val="E6E6E6"/>
                </a:solidFill>
                <a:latin typeface="Verdana"/>
                <a:cs typeface="Verdana"/>
              </a:rPr>
              <a:t>точностью </a:t>
            </a:r>
            <a:r>
              <a:rPr sz="1000" dirty="0">
                <a:solidFill>
                  <a:srgbClr val="E6E6E6"/>
                </a:solidFill>
                <a:latin typeface="Verdana"/>
                <a:cs typeface="Verdana"/>
              </a:rPr>
              <a:t>электроэнергии</a:t>
            </a:r>
            <a:r>
              <a:rPr sz="1000" spc="-15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rgbClr val="E6E6E6"/>
                </a:solidFill>
                <a:latin typeface="Verdana"/>
                <a:cs typeface="Verdana"/>
              </a:rPr>
              <a:t>1%,</a:t>
            </a:r>
            <a:r>
              <a:rPr sz="1000" spc="-90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rgbClr val="E6E6E6"/>
                </a:solidFill>
                <a:latin typeface="Verdana"/>
                <a:cs typeface="Verdana"/>
              </a:rPr>
              <a:t>против</a:t>
            </a:r>
            <a:r>
              <a:rPr sz="1000" spc="-50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rgbClr val="E6E6E6"/>
                </a:solidFill>
                <a:latin typeface="Verdana"/>
                <a:cs typeface="Verdana"/>
              </a:rPr>
              <a:t>10%</a:t>
            </a:r>
            <a:r>
              <a:rPr sz="1000" spc="-90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rgbClr val="E6E6E6"/>
                </a:solidFill>
                <a:latin typeface="Verdana"/>
                <a:cs typeface="Verdana"/>
              </a:rPr>
              <a:t>в</a:t>
            </a:r>
            <a:r>
              <a:rPr sz="1000" spc="-85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sz="1000" spc="-10" dirty="0">
                <a:solidFill>
                  <a:srgbClr val="E6E6E6"/>
                </a:solidFill>
                <a:latin typeface="Verdana"/>
                <a:cs typeface="Verdana"/>
              </a:rPr>
              <a:t>стандарте.</a:t>
            </a:r>
            <a:endParaRPr sz="10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585"/>
              </a:spcBef>
            </a:pPr>
            <a:endParaRPr sz="1000">
              <a:latin typeface="Verdana"/>
              <a:cs typeface="Verdana"/>
            </a:endParaRPr>
          </a:p>
          <a:p>
            <a:pPr marL="20320" marR="513715">
              <a:lnSpc>
                <a:spcPct val="130000"/>
              </a:lnSpc>
            </a:pPr>
            <a:r>
              <a:rPr sz="1000" dirty="0">
                <a:solidFill>
                  <a:srgbClr val="E6E6E6"/>
                </a:solidFill>
                <a:latin typeface="Verdana"/>
                <a:cs typeface="Verdana"/>
              </a:rPr>
              <a:t>Альтернатор</a:t>
            </a:r>
            <a:r>
              <a:rPr sz="1000" spc="15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rgbClr val="E6E6E6"/>
                </a:solidFill>
                <a:latin typeface="Verdana"/>
                <a:cs typeface="Verdana"/>
              </a:rPr>
              <a:t>Element</a:t>
            </a:r>
            <a:r>
              <a:rPr sz="1000" spc="-15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rgbClr val="E6E6E6"/>
                </a:solidFill>
                <a:latin typeface="Verdana"/>
                <a:cs typeface="Verdana"/>
              </a:rPr>
              <a:t>с</a:t>
            </a:r>
            <a:r>
              <a:rPr sz="1000" spc="-75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rgbClr val="E6E6E6"/>
                </a:solidFill>
                <a:latin typeface="Verdana"/>
                <a:cs typeface="Verdana"/>
              </a:rPr>
              <a:t>КПД</a:t>
            </a:r>
            <a:r>
              <a:rPr sz="1000" spc="-75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rgbClr val="E6E6E6"/>
                </a:solidFill>
                <a:latin typeface="Verdana"/>
                <a:cs typeface="Verdana"/>
              </a:rPr>
              <a:t>93%</a:t>
            </a:r>
            <a:r>
              <a:rPr sz="1000" spc="-75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rgbClr val="E6E6E6"/>
                </a:solidFill>
                <a:latin typeface="Verdana"/>
                <a:cs typeface="Verdana"/>
              </a:rPr>
              <a:t>-</a:t>
            </a:r>
            <a:r>
              <a:rPr sz="1000" spc="-75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sz="1000" spc="-10" dirty="0">
                <a:solidFill>
                  <a:srgbClr val="E6E6E6"/>
                </a:solidFill>
                <a:latin typeface="Verdana"/>
                <a:cs typeface="Verdana"/>
              </a:rPr>
              <a:t>специально разработанный </a:t>
            </a:r>
            <a:r>
              <a:rPr sz="1000" dirty="0">
                <a:solidFill>
                  <a:srgbClr val="E6E6E6"/>
                </a:solidFill>
                <a:latin typeface="Verdana"/>
                <a:cs typeface="Verdana"/>
              </a:rPr>
              <a:t>для</a:t>
            </a:r>
            <a:r>
              <a:rPr sz="1000" spc="-60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sz="1000" spc="-10" dirty="0">
                <a:solidFill>
                  <a:srgbClr val="E6E6E6"/>
                </a:solidFill>
                <a:latin typeface="Verdana"/>
                <a:cs typeface="Verdana"/>
              </a:rPr>
              <a:t>нагруженных</a:t>
            </a:r>
            <a:r>
              <a:rPr sz="1000" spc="-5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sz="1000" spc="-20" dirty="0">
                <a:solidFill>
                  <a:srgbClr val="E6E6E6"/>
                </a:solidFill>
                <a:latin typeface="Verdana"/>
                <a:cs typeface="Verdana"/>
              </a:rPr>
              <a:t>ГПУ.</a:t>
            </a:r>
            <a:endParaRPr sz="10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705"/>
              </a:spcBef>
            </a:pPr>
            <a:endParaRPr sz="1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sz="1000" dirty="0">
                <a:solidFill>
                  <a:srgbClr val="E6E6E6"/>
                </a:solidFill>
                <a:latin typeface="Verdana"/>
                <a:cs typeface="Verdana"/>
              </a:rPr>
              <a:t>Контроллер</a:t>
            </a:r>
            <a:r>
              <a:rPr sz="1000" spc="-65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rgbClr val="E6E6E6"/>
                </a:solidFill>
                <a:latin typeface="Verdana"/>
                <a:cs typeface="Verdana"/>
              </a:rPr>
              <a:t>SmartGen</a:t>
            </a:r>
            <a:r>
              <a:rPr sz="1000" spc="-60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sz="1000" spc="-10" dirty="0">
                <a:solidFill>
                  <a:srgbClr val="E6E6E6"/>
                </a:solidFill>
                <a:latin typeface="Verdana"/>
                <a:cs typeface="Verdana"/>
              </a:rPr>
              <a:t>(«умный</a:t>
            </a:r>
            <a:r>
              <a:rPr sz="1000" spc="-80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sz="1000" spc="-10" dirty="0">
                <a:solidFill>
                  <a:srgbClr val="E6E6E6"/>
                </a:solidFill>
                <a:latin typeface="Verdana"/>
                <a:cs typeface="Verdana"/>
              </a:rPr>
              <a:t>генератор»)</a:t>
            </a:r>
            <a:endParaRPr sz="1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365"/>
              </a:spcBef>
            </a:pPr>
            <a:r>
              <a:rPr sz="1000" dirty="0">
                <a:solidFill>
                  <a:srgbClr val="E6E6E6"/>
                </a:solidFill>
                <a:latin typeface="Verdana"/>
                <a:cs typeface="Verdana"/>
              </a:rPr>
              <a:t>специально</a:t>
            </a:r>
            <a:r>
              <a:rPr sz="1000" spc="10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sz="1000" spc="-20" dirty="0">
                <a:solidFill>
                  <a:srgbClr val="E6E6E6"/>
                </a:solidFill>
                <a:latin typeface="Verdana"/>
                <a:cs typeface="Verdana"/>
              </a:rPr>
              <a:t>разработанный</a:t>
            </a:r>
            <a:r>
              <a:rPr sz="1000" spc="-5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sz="1000" dirty="0">
                <a:solidFill>
                  <a:srgbClr val="E6E6E6"/>
                </a:solidFill>
                <a:latin typeface="Verdana"/>
                <a:cs typeface="Verdana"/>
              </a:rPr>
              <a:t>для</a:t>
            </a:r>
            <a:r>
              <a:rPr sz="1000" spc="-50" dirty="0">
                <a:solidFill>
                  <a:srgbClr val="E6E6E6"/>
                </a:solidFill>
                <a:latin typeface="Verdana"/>
                <a:cs typeface="Verdana"/>
              </a:rPr>
              <a:t> </a:t>
            </a:r>
            <a:r>
              <a:rPr sz="1000" spc="-20" dirty="0">
                <a:solidFill>
                  <a:srgbClr val="E6E6E6"/>
                </a:solidFill>
                <a:latin typeface="Verdana"/>
                <a:cs typeface="Verdana"/>
              </a:rPr>
              <a:t>ГПУ.</a:t>
            </a:r>
            <a:endParaRPr sz="1000">
              <a:latin typeface="Verdana"/>
              <a:cs typeface="Verdana"/>
            </a:endParaRPr>
          </a:p>
        </p:txBody>
      </p:sp>
      <p:pic>
        <p:nvPicPr>
          <p:cNvPr id="16" name="object 16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273507" y="60840"/>
            <a:ext cx="993241" cy="921960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5238369" y="75691"/>
            <a:ext cx="2211070" cy="977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860" marR="1284605" indent="-10795">
              <a:lnSpc>
                <a:spcPct val="134400"/>
              </a:lnSpc>
              <a:spcBef>
                <a:spcPts val="100"/>
              </a:spcBef>
            </a:pPr>
            <a:r>
              <a:rPr sz="900" dirty="0">
                <a:latin typeface="Segoe UI"/>
                <a:cs typeface="Segoe UI"/>
              </a:rPr>
              <a:t>ООО</a:t>
            </a:r>
            <a:r>
              <a:rPr sz="900" spc="-15" dirty="0">
                <a:latin typeface="Segoe UI"/>
                <a:cs typeface="Segoe UI"/>
              </a:rPr>
              <a:t> </a:t>
            </a:r>
            <a:r>
              <a:rPr sz="900" spc="-10" dirty="0">
                <a:latin typeface="Segoe UI"/>
                <a:cs typeface="Segoe UI"/>
              </a:rPr>
              <a:t>«ЭЛЕМЕНТ» </a:t>
            </a:r>
            <a:r>
              <a:rPr sz="900" dirty="0">
                <a:latin typeface="Segoe UI"/>
                <a:cs typeface="Segoe UI"/>
              </a:rPr>
              <a:t>ИНН</a:t>
            </a:r>
            <a:r>
              <a:rPr sz="900" spc="-60" dirty="0">
                <a:latin typeface="Segoe UI"/>
                <a:cs typeface="Segoe UI"/>
              </a:rPr>
              <a:t> </a:t>
            </a:r>
            <a:r>
              <a:rPr sz="900" spc="-10" dirty="0">
                <a:latin typeface="Segoe UI"/>
                <a:cs typeface="Segoe UI"/>
              </a:rPr>
              <a:t>1218002079</a:t>
            </a:r>
            <a:endParaRPr sz="900">
              <a:latin typeface="Segoe UI"/>
              <a:cs typeface="Segoe UI"/>
            </a:endParaRPr>
          </a:p>
          <a:p>
            <a:pPr marL="22860">
              <a:lnSpc>
                <a:spcPct val="100000"/>
              </a:lnSpc>
              <a:spcBef>
                <a:spcPts val="455"/>
              </a:spcBef>
            </a:pPr>
            <a:r>
              <a:rPr sz="900" spc="-10" dirty="0">
                <a:latin typeface="Segoe UI"/>
                <a:cs typeface="Segoe UI"/>
              </a:rPr>
              <a:t>КПП</a:t>
            </a:r>
            <a:r>
              <a:rPr sz="900" spc="-45" dirty="0">
                <a:latin typeface="Segoe UI"/>
                <a:cs typeface="Segoe UI"/>
              </a:rPr>
              <a:t> </a:t>
            </a:r>
            <a:r>
              <a:rPr sz="900" spc="-10" dirty="0">
                <a:latin typeface="Segoe UI"/>
                <a:cs typeface="Segoe UI"/>
              </a:rPr>
              <a:t>121801001</a:t>
            </a:r>
            <a:endParaRPr sz="900">
              <a:latin typeface="Segoe UI"/>
              <a:cs typeface="Segoe UI"/>
            </a:endParaRPr>
          </a:p>
          <a:p>
            <a:pPr marL="24765">
              <a:lnSpc>
                <a:spcPct val="100000"/>
              </a:lnSpc>
              <a:spcBef>
                <a:spcPts val="409"/>
              </a:spcBef>
            </a:pPr>
            <a:r>
              <a:rPr sz="900" dirty="0">
                <a:latin typeface="Segoe UI"/>
                <a:cs typeface="Segoe UI"/>
              </a:rPr>
              <a:t>р/с</a:t>
            </a:r>
            <a:r>
              <a:rPr sz="900" spc="-55" dirty="0">
                <a:latin typeface="Segoe UI"/>
                <a:cs typeface="Segoe UI"/>
              </a:rPr>
              <a:t> </a:t>
            </a:r>
            <a:r>
              <a:rPr sz="900" spc="-10" dirty="0">
                <a:latin typeface="Segoe UI"/>
                <a:cs typeface="Segoe UI"/>
              </a:rPr>
              <a:t>40702810070010348277</a:t>
            </a:r>
            <a:r>
              <a:rPr sz="900" spc="20" dirty="0">
                <a:latin typeface="Segoe UI"/>
                <a:cs typeface="Segoe UI"/>
              </a:rPr>
              <a:t> </a:t>
            </a:r>
            <a:r>
              <a:rPr sz="900" spc="-10" dirty="0">
                <a:latin typeface="Segoe UI"/>
                <a:cs typeface="Segoe UI"/>
              </a:rPr>
              <a:t>(Модульбанк)</a:t>
            </a:r>
            <a:endParaRPr sz="900">
              <a:latin typeface="Segoe UI"/>
              <a:cs typeface="Segoe UI"/>
            </a:endParaRPr>
          </a:p>
          <a:p>
            <a:pPr marL="24765">
              <a:lnSpc>
                <a:spcPct val="100000"/>
              </a:lnSpc>
              <a:spcBef>
                <a:spcPts val="490"/>
              </a:spcBef>
            </a:pPr>
            <a:r>
              <a:rPr sz="900" spc="-10" dirty="0">
                <a:latin typeface="Segoe UI"/>
                <a:cs typeface="Segoe UI"/>
              </a:rPr>
              <a:t>БИК</a:t>
            </a:r>
            <a:r>
              <a:rPr sz="900" spc="-40" dirty="0">
                <a:latin typeface="Segoe UI"/>
                <a:cs typeface="Segoe UI"/>
              </a:rPr>
              <a:t> </a:t>
            </a:r>
            <a:r>
              <a:rPr sz="900" spc="-10" dirty="0">
                <a:latin typeface="Segoe UI"/>
                <a:cs typeface="Segoe UI"/>
              </a:rPr>
              <a:t>044525092</a:t>
            </a:r>
            <a:endParaRPr sz="900">
              <a:latin typeface="Segoe UI"/>
              <a:cs typeface="Segoe UI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149352" y="5219700"/>
            <a:ext cx="81280" cy="1525905"/>
            <a:chOff x="149352" y="5219700"/>
            <a:chExt cx="81280" cy="1525905"/>
          </a:xfrm>
        </p:grpSpPr>
        <p:pic>
          <p:nvPicPr>
            <p:cNvPr id="19" name="object 1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49352" y="6039612"/>
              <a:ext cx="73152" cy="76200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56972" y="5219700"/>
              <a:ext cx="73151" cy="76200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52400" y="6667500"/>
              <a:ext cx="73151" cy="77724"/>
            </a:xfrm>
            <a:prstGeom prst="rect">
              <a:avLst/>
            </a:prstGeom>
          </p:spPr>
        </p:pic>
      </p:grpSp>
      <p:sp>
        <p:nvSpPr>
          <p:cNvPr id="22" name="object 22"/>
          <p:cNvSpPr txBox="1"/>
          <p:nvPr/>
        </p:nvSpPr>
        <p:spPr>
          <a:xfrm>
            <a:off x="370738" y="10010647"/>
            <a:ext cx="6773545" cy="361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100" spc="-10" dirty="0">
                <a:solidFill>
                  <a:srgbClr val="46484D"/>
                </a:solidFill>
                <a:latin typeface="Segoe UI"/>
                <a:cs typeface="Segoe UI"/>
              </a:rPr>
              <a:t>Данное</a:t>
            </a:r>
            <a:r>
              <a:rPr sz="1100" spc="-80" dirty="0">
                <a:solidFill>
                  <a:srgbClr val="46484D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6484D"/>
                </a:solidFill>
                <a:latin typeface="Segoe UI"/>
                <a:cs typeface="Segoe UI"/>
              </a:rPr>
              <a:t>коммерческое</a:t>
            </a:r>
            <a:r>
              <a:rPr sz="1100" spc="25" dirty="0">
                <a:solidFill>
                  <a:srgbClr val="46484D"/>
                </a:solidFill>
                <a:latin typeface="Segoe UI"/>
                <a:cs typeface="Segoe UI"/>
              </a:rPr>
              <a:t> </a:t>
            </a:r>
            <a:r>
              <a:rPr sz="1100" spc="-25" dirty="0">
                <a:solidFill>
                  <a:srgbClr val="46484D"/>
                </a:solidFill>
                <a:latin typeface="Segoe UI"/>
                <a:cs typeface="Segoe UI"/>
              </a:rPr>
              <a:t>предложение</a:t>
            </a:r>
            <a:r>
              <a:rPr sz="1100" spc="-65" dirty="0">
                <a:solidFill>
                  <a:srgbClr val="46484D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6484D"/>
                </a:solidFill>
                <a:latin typeface="Segoe UI"/>
                <a:cs typeface="Segoe UI"/>
              </a:rPr>
              <a:t>не</a:t>
            </a:r>
            <a:r>
              <a:rPr sz="1100" spc="-55" dirty="0">
                <a:solidFill>
                  <a:srgbClr val="46484D"/>
                </a:solidFill>
                <a:latin typeface="Segoe UI"/>
                <a:cs typeface="Segoe UI"/>
              </a:rPr>
              <a:t> </a:t>
            </a:r>
            <a:r>
              <a:rPr sz="1100" spc="-10" dirty="0">
                <a:solidFill>
                  <a:srgbClr val="46484D"/>
                </a:solidFill>
                <a:latin typeface="Segoe UI"/>
                <a:cs typeface="Segoe UI"/>
              </a:rPr>
              <a:t>является</a:t>
            </a:r>
            <a:r>
              <a:rPr sz="1100" spc="-50" dirty="0">
                <a:solidFill>
                  <a:srgbClr val="46484D"/>
                </a:solidFill>
                <a:latin typeface="Segoe UI"/>
                <a:cs typeface="Segoe UI"/>
              </a:rPr>
              <a:t> </a:t>
            </a:r>
            <a:r>
              <a:rPr sz="1100" spc="-10" dirty="0">
                <a:solidFill>
                  <a:srgbClr val="46484D"/>
                </a:solidFill>
                <a:latin typeface="Segoe UI"/>
                <a:cs typeface="Segoe UI"/>
              </a:rPr>
              <a:t>офертой</a:t>
            </a:r>
            <a:r>
              <a:rPr sz="1100" spc="-45" dirty="0">
                <a:solidFill>
                  <a:srgbClr val="46484D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6484D"/>
                </a:solidFill>
                <a:latin typeface="Segoe UI"/>
                <a:cs typeface="Segoe UI"/>
              </a:rPr>
              <a:t>(в</a:t>
            </a:r>
            <a:r>
              <a:rPr sz="1100" spc="25" dirty="0">
                <a:solidFill>
                  <a:srgbClr val="46484D"/>
                </a:solidFill>
                <a:latin typeface="Segoe UI"/>
                <a:cs typeface="Segoe UI"/>
              </a:rPr>
              <a:t> </a:t>
            </a:r>
            <a:r>
              <a:rPr sz="1100" spc="-10" dirty="0">
                <a:solidFill>
                  <a:srgbClr val="46484D"/>
                </a:solidFill>
                <a:latin typeface="Segoe UI"/>
                <a:cs typeface="Segoe UI"/>
              </a:rPr>
              <a:t>соответствии</a:t>
            </a:r>
            <a:r>
              <a:rPr sz="1100" spc="-5" dirty="0">
                <a:solidFill>
                  <a:srgbClr val="46484D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6484D"/>
                </a:solidFill>
                <a:latin typeface="Segoe UI"/>
                <a:cs typeface="Segoe UI"/>
              </a:rPr>
              <a:t>со </a:t>
            </a:r>
            <a:r>
              <a:rPr sz="1100" spc="-10" dirty="0">
                <a:solidFill>
                  <a:srgbClr val="46484D"/>
                </a:solidFill>
                <a:latin typeface="Segoe UI"/>
                <a:cs typeface="Segoe UI"/>
              </a:rPr>
              <a:t>ст.435</a:t>
            </a:r>
            <a:r>
              <a:rPr sz="1100" spc="-70" dirty="0">
                <a:solidFill>
                  <a:srgbClr val="46484D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6484D"/>
                </a:solidFill>
                <a:latin typeface="Segoe UI"/>
                <a:cs typeface="Segoe UI"/>
              </a:rPr>
              <a:t>ГК</a:t>
            </a:r>
            <a:r>
              <a:rPr sz="1100" spc="-5" dirty="0">
                <a:solidFill>
                  <a:srgbClr val="46484D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6484D"/>
                </a:solidFill>
                <a:latin typeface="Segoe UI"/>
                <a:cs typeface="Segoe UI"/>
              </a:rPr>
              <a:t>РФ),</a:t>
            </a:r>
            <a:r>
              <a:rPr sz="1100" spc="-20" dirty="0">
                <a:solidFill>
                  <a:srgbClr val="46484D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6484D"/>
                </a:solidFill>
                <a:latin typeface="Segoe UI"/>
                <a:cs typeface="Segoe UI"/>
              </a:rPr>
              <a:t>и</a:t>
            </a:r>
            <a:r>
              <a:rPr sz="1100" spc="-105" dirty="0">
                <a:solidFill>
                  <a:srgbClr val="46484D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6484D"/>
                </a:solidFill>
                <a:latin typeface="Segoe UI"/>
                <a:cs typeface="Segoe UI"/>
              </a:rPr>
              <a:t>не</a:t>
            </a:r>
            <a:r>
              <a:rPr sz="1100" spc="-55" dirty="0">
                <a:solidFill>
                  <a:srgbClr val="46484D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6484D"/>
                </a:solidFill>
                <a:latin typeface="Segoe UI"/>
                <a:cs typeface="Segoe UI"/>
              </a:rPr>
              <a:t>влечет</a:t>
            </a:r>
            <a:r>
              <a:rPr sz="1100" spc="-5" dirty="0">
                <a:solidFill>
                  <a:srgbClr val="46484D"/>
                </a:solidFill>
                <a:latin typeface="Segoe UI"/>
                <a:cs typeface="Segoe UI"/>
              </a:rPr>
              <a:t> </a:t>
            </a:r>
            <a:r>
              <a:rPr sz="1100" spc="-25" dirty="0">
                <a:solidFill>
                  <a:srgbClr val="46484D"/>
                </a:solidFill>
                <a:latin typeface="Segoe UI"/>
                <a:cs typeface="Segoe UI"/>
              </a:rPr>
              <a:t>за </a:t>
            </a:r>
            <a:r>
              <a:rPr sz="1100" dirty="0">
                <a:solidFill>
                  <a:srgbClr val="46484D"/>
                </a:solidFill>
                <a:latin typeface="Segoe UI"/>
                <a:cs typeface="Segoe UI"/>
              </a:rPr>
              <a:t>собой</a:t>
            </a:r>
            <a:r>
              <a:rPr sz="1100" spc="-10" dirty="0">
                <a:solidFill>
                  <a:srgbClr val="46484D"/>
                </a:solidFill>
                <a:latin typeface="Segoe UI"/>
                <a:cs typeface="Segoe UI"/>
              </a:rPr>
              <a:t> </a:t>
            </a:r>
            <a:r>
              <a:rPr sz="1100" spc="-25" dirty="0">
                <a:solidFill>
                  <a:srgbClr val="46484D"/>
                </a:solidFill>
                <a:latin typeface="Segoe UI"/>
                <a:cs typeface="Segoe UI"/>
              </a:rPr>
              <a:t>обязательств</a:t>
            </a:r>
            <a:r>
              <a:rPr sz="1100" spc="-75" dirty="0">
                <a:solidFill>
                  <a:srgbClr val="46484D"/>
                </a:solidFill>
                <a:latin typeface="Segoe UI"/>
                <a:cs typeface="Segoe UI"/>
              </a:rPr>
              <a:t> </a:t>
            </a:r>
            <a:r>
              <a:rPr sz="1100" spc="-10" dirty="0">
                <a:solidFill>
                  <a:srgbClr val="46484D"/>
                </a:solidFill>
                <a:latin typeface="Segoe UI"/>
                <a:cs typeface="Segoe UI"/>
              </a:rPr>
              <a:t>ООО</a:t>
            </a:r>
            <a:r>
              <a:rPr sz="1100" spc="-75" dirty="0">
                <a:solidFill>
                  <a:srgbClr val="46484D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6484D"/>
                </a:solidFill>
                <a:latin typeface="Segoe UI"/>
                <a:cs typeface="Segoe UI"/>
              </a:rPr>
              <a:t>«ЭЛЕМЕНТ»</a:t>
            </a:r>
            <a:r>
              <a:rPr sz="1100" spc="-45" dirty="0">
                <a:solidFill>
                  <a:srgbClr val="46484D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6484D"/>
                </a:solidFill>
                <a:latin typeface="Segoe UI"/>
                <a:cs typeface="Segoe UI"/>
              </a:rPr>
              <a:t>по</a:t>
            </a:r>
            <a:r>
              <a:rPr sz="1100" spc="-25" dirty="0">
                <a:solidFill>
                  <a:srgbClr val="46484D"/>
                </a:solidFill>
                <a:latin typeface="Segoe UI"/>
                <a:cs typeface="Segoe UI"/>
              </a:rPr>
              <a:t> </a:t>
            </a:r>
            <a:r>
              <a:rPr sz="1100" spc="-10" dirty="0">
                <a:solidFill>
                  <a:srgbClr val="46484D"/>
                </a:solidFill>
                <a:latin typeface="Segoe UI"/>
                <a:cs typeface="Segoe UI"/>
              </a:rPr>
              <a:t>заключению</a:t>
            </a:r>
            <a:r>
              <a:rPr sz="1100" spc="-45" dirty="0">
                <a:solidFill>
                  <a:srgbClr val="46484D"/>
                </a:solidFill>
                <a:latin typeface="Segoe UI"/>
                <a:cs typeface="Segoe UI"/>
              </a:rPr>
              <a:t> </a:t>
            </a:r>
            <a:r>
              <a:rPr sz="1100" dirty="0">
                <a:solidFill>
                  <a:srgbClr val="46484D"/>
                </a:solidFill>
                <a:latin typeface="Segoe UI"/>
                <a:cs typeface="Segoe UI"/>
              </a:rPr>
              <a:t>Договора на</a:t>
            </a:r>
            <a:r>
              <a:rPr sz="1100" spc="-40" dirty="0">
                <a:solidFill>
                  <a:srgbClr val="46484D"/>
                </a:solidFill>
                <a:latin typeface="Segoe UI"/>
                <a:cs typeface="Segoe UI"/>
              </a:rPr>
              <a:t> </a:t>
            </a:r>
            <a:r>
              <a:rPr sz="1100" spc="-10" dirty="0">
                <a:solidFill>
                  <a:srgbClr val="46484D"/>
                </a:solidFill>
                <a:latin typeface="Segoe UI"/>
                <a:cs typeface="Segoe UI"/>
              </a:rPr>
              <a:t>условиях</a:t>
            </a:r>
            <a:r>
              <a:rPr sz="1100" spc="-5" dirty="0">
                <a:solidFill>
                  <a:srgbClr val="46484D"/>
                </a:solidFill>
                <a:latin typeface="Segoe UI"/>
                <a:cs typeface="Segoe UI"/>
              </a:rPr>
              <a:t> </a:t>
            </a:r>
            <a:r>
              <a:rPr sz="1100" spc="-20" dirty="0">
                <a:solidFill>
                  <a:srgbClr val="46484D"/>
                </a:solidFill>
                <a:latin typeface="Segoe UI"/>
                <a:cs typeface="Segoe UI"/>
              </a:rPr>
              <a:t>настоящего</a:t>
            </a:r>
            <a:r>
              <a:rPr sz="1100" spc="10" dirty="0">
                <a:solidFill>
                  <a:srgbClr val="46484D"/>
                </a:solidFill>
                <a:latin typeface="Segoe UI"/>
                <a:cs typeface="Segoe UI"/>
              </a:rPr>
              <a:t> </a:t>
            </a:r>
            <a:r>
              <a:rPr sz="1100" spc="-10" dirty="0">
                <a:solidFill>
                  <a:srgbClr val="46484D"/>
                </a:solidFill>
                <a:latin typeface="Segoe UI"/>
                <a:cs typeface="Segoe UI"/>
              </a:rPr>
              <a:t>предложения</a:t>
            </a:r>
            <a:endParaRPr sz="110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8007610"/>
              </p:ext>
            </p:extLst>
          </p:nvPr>
        </p:nvGraphicFramePr>
        <p:xfrm>
          <a:off x="120649" y="171450"/>
          <a:ext cx="7315201" cy="780438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8100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12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098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0287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57150" algn="ctr">
                        <a:lnSpc>
                          <a:spcPts val="1610"/>
                        </a:lnSpc>
                        <a:spcBef>
                          <a:spcPts val="480"/>
                        </a:spcBef>
                      </a:pPr>
                      <a:r>
                        <a:rPr sz="1200" dirty="0">
                          <a:latin typeface="Microsoft Sans Serif"/>
                          <a:cs typeface="Microsoft Sans Serif"/>
                        </a:rPr>
                        <a:t>1</a:t>
                      </a:r>
                      <a:r>
                        <a:rPr sz="1200" spc="-5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spc="-25" dirty="0">
                          <a:latin typeface="Microsoft Sans Serif"/>
                          <a:cs typeface="Microsoft Sans Serif"/>
                        </a:rPr>
                        <a:t>ГПУ</a:t>
                      </a:r>
                      <a:endParaRPr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6096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80975" indent="0">
                        <a:lnSpc>
                          <a:spcPts val="1610"/>
                        </a:lnSpc>
                        <a:spcBef>
                          <a:spcPts val="480"/>
                        </a:spcBef>
                      </a:pPr>
                      <a:r>
                        <a:rPr sz="1200" dirty="0">
                          <a:latin typeface="Microsoft Sans Serif"/>
                          <a:cs typeface="Microsoft Sans Serif"/>
                        </a:rPr>
                        <a:t>Все</a:t>
                      </a:r>
                      <a:r>
                        <a:rPr sz="1200" spc="-7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spc="-25" dirty="0">
                          <a:latin typeface="Microsoft Sans Serif"/>
                          <a:cs typeface="Microsoft Sans Serif"/>
                        </a:rPr>
                        <a:t>ГПУ</a:t>
                      </a:r>
                      <a:endParaRPr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6096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96875" marR="158750" indent="-309880">
                        <a:lnSpc>
                          <a:spcPct val="100000"/>
                        </a:lnSpc>
                        <a:spcBef>
                          <a:spcPts val="530"/>
                        </a:spcBef>
                      </a:pPr>
                      <a:r>
                        <a:rPr sz="1200" spc="-20" dirty="0">
                          <a:latin typeface="Microsoft Sans Serif"/>
                          <a:cs typeface="Microsoft Sans Serif"/>
                        </a:rPr>
                        <a:t>Количество </a:t>
                      </a:r>
                      <a:r>
                        <a:rPr sz="1200" spc="-25" dirty="0">
                          <a:latin typeface="Microsoft Sans Serif"/>
                          <a:cs typeface="Microsoft Sans Serif"/>
                        </a:rPr>
                        <a:t>ГПУ</a:t>
                      </a:r>
                      <a:endParaRPr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6731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288">
                <a:tc>
                  <a:txBody>
                    <a:bodyPr/>
                    <a:lstStyle/>
                    <a:p>
                      <a:pPr marL="51435">
                        <a:lnSpc>
                          <a:spcPts val="1610"/>
                        </a:lnSpc>
                        <a:spcBef>
                          <a:spcPts val="480"/>
                        </a:spcBef>
                      </a:pPr>
                      <a:r>
                        <a:rPr sz="1200" spc="-20" dirty="0">
                          <a:latin typeface="Microsoft Sans Serif"/>
                          <a:cs typeface="Microsoft Sans Serif"/>
                        </a:rPr>
                        <a:t>Мощность</a:t>
                      </a:r>
                      <a:r>
                        <a:rPr sz="1200" spc="-4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spc="-30" dirty="0">
                          <a:latin typeface="Microsoft Sans Serif"/>
                          <a:cs typeface="Microsoft Sans Serif"/>
                        </a:rPr>
                        <a:t>номинальная,</a:t>
                      </a:r>
                      <a:r>
                        <a:rPr sz="1200" spc="3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spc="-25" dirty="0">
                          <a:latin typeface="Microsoft Sans Serif"/>
                          <a:cs typeface="Microsoft Sans Serif"/>
                        </a:rPr>
                        <a:t>кВт</a:t>
                      </a:r>
                      <a:endParaRPr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6096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4610" algn="ctr">
                        <a:lnSpc>
                          <a:spcPts val="1610"/>
                        </a:lnSpc>
                        <a:spcBef>
                          <a:spcPts val="480"/>
                        </a:spcBef>
                      </a:pPr>
                      <a:r>
                        <a:rPr sz="1200" spc="-25" dirty="0">
                          <a:latin typeface="Microsoft Sans Serif"/>
                          <a:cs typeface="Microsoft Sans Serif"/>
                        </a:rPr>
                        <a:t>250</a:t>
                      </a:r>
                      <a:endParaRPr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609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5244" algn="ctr">
                        <a:lnSpc>
                          <a:spcPts val="1610"/>
                        </a:lnSpc>
                        <a:spcBef>
                          <a:spcPts val="480"/>
                        </a:spcBef>
                      </a:pPr>
                      <a:r>
                        <a:rPr sz="1200" spc="-25" dirty="0">
                          <a:latin typeface="Microsoft Sans Serif"/>
                          <a:cs typeface="Microsoft Sans Serif"/>
                        </a:rPr>
                        <a:t>250</a:t>
                      </a:r>
                      <a:endParaRPr sz="12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609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810" algn="ctr">
                        <a:lnSpc>
                          <a:spcPct val="100000"/>
                        </a:lnSpc>
                        <a:spcBef>
                          <a:spcPts val="1190"/>
                        </a:spcBef>
                      </a:pPr>
                      <a:r>
                        <a:rPr sz="1200" spc="-50" dirty="0">
                          <a:latin typeface="Microsoft Sans Serif"/>
                          <a:cs typeface="Microsoft Sans Serif"/>
                        </a:rPr>
                        <a:t>1</a:t>
                      </a:r>
                      <a:endParaRPr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5113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7758">
                <a:tc>
                  <a:txBody>
                    <a:bodyPr/>
                    <a:lstStyle/>
                    <a:p>
                      <a:pPr marL="51435">
                        <a:lnSpc>
                          <a:spcPts val="1610"/>
                        </a:lnSpc>
                        <a:spcBef>
                          <a:spcPts val="484"/>
                        </a:spcBef>
                      </a:pPr>
                      <a:r>
                        <a:rPr sz="1200" spc="-20" dirty="0">
                          <a:latin typeface="Microsoft Sans Serif"/>
                          <a:cs typeface="Microsoft Sans Serif"/>
                        </a:rPr>
                        <a:t>Мощность</a:t>
                      </a:r>
                      <a:r>
                        <a:rPr sz="1200" spc="-3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spc="-25" dirty="0">
                          <a:latin typeface="Microsoft Sans Serif"/>
                          <a:cs typeface="Microsoft Sans Serif"/>
                        </a:rPr>
                        <a:t>постоянная,</a:t>
                      </a:r>
                      <a:r>
                        <a:rPr sz="1200" spc="-1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spc="-25" dirty="0">
                          <a:latin typeface="Microsoft Sans Serif"/>
                          <a:cs typeface="Microsoft Sans Serif"/>
                        </a:rPr>
                        <a:t>кВт</a:t>
                      </a:r>
                      <a:endParaRPr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61594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150" algn="ctr">
                        <a:lnSpc>
                          <a:spcPts val="1610"/>
                        </a:lnSpc>
                        <a:spcBef>
                          <a:spcPts val="484"/>
                        </a:spcBef>
                      </a:pPr>
                      <a:r>
                        <a:rPr sz="1200" spc="-20" dirty="0">
                          <a:latin typeface="Microsoft Sans Serif"/>
                          <a:cs typeface="Microsoft Sans Serif"/>
                        </a:rPr>
                        <a:t>210</a:t>
                      </a:r>
                      <a:r>
                        <a:rPr sz="1200" spc="-4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spc="-25" dirty="0">
                          <a:latin typeface="Microsoft Sans Serif"/>
                          <a:cs typeface="Microsoft Sans Serif"/>
                        </a:rPr>
                        <a:t>(вместо</a:t>
                      </a:r>
                      <a:r>
                        <a:rPr sz="1200" spc="-7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spc="-20" dirty="0">
                          <a:latin typeface="Microsoft Sans Serif"/>
                          <a:cs typeface="Microsoft Sans Serif"/>
                        </a:rPr>
                        <a:t>200)</a:t>
                      </a:r>
                      <a:endParaRPr sz="12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61594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5244" algn="ctr">
                        <a:lnSpc>
                          <a:spcPts val="1610"/>
                        </a:lnSpc>
                        <a:spcBef>
                          <a:spcPts val="484"/>
                        </a:spcBef>
                      </a:pPr>
                      <a:r>
                        <a:rPr sz="1200" spc="-25" dirty="0">
                          <a:latin typeface="Microsoft Sans Serif"/>
                          <a:cs typeface="Microsoft Sans Serif"/>
                        </a:rPr>
                        <a:t>210</a:t>
                      </a:r>
                      <a:endParaRPr sz="12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61594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333375">
                        <a:lnSpc>
                          <a:spcPct val="100000"/>
                        </a:lnSpc>
                      </a:pPr>
                      <a:r>
                        <a:rPr sz="1200" spc="-10" dirty="0">
                          <a:latin typeface="Microsoft Sans Serif"/>
                          <a:cs typeface="Microsoft Sans Serif"/>
                        </a:rPr>
                        <a:t>Сумма</a:t>
                      </a:r>
                      <a:endParaRPr sz="12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508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8801">
                <a:tc>
                  <a:txBody>
                    <a:bodyPr/>
                    <a:lstStyle/>
                    <a:p>
                      <a:pPr marL="51435">
                        <a:lnSpc>
                          <a:spcPct val="100000"/>
                        </a:lnSpc>
                        <a:spcBef>
                          <a:spcPts val="930"/>
                        </a:spcBef>
                      </a:pPr>
                      <a:r>
                        <a:rPr sz="1200" spc="-30" dirty="0">
                          <a:latin typeface="Microsoft Sans Serif"/>
                          <a:cs typeface="Microsoft Sans Serif"/>
                        </a:rPr>
                        <a:t>М</a:t>
                      </a:r>
                      <a:r>
                        <a:rPr lang="ru-RU" sz="1200" spc="-30" dirty="0" err="1">
                          <a:latin typeface="Microsoft Sans Serif"/>
                          <a:cs typeface="Microsoft Sans Serif"/>
                        </a:rPr>
                        <a:t>одель</a:t>
                      </a:r>
                      <a:r>
                        <a:rPr sz="1200" spc="-8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spc="-10" dirty="0">
                          <a:latin typeface="Microsoft Sans Serif"/>
                          <a:cs typeface="Microsoft Sans Serif"/>
                        </a:rPr>
                        <a:t>двигателя</a:t>
                      </a:r>
                      <a:endParaRPr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1811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85725" marR="227329" indent="0" algn="ctr">
                        <a:lnSpc>
                          <a:spcPct val="100000"/>
                        </a:lnSpc>
                      </a:pPr>
                      <a:r>
                        <a:rPr sz="1200" spc="-10" dirty="0" err="1">
                          <a:latin typeface="Microsoft Sans Serif"/>
                          <a:cs typeface="Microsoft Sans Serif"/>
                        </a:rPr>
                        <a:t>Weichai</a:t>
                      </a:r>
                      <a:r>
                        <a:rPr sz="1200" spc="-10" dirty="0">
                          <a:latin typeface="Microsoft Sans Serif"/>
                          <a:cs typeface="Microsoft Sans Serif"/>
                        </a:rPr>
                        <a:t> </a:t>
                      </a:r>
                      <a:br>
                        <a:rPr lang="ru-RU" sz="1200" spc="-10" dirty="0">
                          <a:latin typeface="Microsoft Sans Serif"/>
                          <a:cs typeface="Microsoft Sans Serif"/>
                        </a:rPr>
                      </a:br>
                      <a:r>
                        <a:rPr sz="1200" spc="-20" dirty="0">
                          <a:latin typeface="Microsoft Sans Serif"/>
                          <a:cs typeface="Microsoft Sans Serif"/>
                        </a:rPr>
                        <a:t>WP13D317E300NG</a:t>
                      </a:r>
                      <a:endParaRPr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1318">
                <a:tc>
                  <a:txBody>
                    <a:bodyPr/>
                    <a:lstStyle/>
                    <a:p>
                      <a:pPr marL="51435">
                        <a:lnSpc>
                          <a:spcPct val="100000"/>
                        </a:lnSpc>
                        <a:spcBef>
                          <a:spcPts val="765"/>
                        </a:spcBef>
                      </a:pPr>
                      <a:r>
                        <a:rPr sz="1200" spc="-35" dirty="0">
                          <a:latin typeface="Microsoft Sans Serif"/>
                          <a:cs typeface="Microsoft Sans Serif"/>
                        </a:rPr>
                        <a:t>ГПУ-</a:t>
                      </a:r>
                      <a:r>
                        <a:rPr sz="1200" spc="-30" dirty="0">
                          <a:latin typeface="Microsoft Sans Serif"/>
                          <a:cs typeface="Microsoft Sans Serif"/>
                        </a:rPr>
                        <a:t>250Квт/380В</a:t>
                      </a:r>
                      <a:r>
                        <a:rPr sz="1200" spc="-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spc="-25" dirty="0" err="1">
                          <a:latin typeface="Microsoft Sans Serif"/>
                          <a:cs typeface="Microsoft Sans Serif"/>
                        </a:rPr>
                        <a:t>двигатель</a:t>
                      </a:r>
                      <a:r>
                        <a:rPr sz="1200" spc="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spc="-10" dirty="0" err="1">
                          <a:latin typeface="Microsoft Sans Serif"/>
                          <a:cs typeface="Microsoft Sans Serif"/>
                        </a:rPr>
                        <a:t>Weichai</a:t>
                      </a:r>
                      <a:r>
                        <a:rPr lang="ru-RU" sz="1200" spc="0" baseline="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spc="-20" dirty="0">
                          <a:latin typeface="Microsoft Sans Serif"/>
                          <a:cs typeface="Microsoft Sans Serif"/>
                        </a:rPr>
                        <a:t>WP13,</a:t>
                      </a:r>
                      <a:r>
                        <a:rPr sz="1200" spc="-5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spc="-25" dirty="0">
                          <a:latin typeface="Microsoft Sans Serif"/>
                          <a:cs typeface="Microsoft Sans Serif"/>
                        </a:rPr>
                        <a:t>генератор</a:t>
                      </a:r>
                      <a:r>
                        <a:rPr sz="1200" spc="-5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spc="-10" dirty="0">
                          <a:latin typeface="Microsoft Sans Serif"/>
                          <a:cs typeface="Microsoft Sans Serif"/>
                        </a:rPr>
                        <a:t>Element</a:t>
                      </a:r>
                      <a:endParaRPr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97155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endParaRPr sz="1200" dirty="0">
                        <a:latin typeface="Times New Roman"/>
                        <a:cs typeface="Times New Roman"/>
                      </a:endParaRPr>
                    </a:p>
                    <a:p>
                      <a:pPr marL="0" indent="0" algn="ctr">
                        <a:lnSpc>
                          <a:spcPct val="100000"/>
                        </a:lnSpc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400 000 юаней</a:t>
                      </a:r>
                      <a:endParaRPr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9525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1245"/>
                        </a:spcBef>
                      </a:pPr>
                      <a:r>
                        <a:rPr sz="1200" dirty="0">
                          <a:latin typeface="Microsoft Sans Serif"/>
                          <a:cs typeface="Microsoft Sans Serif"/>
                        </a:rPr>
                        <a:t>4</a:t>
                      </a:r>
                      <a:r>
                        <a:rPr sz="1200" spc="-1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lang="ru-RU" sz="1200" spc="-10" dirty="0">
                          <a:latin typeface="Microsoft Sans Serif"/>
                          <a:cs typeface="Microsoft Sans Serif"/>
                        </a:rPr>
                        <a:t>56</a:t>
                      </a:r>
                      <a:r>
                        <a:rPr sz="1200" dirty="0">
                          <a:latin typeface="Microsoft Sans Serif"/>
                          <a:cs typeface="Microsoft Sans Serif"/>
                        </a:rPr>
                        <a:t>0</a:t>
                      </a:r>
                      <a:r>
                        <a:rPr sz="1200" spc="-2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spc="-25" dirty="0">
                          <a:latin typeface="Microsoft Sans Serif"/>
                          <a:cs typeface="Microsoft Sans Serif"/>
                        </a:rPr>
                        <a:t>000</a:t>
                      </a:r>
                      <a:endParaRPr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5811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68217">
                <a:tc>
                  <a:txBody>
                    <a:bodyPr/>
                    <a:lstStyle/>
                    <a:p>
                      <a:pPr marL="91440">
                        <a:lnSpc>
                          <a:spcPts val="1670"/>
                        </a:lnSpc>
                        <a:spcBef>
                          <a:spcPts val="1130"/>
                        </a:spcBef>
                      </a:pP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Система контроля </a:t>
                      </a:r>
                      <a:r>
                        <a:rPr sz="1200" dirty="0" err="1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температуры</a:t>
                      </a: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двигателя </a:t>
                      </a:r>
                      <a:r>
                        <a:rPr sz="1200" spc="-3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по</a:t>
                      </a:r>
                      <a:r>
                        <a:rPr sz="1200" spc="-2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spc="-1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цилиндрам</a:t>
                      </a:r>
                      <a:endParaRPr sz="1200" dirty="0"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</a:txBody>
                  <a:tcPr marL="0" marR="0" marT="14351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marR="297815" indent="0" algn="ctr">
                        <a:lnSpc>
                          <a:spcPct val="100000"/>
                        </a:lnSpc>
                        <a:spcBef>
                          <a:spcPts val="195"/>
                        </a:spcBef>
                        <a:tabLst>
                          <a:tab pos="177800" algn="l"/>
                        </a:tabLst>
                      </a:pPr>
                      <a:r>
                        <a:rPr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Входит</a:t>
                      </a:r>
                      <a:r>
                        <a:rPr sz="1200" spc="-2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в</a:t>
                      </a:r>
                      <a:r>
                        <a:rPr sz="1200" spc="-2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spc="-1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базовую </a:t>
                      </a:r>
                      <a:r>
                        <a:rPr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поставку,</a:t>
                      </a:r>
                      <a:r>
                        <a:rPr sz="1200" spc="-4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нет</a:t>
                      </a:r>
                      <a:r>
                        <a:rPr sz="1200" spc="-3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spc="-5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в </a:t>
                      </a:r>
                      <a:r>
                        <a:rPr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стандартной</a:t>
                      </a:r>
                      <a:r>
                        <a:rPr sz="1200" spc="-8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spc="-2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ГПУ</a:t>
                      </a:r>
                      <a:endParaRPr sz="1200" dirty="0"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</a:txBody>
                  <a:tcPr marL="0" marR="0" marT="24765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endParaRPr sz="1200" dirty="0">
                        <a:latin typeface="Times New Roman"/>
                        <a:cs typeface="Times New Roman"/>
                      </a:endParaRPr>
                    </a:p>
                    <a:p>
                      <a:pPr marL="635" algn="ctr">
                        <a:lnSpc>
                          <a:spcPct val="100000"/>
                        </a:lnSpc>
                      </a:pPr>
                      <a:r>
                        <a:rPr sz="1200" spc="-50" dirty="0">
                          <a:latin typeface="Microsoft Sans Serif"/>
                          <a:cs typeface="Microsoft Sans Serif"/>
                        </a:rPr>
                        <a:t>0</a:t>
                      </a:r>
                      <a:endParaRPr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254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60487">
                <a:tc>
                  <a:txBody>
                    <a:bodyPr/>
                    <a:lstStyle/>
                    <a:p>
                      <a:pPr marL="91440" marR="147955">
                        <a:lnSpc>
                          <a:spcPts val="1660"/>
                        </a:lnSpc>
                        <a:spcBef>
                          <a:spcPts val="1200"/>
                        </a:spcBef>
                      </a:pP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Система контроля температуры выхлопных газов</a:t>
                      </a:r>
                      <a:endParaRPr sz="1200" dirty="0"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</a:txBody>
                  <a:tcPr marL="0" marR="0" marT="15240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marR="297815" indent="0"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Входит</a:t>
                      </a:r>
                      <a:r>
                        <a:rPr sz="1200" spc="-2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в</a:t>
                      </a:r>
                      <a:r>
                        <a:rPr sz="1200" spc="-2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spc="-1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базовую </a:t>
                      </a:r>
                      <a:r>
                        <a:rPr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поставку,</a:t>
                      </a:r>
                      <a:r>
                        <a:rPr sz="1200" spc="-4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нет</a:t>
                      </a:r>
                      <a:r>
                        <a:rPr sz="1200" spc="-3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spc="-5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в </a:t>
                      </a:r>
                      <a:r>
                        <a:rPr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стандартной</a:t>
                      </a:r>
                      <a:r>
                        <a:rPr sz="1200" spc="-8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spc="-2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ГПУ</a:t>
                      </a:r>
                      <a:endParaRPr sz="1200" dirty="0"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</a:txBody>
                  <a:tcPr marL="0" marR="0" marT="24765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3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635" algn="ctr">
                        <a:lnSpc>
                          <a:spcPct val="100000"/>
                        </a:lnSpc>
                      </a:pPr>
                      <a:r>
                        <a:rPr sz="1200" spc="-50" dirty="0">
                          <a:latin typeface="Microsoft Sans Serif"/>
                          <a:cs typeface="Microsoft Sans Serif"/>
                        </a:rPr>
                        <a:t>0</a:t>
                      </a:r>
                      <a:endParaRPr sz="12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254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791505">
                <a:tc>
                  <a:txBody>
                    <a:bodyPr/>
                    <a:lstStyle/>
                    <a:p>
                      <a:pPr marL="91440" marR="53911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Радиатор</a:t>
                      </a:r>
                      <a:r>
                        <a:rPr sz="1200" spc="-5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dirty="0" err="1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охлаждения</a:t>
                      </a:r>
                      <a:r>
                        <a:rPr sz="1200" spc="-7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lang="ru-RU" sz="1200" spc="-7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вертикальный</a:t>
                      </a:r>
                      <a:r>
                        <a:rPr lang="en-US" sz="1200" spc="-7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spc="-20" dirty="0" err="1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вдвое</a:t>
                      </a:r>
                      <a:r>
                        <a:rPr sz="1200" spc="-2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большей</a:t>
                      </a:r>
                      <a:r>
                        <a:rPr sz="1200" spc="-4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площадью,</a:t>
                      </a:r>
                      <a:r>
                        <a:rPr sz="1200" spc="-7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spc="-5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с</a:t>
                      </a:r>
                      <a:r>
                        <a:rPr lang="ru-RU" sz="1200" spc="-5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dirty="0" err="1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возможностью</a:t>
                      </a:r>
                      <a:r>
                        <a:rPr lang="en-US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dirty="0" err="1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выноса</a:t>
                      </a:r>
                      <a:r>
                        <a:rPr sz="1200" spc="-5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и</a:t>
                      </a:r>
                      <a:r>
                        <a:rPr sz="1200" spc="-2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spc="-20" dirty="0" err="1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двумя</a:t>
                      </a:r>
                      <a:r>
                        <a:rPr sz="1200" spc="-2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spc="-10" dirty="0" err="1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электровентиляторами</a:t>
                      </a:r>
                      <a:r>
                        <a:rPr lang="ru-RU" sz="1200" spc="-1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с частотным управлением по температуре</a:t>
                      </a:r>
                      <a:endParaRPr sz="1200" dirty="0"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</a:txBody>
                  <a:tcPr marL="0" marR="0" marT="3683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marR="297815" indent="0" algn="ctr">
                        <a:lnSpc>
                          <a:spcPct val="100000"/>
                        </a:lnSpc>
                        <a:spcBef>
                          <a:spcPts val="1105"/>
                        </a:spcBef>
                        <a:tabLst/>
                      </a:pPr>
                      <a:r>
                        <a:rPr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Входит</a:t>
                      </a:r>
                      <a:r>
                        <a:rPr sz="1200" spc="-2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в</a:t>
                      </a:r>
                      <a:r>
                        <a:rPr sz="1200" spc="-2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spc="-1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базовую </a:t>
                      </a:r>
                      <a:r>
                        <a:rPr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поставку,</a:t>
                      </a:r>
                      <a:r>
                        <a:rPr sz="1200" spc="-4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нет</a:t>
                      </a:r>
                      <a:r>
                        <a:rPr sz="1200" spc="-3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spc="-5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в </a:t>
                      </a:r>
                      <a:r>
                        <a:rPr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стандартной</a:t>
                      </a:r>
                      <a:r>
                        <a:rPr sz="1200" spc="-8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spc="-2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ГПУ</a:t>
                      </a:r>
                      <a:endParaRPr sz="1200" dirty="0"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</a:txBody>
                  <a:tcPr marL="0" marR="0" marT="140335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175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1270" algn="ctr">
                        <a:lnSpc>
                          <a:spcPct val="100000"/>
                        </a:lnSpc>
                      </a:pPr>
                      <a:r>
                        <a:rPr sz="1200" spc="-50" dirty="0">
                          <a:latin typeface="Microsoft Sans Serif"/>
                          <a:cs typeface="Microsoft Sans Serif"/>
                        </a:rPr>
                        <a:t>0</a:t>
                      </a:r>
                      <a:endParaRPr sz="12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4922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65281">
                <a:tc>
                  <a:txBody>
                    <a:bodyPr/>
                    <a:lstStyle/>
                    <a:p>
                      <a:pPr marL="91440">
                        <a:lnSpc>
                          <a:spcPts val="1670"/>
                        </a:lnSpc>
                        <a:spcBef>
                          <a:spcPts val="1135"/>
                        </a:spcBef>
                      </a:pPr>
                      <a:r>
                        <a:rPr sz="1200" dirty="0" err="1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Электрический</a:t>
                      </a:r>
                      <a:r>
                        <a:rPr sz="1200" spc="-114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spc="-10" dirty="0" err="1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насос</a:t>
                      </a:r>
                      <a:r>
                        <a:rPr lang="ru-RU" sz="1200" spc="-1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dirty="0" err="1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охлаждающей</a:t>
                      </a:r>
                      <a:r>
                        <a:rPr sz="1200" spc="-7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spc="-1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жидкости</a:t>
                      </a:r>
                      <a:endParaRPr sz="1200" dirty="0"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</a:txBody>
                  <a:tcPr marL="0" marR="0" marT="144145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marR="297815" indent="0"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Входит</a:t>
                      </a:r>
                      <a:r>
                        <a:rPr sz="1200" spc="-2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в</a:t>
                      </a:r>
                      <a:r>
                        <a:rPr sz="1200" spc="-2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spc="-1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базовую </a:t>
                      </a:r>
                      <a:r>
                        <a:rPr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поставку,</a:t>
                      </a:r>
                      <a:r>
                        <a:rPr sz="1200" spc="-4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нет</a:t>
                      </a:r>
                      <a:r>
                        <a:rPr sz="1200" spc="-3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spc="-5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в </a:t>
                      </a:r>
                      <a:r>
                        <a:rPr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стандартной</a:t>
                      </a:r>
                      <a:r>
                        <a:rPr sz="1200" spc="-8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spc="-2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ГПУ</a:t>
                      </a:r>
                      <a:endParaRPr sz="1200" dirty="0"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</a:txBody>
                  <a:tcPr marL="0" marR="0" marT="24765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635" algn="ctr">
                        <a:lnSpc>
                          <a:spcPct val="100000"/>
                        </a:lnSpc>
                      </a:pPr>
                      <a:r>
                        <a:rPr sz="1200" spc="-50" dirty="0">
                          <a:latin typeface="Microsoft Sans Serif"/>
                          <a:cs typeface="Microsoft Sans Serif"/>
                        </a:rPr>
                        <a:t>0</a:t>
                      </a:r>
                      <a:endParaRPr sz="12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318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526874">
                <a:tc>
                  <a:txBody>
                    <a:bodyPr/>
                    <a:lstStyle/>
                    <a:p>
                      <a:pPr marL="91440" marR="1150620">
                        <a:lnSpc>
                          <a:spcPct val="100000"/>
                        </a:lnSpc>
                        <a:spcBef>
                          <a:spcPts val="1110"/>
                        </a:spcBef>
                      </a:pPr>
                      <a:r>
                        <a:rPr lang="ru-RU" sz="1200" spc="-1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Система подогрева</a:t>
                      </a:r>
                      <a:r>
                        <a:rPr lang="ru-RU" sz="1200" spc="-10" baseline="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lang="ru-RU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охлаждающей</a:t>
                      </a: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spc="-10" dirty="0" err="1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жидкости</a:t>
                      </a:r>
                      <a:endParaRPr sz="1200" dirty="0"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</a:txBody>
                  <a:tcPr marL="0" marR="0" marT="14097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marR="297815" indent="0" algn="ctr">
                        <a:lnSpc>
                          <a:spcPct val="100000"/>
                        </a:lnSpc>
                        <a:spcBef>
                          <a:spcPts val="195"/>
                        </a:spcBef>
                      </a:pPr>
                      <a:r>
                        <a:rPr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Входит</a:t>
                      </a:r>
                      <a:r>
                        <a:rPr sz="1200" spc="-2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в</a:t>
                      </a:r>
                      <a:r>
                        <a:rPr sz="1200" spc="-2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spc="-1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базовую </a:t>
                      </a:r>
                      <a:r>
                        <a:rPr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поставку,</a:t>
                      </a:r>
                      <a:r>
                        <a:rPr sz="1200" spc="-4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нет</a:t>
                      </a:r>
                      <a:r>
                        <a:rPr sz="1200" spc="-3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spc="-5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в </a:t>
                      </a:r>
                      <a:r>
                        <a:rPr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стандартной</a:t>
                      </a:r>
                      <a:r>
                        <a:rPr sz="1200" spc="-8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spc="-2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ГПУ</a:t>
                      </a:r>
                      <a:endParaRPr sz="1200" dirty="0"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</a:txBody>
                  <a:tcPr marL="0" marR="0" marT="24765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  <a:p>
                      <a:pPr marL="635" algn="ctr">
                        <a:lnSpc>
                          <a:spcPct val="100000"/>
                        </a:lnSpc>
                      </a:pPr>
                      <a:r>
                        <a:rPr sz="1200" spc="-50" dirty="0">
                          <a:latin typeface="Microsoft Sans Serif"/>
                          <a:cs typeface="Microsoft Sans Serif"/>
                        </a:rPr>
                        <a:t>0</a:t>
                      </a:r>
                      <a:endParaRPr sz="120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318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4381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endParaRPr sz="1200" dirty="0"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Постоянный</a:t>
                      </a:r>
                      <a:r>
                        <a:rPr sz="1200" spc="-5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магнит</a:t>
                      </a:r>
                      <a:r>
                        <a:rPr sz="1200" spc="-4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spc="-1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альтернатора</a:t>
                      </a:r>
                      <a:endParaRPr sz="1200" dirty="0"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</a:txBody>
                  <a:tcPr marL="0" marR="0" marT="4318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marR="297815" indent="0" algn="ctr">
                        <a:lnSpc>
                          <a:spcPct val="100000"/>
                        </a:lnSpc>
                        <a:spcBef>
                          <a:spcPts val="195"/>
                        </a:spcBef>
                        <a:tabLst>
                          <a:tab pos="1885950" algn="l"/>
                        </a:tabLst>
                      </a:pPr>
                      <a:r>
                        <a:rPr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Входит</a:t>
                      </a:r>
                      <a:r>
                        <a:rPr sz="1200" spc="-2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в</a:t>
                      </a:r>
                      <a:r>
                        <a:rPr sz="1200" spc="-2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spc="-1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базовую </a:t>
                      </a:r>
                      <a:r>
                        <a:rPr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поставку,</a:t>
                      </a:r>
                      <a:r>
                        <a:rPr sz="1200" spc="-4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нет</a:t>
                      </a:r>
                      <a:r>
                        <a:rPr sz="1200" spc="-3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spc="-5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в </a:t>
                      </a:r>
                      <a:r>
                        <a:rPr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стандартной</a:t>
                      </a:r>
                      <a:r>
                        <a:rPr sz="1200" spc="-8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spc="-2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ГПУ</a:t>
                      </a:r>
                      <a:endParaRPr sz="1200" dirty="0"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</a:txBody>
                  <a:tcPr marL="0" marR="0" marT="24765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endParaRPr sz="1200" dirty="0">
                        <a:latin typeface="Times New Roman"/>
                        <a:cs typeface="Times New Roman"/>
                      </a:endParaRPr>
                    </a:p>
                    <a:p>
                      <a:pPr marL="635" algn="ctr">
                        <a:lnSpc>
                          <a:spcPct val="100000"/>
                        </a:lnSpc>
                      </a:pPr>
                      <a:r>
                        <a:rPr sz="1200" spc="-50" dirty="0">
                          <a:latin typeface="Microsoft Sans Serif"/>
                          <a:cs typeface="Microsoft Sans Serif"/>
                        </a:rPr>
                        <a:t>0</a:t>
                      </a:r>
                      <a:endParaRPr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318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425197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lang="ru-RU" sz="1200" dirty="0" err="1">
                          <a:latin typeface="Microsoft Sans Serif"/>
                          <a:cs typeface="Microsoft Sans Serif"/>
                        </a:rPr>
                        <a:t>Электроподогреватель</a:t>
                      </a: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 масла в картере</a:t>
                      </a:r>
                      <a:endParaRPr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429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marR="297815" indent="0" algn="ctr">
                        <a:lnSpc>
                          <a:spcPct val="100000"/>
                        </a:lnSpc>
                        <a:spcBef>
                          <a:spcPts val="195"/>
                        </a:spcBef>
                        <a:tabLst>
                          <a:tab pos="1885950" algn="l"/>
                        </a:tabLst>
                      </a:pPr>
                      <a:r>
                        <a:rPr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Входит</a:t>
                      </a:r>
                      <a:r>
                        <a:rPr sz="1200" spc="-2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в</a:t>
                      </a:r>
                      <a:r>
                        <a:rPr sz="1200" spc="-2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spc="-1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базовую </a:t>
                      </a:r>
                      <a:r>
                        <a:rPr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поставку,</a:t>
                      </a:r>
                      <a:r>
                        <a:rPr sz="1200" spc="-4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нет</a:t>
                      </a:r>
                      <a:r>
                        <a:rPr sz="1200" spc="-3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spc="-5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в </a:t>
                      </a:r>
                      <a:r>
                        <a:rPr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стандартной</a:t>
                      </a:r>
                      <a:r>
                        <a:rPr sz="1200" spc="-8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spc="-2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ГПУ</a:t>
                      </a:r>
                      <a:endParaRPr sz="1200" dirty="0"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</a:txBody>
                  <a:tcPr marL="0" marR="0" marT="24765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endParaRPr sz="1200" dirty="0">
                        <a:latin typeface="Times New Roman"/>
                        <a:cs typeface="Times New Roman"/>
                      </a:endParaRPr>
                    </a:p>
                    <a:p>
                      <a:pPr marL="635" algn="ctr">
                        <a:lnSpc>
                          <a:spcPct val="100000"/>
                        </a:lnSpc>
                      </a:pPr>
                      <a:r>
                        <a:rPr sz="1200" spc="-50" dirty="0">
                          <a:latin typeface="Microsoft Sans Serif"/>
                          <a:cs typeface="Microsoft Sans Serif"/>
                        </a:rPr>
                        <a:t>0</a:t>
                      </a:r>
                      <a:endParaRPr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318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440647">
                <a:tc>
                  <a:txBody>
                    <a:bodyPr/>
                    <a:lstStyle/>
                    <a:p>
                      <a:pPr marL="91440">
                        <a:lnSpc>
                          <a:spcPts val="1605"/>
                        </a:lnSpc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Удаленный мониторинг с телефона на русском языке</a:t>
                      </a:r>
                      <a:endParaRPr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429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marR="297815" indent="0" algn="ctr">
                        <a:lnSpc>
                          <a:spcPct val="100000"/>
                        </a:lnSpc>
                        <a:spcBef>
                          <a:spcPts val="195"/>
                        </a:spcBef>
                        <a:tabLst>
                          <a:tab pos="1885950" algn="l"/>
                        </a:tabLst>
                      </a:pPr>
                      <a:r>
                        <a:rPr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Входит</a:t>
                      </a:r>
                      <a:r>
                        <a:rPr sz="1200" spc="-2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в</a:t>
                      </a:r>
                      <a:r>
                        <a:rPr sz="1200" spc="-2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spc="-1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базовую </a:t>
                      </a:r>
                      <a:r>
                        <a:rPr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поставку,</a:t>
                      </a:r>
                      <a:r>
                        <a:rPr sz="1200" spc="-4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нет</a:t>
                      </a:r>
                      <a:r>
                        <a:rPr sz="1200" spc="-3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spc="-5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в </a:t>
                      </a:r>
                      <a:r>
                        <a:rPr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стандартной</a:t>
                      </a:r>
                      <a:r>
                        <a:rPr sz="1200" spc="-8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spc="-2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ГПУ</a:t>
                      </a:r>
                      <a:endParaRPr sz="1200" dirty="0"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</a:txBody>
                  <a:tcPr marL="0" marR="0" marT="247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endParaRPr sz="1200" dirty="0">
                        <a:latin typeface="Times New Roman"/>
                        <a:cs typeface="Times New Roman"/>
                      </a:endParaRPr>
                    </a:p>
                    <a:p>
                      <a:pPr marL="635" algn="ctr">
                        <a:lnSpc>
                          <a:spcPct val="100000"/>
                        </a:lnSpc>
                      </a:pPr>
                      <a:r>
                        <a:rPr sz="1200" spc="-50" dirty="0">
                          <a:latin typeface="Microsoft Sans Serif"/>
                          <a:cs typeface="Microsoft Sans Serif"/>
                        </a:rPr>
                        <a:t>0</a:t>
                      </a:r>
                      <a:endParaRPr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318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30866339"/>
                  </a:ext>
                </a:extLst>
              </a:tr>
              <a:tr h="440647">
                <a:tc>
                  <a:txBody>
                    <a:bodyPr/>
                    <a:lstStyle/>
                    <a:p>
                      <a:pPr marL="91440">
                        <a:lnSpc>
                          <a:spcPts val="1605"/>
                        </a:lnSpc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Газовая рампа с тремя цифровыми манометрами</a:t>
                      </a:r>
                      <a:endParaRPr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429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marR="297815" indent="0" algn="ctr">
                        <a:lnSpc>
                          <a:spcPct val="100000"/>
                        </a:lnSpc>
                        <a:spcBef>
                          <a:spcPts val="195"/>
                        </a:spcBef>
                        <a:tabLst>
                          <a:tab pos="1885950" algn="l"/>
                        </a:tabLst>
                      </a:pPr>
                      <a:r>
                        <a:rPr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Входит</a:t>
                      </a:r>
                      <a:r>
                        <a:rPr sz="1200" spc="-2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в</a:t>
                      </a:r>
                      <a:r>
                        <a:rPr sz="1200" spc="-2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spc="-1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базовую </a:t>
                      </a:r>
                      <a:r>
                        <a:rPr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поставку,</a:t>
                      </a:r>
                      <a:r>
                        <a:rPr sz="1200" spc="-4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нет</a:t>
                      </a:r>
                      <a:r>
                        <a:rPr sz="1200" spc="-3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spc="-5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в </a:t>
                      </a:r>
                      <a:r>
                        <a:rPr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стандартной</a:t>
                      </a:r>
                      <a:r>
                        <a:rPr sz="1200" spc="-8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sz="1200" spc="-2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ГПУ</a:t>
                      </a:r>
                      <a:endParaRPr sz="1200" dirty="0"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</a:txBody>
                  <a:tcPr marL="0" marR="0" marT="247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40"/>
                        </a:spcBef>
                      </a:pPr>
                      <a:endParaRPr sz="1200" dirty="0">
                        <a:latin typeface="Times New Roman"/>
                        <a:cs typeface="Times New Roman"/>
                      </a:endParaRPr>
                    </a:p>
                    <a:p>
                      <a:pPr marL="635" algn="ctr">
                        <a:lnSpc>
                          <a:spcPct val="100000"/>
                        </a:lnSpc>
                      </a:pPr>
                      <a:r>
                        <a:rPr sz="1200" spc="-50" dirty="0">
                          <a:latin typeface="Microsoft Sans Serif"/>
                          <a:cs typeface="Microsoft Sans Serif"/>
                        </a:rPr>
                        <a:t>0</a:t>
                      </a:r>
                      <a:endParaRPr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318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43584946"/>
                  </a:ext>
                </a:extLst>
              </a:tr>
              <a:tr h="440647">
                <a:tc>
                  <a:txBody>
                    <a:bodyPr/>
                    <a:lstStyle/>
                    <a:p>
                      <a:pPr marL="91440">
                        <a:lnSpc>
                          <a:spcPts val="1605"/>
                        </a:lnSpc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Автоматическая зарядка аккумуляторов от альтернатора без зарядного генератора</a:t>
                      </a:r>
                      <a:endParaRPr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429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marR="297815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1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885950" algn="l"/>
                        </a:tabLst>
                        <a:defRPr/>
                      </a:pP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Входит</a:t>
                      </a:r>
                      <a:r>
                        <a:rPr lang="ru-RU" sz="1200" spc="-2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в</a:t>
                      </a:r>
                      <a:r>
                        <a:rPr lang="ru-RU" sz="1200" spc="-2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lang="ru-RU" sz="1200" spc="-1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базовую </a:t>
                      </a: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поставку,</a:t>
                      </a:r>
                      <a:r>
                        <a:rPr lang="ru-RU" sz="1200" spc="-4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нет</a:t>
                      </a:r>
                      <a:r>
                        <a:rPr lang="ru-RU" sz="1200" spc="-3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lang="ru-RU" sz="1200" spc="-5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в </a:t>
                      </a: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стандартной</a:t>
                      </a:r>
                      <a:r>
                        <a:rPr lang="ru-RU" sz="1200" spc="-8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lang="ru-RU" sz="1200" spc="-2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ГПУ</a:t>
                      </a:r>
                      <a:endParaRPr lang="ru-RU" sz="1200" dirty="0"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</a:txBody>
                  <a:tcPr marL="0" marR="0" marT="247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0</a:t>
                      </a:r>
                      <a:endParaRPr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318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4520751"/>
                  </a:ext>
                </a:extLst>
              </a:tr>
              <a:tr h="440647">
                <a:tc>
                  <a:txBody>
                    <a:bodyPr/>
                    <a:lstStyle/>
                    <a:p>
                      <a:pPr marL="91440">
                        <a:lnSpc>
                          <a:spcPts val="1605"/>
                        </a:lnSpc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Пуско-наладочные работы на предприятии-изготовителя с видеоотчетом</a:t>
                      </a:r>
                      <a:endParaRPr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429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marR="297815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1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885950" algn="l"/>
                        </a:tabLst>
                        <a:defRPr/>
                      </a:pP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Входит</a:t>
                      </a:r>
                      <a:r>
                        <a:rPr lang="ru-RU" sz="1200" spc="-2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в</a:t>
                      </a:r>
                      <a:r>
                        <a:rPr lang="ru-RU" sz="1200" spc="-2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lang="ru-RU" sz="1200" spc="-1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базовую </a:t>
                      </a: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поставку,</a:t>
                      </a:r>
                      <a:r>
                        <a:rPr lang="ru-RU" sz="1200" spc="-4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нет</a:t>
                      </a:r>
                      <a:r>
                        <a:rPr lang="ru-RU" sz="1200" spc="-3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lang="ru-RU" sz="1200" spc="-5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в </a:t>
                      </a:r>
                      <a:r>
                        <a:rPr lang="ru-RU" sz="120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стандартной</a:t>
                      </a:r>
                      <a:r>
                        <a:rPr lang="ru-RU" sz="1200" spc="-8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 </a:t>
                      </a:r>
                      <a:r>
                        <a:rPr lang="ru-RU" sz="1200" spc="-25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ГПУ</a:t>
                      </a:r>
                      <a:endParaRPr lang="ru-RU" sz="1200" dirty="0"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</a:txBody>
                  <a:tcPr marL="0" marR="0" marT="247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0</a:t>
                      </a:r>
                      <a:endParaRPr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318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61800770"/>
                  </a:ext>
                </a:extLst>
              </a:tr>
              <a:tr h="440647">
                <a:tc gridSpan="3">
                  <a:txBody>
                    <a:bodyPr/>
                    <a:lstStyle/>
                    <a:p>
                      <a:pPr marL="91440">
                        <a:lnSpc>
                          <a:spcPts val="1605"/>
                        </a:lnSpc>
                      </a:pPr>
                      <a:r>
                        <a:rPr lang="ru-RU" sz="1200" spc="-25">
                          <a:latin typeface="Microsoft Sans Serif"/>
                          <a:cs typeface="Microsoft Sans Serif"/>
                        </a:rPr>
                        <a:t>Срок поставки: до </a:t>
                      </a:r>
                      <a:r>
                        <a:rPr lang="ru-RU" sz="1200" spc="-45" dirty="0">
                          <a:latin typeface="Microsoft Sans Serif"/>
                          <a:cs typeface="Microsoft Sans Serif"/>
                        </a:rPr>
                        <a:t>9</a:t>
                      </a: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0 дней</a:t>
                      </a:r>
                      <a:endParaRPr sz="1200" dirty="0">
                        <a:latin typeface="Microsoft Sans Serif"/>
                        <a:cs typeface="Microsoft Sans Serif"/>
                      </a:endParaRPr>
                    </a:p>
                    <a:p>
                      <a:pPr marL="91440">
                        <a:lnSpc>
                          <a:spcPts val="1605"/>
                        </a:lnSpc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Итого руб. с НДС:</a:t>
                      </a:r>
                      <a:endParaRPr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429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297815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1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1885950" algn="l"/>
                        </a:tabLst>
                        <a:defRPr/>
                      </a:pPr>
                      <a:endParaRPr lang="ru-RU" sz="1200" dirty="0">
                        <a:latin typeface="Microsoft Sans Serif" panose="020B0604020202020204" pitchFamily="34" charset="0"/>
                        <a:ea typeface="Microsoft Sans Serif" panose="020B0604020202020204" pitchFamily="34" charset="0"/>
                        <a:cs typeface="Microsoft Sans Serif" panose="020B0604020202020204" pitchFamily="34" charset="0"/>
                      </a:endParaRPr>
                    </a:p>
                  </a:txBody>
                  <a:tcPr marL="0" marR="0" marT="24765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4 544 000</a:t>
                      </a:r>
                      <a:endParaRPr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4318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94357853"/>
                  </a:ext>
                </a:extLst>
              </a:tr>
            </a:tbl>
          </a:graphicData>
        </a:graphic>
      </p:graphicFrame>
      <p:sp>
        <p:nvSpPr>
          <p:cNvPr id="3" name="object 6"/>
          <p:cNvSpPr txBox="1"/>
          <p:nvPr/>
        </p:nvSpPr>
        <p:spPr>
          <a:xfrm>
            <a:off x="402167" y="9582948"/>
            <a:ext cx="6591934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latin typeface="Microsoft Sans Serif"/>
                <a:cs typeface="Microsoft Sans Serif"/>
              </a:rPr>
              <a:t>*Стоимость</a:t>
            </a:r>
            <a:r>
              <a:rPr sz="1400" spc="-45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самой</a:t>
            </a:r>
            <a:r>
              <a:rPr sz="1400" spc="-10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ГПУ</a:t>
            </a:r>
            <a:r>
              <a:rPr sz="1400" spc="-5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составляет</a:t>
            </a:r>
            <a:r>
              <a:rPr sz="1400" spc="-40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400</a:t>
            </a:r>
            <a:r>
              <a:rPr sz="1400" spc="-20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000</a:t>
            </a:r>
            <a:r>
              <a:rPr sz="1400" spc="-25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юаней</a:t>
            </a:r>
            <a:r>
              <a:rPr sz="1400" spc="-20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по </a:t>
            </a:r>
            <a:r>
              <a:rPr sz="1400" spc="-10" dirty="0">
                <a:latin typeface="Microsoft Sans Serif"/>
                <a:cs typeface="Microsoft Sans Serif"/>
              </a:rPr>
              <a:t>курсу</a:t>
            </a:r>
            <a:r>
              <a:rPr sz="1400" dirty="0">
                <a:latin typeface="Microsoft Sans Serif"/>
                <a:cs typeface="Microsoft Sans Serif"/>
              </a:rPr>
              <a:t> на</a:t>
            </a:r>
            <a:r>
              <a:rPr sz="1400" spc="-20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день</a:t>
            </a:r>
            <a:r>
              <a:rPr sz="1400" spc="-15" dirty="0">
                <a:latin typeface="Microsoft Sans Serif"/>
                <a:cs typeface="Microsoft Sans Serif"/>
              </a:rPr>
              <a:t> </a:t>
            </a:r>
            <a:r>
              <a:rPr sz="1400" spc="-10" dirty="0">
                <a:latin typeface="Microsoft Sans Serif"/>
                <a:cs typeface="Microsoft Sans Serif"/>
              </a:rPr>
              <a:t>оплаты.</a:t>
            </a:r>
            <a:endParaRPr sz="1400" dirty="0">
              <a:latin typeface="Microsoft Sans Serif"/>
              <a:cs typeface="Microsoft Sans Serif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1400" dirty="0">
                <a:latin typeface="Microsoft Sans Serif"/>
                <a:cs typeface="Microsoft Sans Serif"/>
              </a:rPr>
              <a:t>Все</a:t>
            </a:r>
            <a:r>
              <a:rPr sz="1400" spc="-15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опции</a:t>
            </a:r>
            <a:r>
              <a:rPr sz="1400" spc="20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полностью</a:t>
            </a:r>
            <a:r>
              <a:rPr sz="1400" spc="-45" dirty="0">
                <a:latin typeface="Microsoft Sans Serif"/>
                <a:cs typeface="Microsoft Sans Serif"/>
              </a:rPr>
              <a:t> </a:t>
            </a:r>
            <a:r>
              <a:rPr sz="1400" spc="-10" dirty="0">
                <a:latin typeface="Microsoft Sans Serif"/>
                <a:cs typeface="Microsoft Sans Serif"/>
              </a:rPr>
              <a:t>российского</a:t>
            </a:r>
            <a:r>
              <a:rPr sz="1400" spc="-25" dirty="0">
                <a:latin typeface="Microsoft Sans Serif"/>
                <a:cs typeface="Microsoft Sans Serif"/>
              </a:rPr>
              <a:t> </a:t>
            </a:r>
            <a:r>
              <a:rPr sz="1400" spc="-10" dirty="0">
                <a:latin typeface="Microsoft Sans Serif"/>
                <a:cs typeface="Microsoft Sans Serif"/>
              </a:rPr>
              <a:t>производства</a:t>
            </a:r>
            <a:r>
              <a:rPr sz="1400" spc="-15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Arial MT"/>
                <a:cs typeface="Arial MT"/>
              </a:rPr>
              <a:t>-</a:t>
            </a:r>
            <a:r>
              <a:rPr sz="1400" spc="-15" dirty="0">
                <a:latin typeface="Arial MT"/>
                <a:cs typeface="Arial MT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цены</a:t>
            </a:r>
            <a:r>
              <a:rPr sz="1400" spc="-10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в</a:t>
            </a:r>
            <a:r>
              <a:rPr sz="1400" spc="5" dirty="0">
                <a:latin typeface="Microsoft Sans Serif"/>
                <a:cs typeface="Microsoft Sans Serif"/>
              </a:rPr>
              <a:t> </a:t>
            </a:r>
            <a:r>
              <a:rPr lang="ru-RU" sz="1400" spc="5" dirty="0">
                <a:latin typeface="Microsoft Sans Serif"/>
                <a:cs typeface="Microsoft Sans Serif"/>
              </a:rPr>
              <a:t>рублях</a:t>
            </a:r>
            <a:r>
              <a:rPr sz="1400" spc="15" dirty="0">
                <a:latin typeface="Microsoft Sans Serif"/>
                <a:cs typeface="Microsoft Sans Serif"/>
              </a:rPr>
              <a:t> </a:t>
            </a:r>
            <a:r>
              <a:rPr lang="ru-RU" sz="1400" spc="15" dirty="0">
                <a:latin typeface="Microsoft Sans Serif"/>
                <a:cs typeface="Microsoft Sans Serif"/>
              </a:rPr>
              <a:t>фиксированы</a:t>
            </a:r>
            <a:endParaRPr sz="1400" dirty="0">
              <a:latin typeface="Microsoft Sans Serif"/>
              <a:cs typeface="Microsoft Sans Serif"/>
            </a:endParaRPr>
          </a:p>
        </p:txBody>
      </p:sp>
      <p:sp>
        <p:nvSpPr>
          <p:cNvPr id="4" name="object 6">
            <a:extLst>
              <a:ext uri="{FF2B5EF4-FFF2-40B4-BE49-F238E27FC236}">
                <a16:creationId xmlns:a16="http://schemas.microsoft.com/office/drawing/2014/main" id="{13AD6763-93BD-4707-B275-B3736A103D56}"/>
              </a:ext>
            </a:extLst>
          </p:cNvPr>
          <p:cNvSpPr txBox="1"/>
          <p:nvPr/>
        </p:nvSpPr>
        <p:spPr>
          <a:xfrm>
            <a:off x="402167" y="8806436"/>
            <a:ext cx="6591934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lang="ru-RU" sz="1400" spc="-10" dirty="0">
                <a:latin typeface="Microsoft Sans Serif"/>
                <a:cs typeface="Microsoft Sans Serif"/>
              </a:rPr>
              <a:t>Стоимость</a:t>
            </a:r>
            <a:r>
              <a:rPr sz="1400" spc="-45" dirty="0">
                <a:latin typeface="Microsoft Sans Serif"/>
                <a:cs typeface="Microsoft Sans Serif"/>
              </a:rPr>
              <a:t> </a:t>
            </a:r>
            <a:r>
              <a:rPr lang="ru-RU" sz="1400" dirty="0">
                <a:latin typeface="Microsoft Sans Serif"/>
                <a:cs typeface="Microsoft Sans Serif"/>
              </a:rPr>
              <a:t>технического обслуживания нашей </a:t>
            </a:r>
            <a:r>
              <a:rPr sz="1400" spc="-10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ГПУ</a:t>
            </a:r>
            <a:r>
              <a:rPr sz="1400" spc="-5" dirty="0">
                <a:latin typeface="Microsoft Sans Serif"/>
                <a:cs typeface="Microsoft Sans Serif"/>
              </a:rPr>
              <a:t> </a:t>
            </a:r>
            <a:r>
              <a:rPr lang="ru-RU" sz="1400" dirty="0">
                <a:latin typeface="Microsoft Sans Serif"/>
                <a:cs typeface="Microsoft Sans Serif"/>
              </a:rPr>
              <a:t>вдвое дешевле стандартной и составляет 250.000 руб. в год</a:t>
            </a:r>
            <a:endParaRPr sz="1400" dirty="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4433776"/>
              </p:ext>
            </p:extLst>
          </p:nvPr>
        </p:nvGraphicFramePr>
        <p:xfrm>
          <a:off x="120649" y="171450"/>
          <a:ext cx="7315199" cy="88382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5310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703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1386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7200">
                <a:tc gridSpan="3">
                  <a:txBody>
                    <a:bodyPr/>
                    <a:lstStyle/>
                    <a:p>
                      <a:pPr marL="91440" marR="2413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b="0" dirty="0">
                          <a:latin typeface="Microsoft Sans Serif"/>
                          <a:cs typeface="Microsoft Sans Serif"/>
                        </a:rPr>
                        <a:t>Возможные опции к ГПУ-250кВт </a:t>
                      </a:r>
                      <a:r>
                        <a:rPr lang="ru-RU" sz="1400" spc="-20" dirty="0" err="1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Weichai</a:t>
                      </a:r>
                      <a:r>
                        <a:rPr lang="ru-RU" sz="1400" spc="-20" dirty="0"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:</a:t>
                      </a:r>
                      <a:endParaRPr lang="ru-RU" sz="1400" b="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429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110"/>
                        </a:spcBef>
                      </a:pPr>
                      <a:endParaRPr sz="14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4097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110"/>
                        </a:spcBef>
                      </a:pPr>
                      <a:endParaRPr sz="14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4097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29202023"/>
                  </a:ext>
                </a:extLst>
              </a:tr>
              <a:tr h="579958">
                <a:tc>
                  <a:txBody>
                    <a:bodyPr/>
                    <a:lstStyle/>
                    <a:p>
                      <a:pPr marL="91440" marR="2413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0" dirty="0">
                          <a:latin typeface="Microsoft Sans Serif"/>
                          <a:cs typeface="Microsoft Sans Serif"/>
                        </a:rPr>
                        <a:t>Модуль рекуперации тепла выхлопных газов, </a:t>
                      </a:r>
                      <a:r>
                        <a:rPr lang="ru-RU" sz="1200" b="0" dirty="0" err="1">
                          <a:latin typeface="Microsoft Sans Serif"/>
                          <a:cs typeface="Microsoft Sans Serif"/>
                        </a:rPr>
                        <a:t>интеркулера</a:t>
                      </a:r>
                      <a:r>
                        <a:rPr lang="ru-RU" sz="1200" b="0" dirty="0">
                          <a:latin typeface="Microsoft Sans Serif"/>
                          <a:cs typeface="Microsoft Sans Serif"/>
                        </a:rPr>
                        <a:t> и охлаждающей жидкости 250кВт с автоматикой</a:t>
                      </a:r>
                    </a:p>
                  </a:txBody>
                  <a:tcPr marL="0" marR="0" marT="37465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1</a:t>
                      </a:r>
                      <a:endParaRPr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1 850 000</a:t>
                      </a: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00943488"/>
                  </a:ext>
                </a:extLst>
              </a:tr>
              <a:tr h="110173">
                <a:tc>
                  <a:txBody>
                    <a:bodyPr/>
                    <a:lstStyle/>
                    <a:p>
                      <a:pPr marL="92075" marR="0" lvl="0" indent="0" algn="l" defTabSz="9144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0" dirty="0">
                          <a:latin typeface="Microsoft Sans Serif"/>
                          <a:cs typeface="Microsoft Sans Serif"/>
                        </a:rPr>
                        <a:t>Модуль рекуперации тепла выхлопных газов, 250кВт с автоматикой</a:t>
                      </a:r>
                    </a:p>
                  </a:txBody>
                  <a:tcPr marL="7620" marR="7620" marT="762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1</a:t>
                      </a:r>
                      <a:endParaRPr lang="en-US"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1 000 000</a:t>
                      </a:r>
                      <a:endParaRPr lang="en-US"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15030644"/>
                  </a:ext>
                </a:extLst>
              </a:tr>
              <a:tr h="139065">
                <a:tc>
                  <a:txBody>
                    <a:bodyPr/>
                    <a:lstStyle/>
                    <a:p>
                      <a:pPr marL="92075" marR="0" lvl="0" indent="0" algn="l" defTabSz="91440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b="0" dirty="0">
                          <a:latin typeface="Microsoft Sans Serif"/>
                          <a:cs typeface="Microsoft Sans Serif"/>
                        </a:rPr>
                        <a:t>Модуль рекуперации тепла интеркулера и охлаждающей жидкости 250кВт с автоматикой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1</a:t>
                      </a:r>
                      <a:endParaRPr lang="en-US"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850 000</a:t>
                      </a:r>
                      <a:endParaRPr lang="en-US"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78042962"/>
                  </a:ext>
                </a:extLst>
              </a:tr>
              <a:tr h="417195">
                <a:tc>
                  <a:txBody>
                    <a:bodyPr/>
                    <a:lstStyle/>
                    <a:p>
                      <a:pPr marL="91440" marR="2413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Интеркулер вода-воздух</a:t>
                      </a: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1</a:t>
                      </a:r>
                      <a:endParaRPr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150 000</a:t>
                      </a: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27700638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marL="92075" indent="0" algn="l" fontAlgn="b"/>
                      <a:r>
                        <a:rPr lang="ru-RU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Промежуточный охладитель рубашки двигателя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1</a:t>
                      </a:r>
                      <a:endParaRPr lang="en-US"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150 000</a:t>
                      </a:r>
                      <a:endParaRPr lang="en-US"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641910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200" dirty="0">
                          <a:latin typeface="Microsoft Sans Serif"/>
                          <a:cs typeface="Microsoft Sans Serif"/>
                        </a:rPr>
                        <a:t>Автоматическая</a:t>
                      </a:r>
                      <a:r>
                        <a:rPr sz="1200" spc="-6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dirty="0" err="1">
                          <a:latin typeface="Microsoft Sans Serif"/>
                          <a:cs typeface="Microsoft Sans Serif"/>
                        </a:rPr>
                        <a:t>система</a:t>
                      </a:r>
                      <a:r>
                        <a:rPr sz="1200" spc="-7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lang="ru-RU" sz="1200" spc="-10" dirty="0">
                          <a:latin typeface="Microsoft Sans Serif"/>
                          <a:cs typeface="Microsoft Sans Serif"/>
                        </a:rPr>
                        <a:t>долива</a:t>
                      </a:r>
                      <a:endParaRPr sz="1200" dirty="0">
                        <a:latin typeface="Microsoft Sans Serif"/>
                        <a:cs typeface="Microsoft Sans Serif"/>
                      </a:endParaRPr>
                    </a:p>
                    <a:p>
                      <a:pPr marL="91440">
                        <a:lnSpc>
                          <a:spcPts val="1605"/>
                        </a:lnSpc>
                      </a:pPr>
                      <a:r>
                        <a:rPr lang="ru-RU" sz="1200" spc="-10" dirty="0">
                          <a:latin typeface="Microsoft Sans Serif"/>
                          <a:cs typeface="Microsoft Sans Serif"/>
                        </a:rPr>
                        <a:t>м</a:t>
                      </a:r>
                      <a:r>
                        <a:rPr sz="1200" spc="-10" dirty="0" err="1">
                          <a:latin typeface="Microsoft Sans Serif"/>
                          <a:cs typeface="Microsoft Sans Serif"/>
                        </a:rPr>
                        <a:t>асл</a:t>
                      </a:r>
                      <a:r>
                        <a:rPr lang="ru-RU" sz="1200" spc="-10" dirty="0">
                          <a:latin typeface="Microsoft Sans Serif"/>
                          <a:cs typeface="Microsoft Sans Serif"/>
                        </a:rPr>
                        <a:t>а с баком на 20 л и дополнительным внешним датчиком уровня масла</a:t>
                      </a:r>
                      <a:endParaRPr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429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1110"/>
                        </a:spcBef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1</a:t>
                      </a:r>
                      <a:endParaRPr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4097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110"/>
                        </a:spcBef>
                      </a:pPr>
                      <a:r>
                        <a:rPr sz="1200" dirty="0">
                          <a:latin typeface="Microsoft Sans Serif"/>
                          <a:cs typeface="Microsoft Sans Serif"/>
                        </a:rPr>
                        <a:t>80</a:t>
                      </a:r>
                      <a:r>
                        <a:rPr sz="1200" spc="-2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spc="-25" dirty="0">
                          <a:latin typeface="Microsoft Sans Serif"/>
                          <a:cs typeface="Microsoft Sans Serif"/>
                        </a:rPr>
                        <a:t>000</a:t>
                      </a:r>
                      <a:endParaRPr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4097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66290769"/>
                  </a:ext>
                </a:extLst>
              </a:tr>
              <a:tr h="379534">
                <a:tc>
                  <a:txBody>
                    <a:bodyPr/>
                    <a:lstStyle/>
                    <a:p>
                      <a:pPr marL="92075" indent="0" algn="l" fontAlgn="b"/>
                      <a:r>
                        <a:rPr lang="ru-RU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Microsoft Sans Serif" panose="020B0604020202020204" pitchFamily="34" charset="0"/>
                          <a:ea typeface="Microsoft Sans Serif" panose="020B0604020202020204" pitchFamily="34" charset="0"/>
                          <a:cs typeface="Microsoft Sans Serif" panose="020B0604020202020204" pitchFamily="34" charset="0"/>
                        </a:rPr>
                        <a:t>Датчик контроля уровня охлаждающей жидкости</a:t>
                      </a:r>
                    </a:p>
                  </a:txBody>
                  <a:tcPr marL="7620" marR="7620" marT="7620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1</a:t>
                      </a:r>
                      <a:endParaRPr lang="en-US"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40 000</a:t>
                      </a:r>
                      <a:endParaRPr lang="en-US"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5415847"/>
                  </a:ext>
                </a:extLst>
              </a:tr>
              <a:tr h="299616">
                <a:tc>
                  <a:txBody>
                    <a:bodyPr/>
                    <a:lstStyle/>
                    <a:p>
                      <a:pPr marL="91440" marR="2413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Шкаф параллельной работы 1250А</a:t>
                      </a:r>
                    </a:p>
                  </a:txBody>
                  <a:tcPr marL="0" marR="0" marT="37465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1</a:t>
                      </a:r>
                      <a:endParaRPr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900 000</a:t>
                      </a: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33353939"/>
                  </a:ext>
                </a:extLst>
              </a:tr>
              <a:tr h="340329">
                <a:tc>
                  <a:txBody>
                    <a:bodyPr/>
                    <a:lstStyle/>
                    <a:p>
                      <a:pPr marL="91440" marR="2413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АВР</a:t>
                      </a:r>
                      <a:r>
                        <a:rPr lang="ru-RU" sz="1200" baseline="0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lang="ru-RU" sz="1200" dirty="0" err="1">
                          <a:latin typeface="Microsoft Sans Serif"/>
                          <a:cs typeface="Microsoft Sans Serif"/>
                        </a:rPr>
                        <a:t>Delixi</a:t>
                      </a: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 (автоматический ввод резерва) 630A</a:t>
                      </a:r>
                    </a:p>
                  </a:txBody>
                  <a:tcPr marL="0" marR="0" marT="37465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1</a:t>
                      </a:r>
                      <a:endParaRPr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140 000</a:t>
                      </a: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613734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91440" marR="2413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Сверхтихий глушитель</a:t>
                      </a:r>
                    </a:p>
                  </a:txBody>
                  <a:tcPr marL="0" marR="0" marT="37465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1</a:t>
                      </a:r>
                      <a:endParaRPr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170 000</a:t>
                      </a: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03854994"/>
                  </a:ext>
                </a:extLst>
              </a:tr>
              <a:tr h="160070">
                <a:tc>
                  <a:txBody>
                    <a:bodyPr/>
                    <a:lstStyle/>
                    <a:p>
                      <a:pPr marL="91440" marR="2413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Индивидуальный счетчик газа на ГПУ</a:t>
                      </a: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1</a:t>
                      </a:r>
                      <a:endParaRPr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70 000</a:t>
                      </a: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09095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91440" marR="2413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Индивидуальный счетчик тепла</a:t>
                      </a: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1</a:t>
                      </a:r>
                      <a:endParaRPr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70 000</a:t>
                      </a: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795880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91440" marR="2413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Сверхтихий вертикальный радиатор охлаждения двигателя с 4 вентиляторами с частотным управлением</a:t>
                      </a: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1</a:t>
                      </a:r>
                      <a:endParaRPr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50 000</a:t>
                      </a: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56641023"/>
                  </a:ext>
                </a:extLst>
              </a:tr>
              <a:tr h="201613">
                <a:tc>
                  <a:txBody>
                    <a:bodyPr/>
                    <a:lstStyle/>
                    <a:p>
                      <a:pPr marL="91440" marR="2413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Горизонтальный радиатор с 4 вентиляторами с частотным управлением</a:t>
                      </a: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1</a:t>
                      </a:r>
                      <a:endParaRPr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50 000</a:t>
                      </a: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180990"/>
                  </a:ext>
                </a:extLst>
              </a:tr>
              <a:tr h="110173">
                <a:tc>
                  <a:txBody>
                    <a:bodyPr/>
                    <a:lstStyle/>
                    <a:p>
                      <a:pPr marL="91440" marR="2413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Кожух </a:t>
                      </a:r>
                      <a:r>
                        <a:rPr lang="ru-RU" sz="1200" dirty="0" err="1">
                          <a:latin typeface="Microsoft Sans Serif"/>
                          <a:cs typeface="Microsoft Sans Serif"/>
                        </a:rPr>
                        <a:t>погодозащитный</a:t>
                      </a: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 на 1 ГПУ</a:t>
                      </a: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1</a:t>
                      </a:r>
                      <a:endParaRPr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250 000</a:t>
                      </a: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7847970"/>
                  </a:ext>
                </a:extLst>
              </a:tr>
              <a:tr h="110173">
                <a:tc>
                  <a:txBody>
                    <a:bodyPr/>
                    <a:lstStyle/>
                    <a:p>
                      <a:pPr marL="91440" marR="2413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Кожух </a:t>
                      </a:r>
                      <a:r>
                        <a:rPr lang="ru-RU" sz="1200" dirty="0" err="1">
                          <a:latin typeface="Microsoft Sans Serif"/>
                          <a:cs typeface="Microsoft Sans Serif"/>
                        </a:rPr>
                        <a:t>погодозащитный</a:t>
                      </a: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 большой на 1 ГПУ</a:t>
                      </a: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1</a:t>
                      </a:r>
                      <a:endParaRPr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500 000</a:t>
                      </a: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661111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91440" marR="2413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Контейнер типа Север на 1 ГПУ</a:t>
                      </a: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1</a:t>
                      </a:r>
                      <a:endParaRPr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850 000</a:t>
                      </a: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82242158"/>
                  </a:ext>
                </a:extLst>
              </a:tr>
              <a:tr h="165259">
                <a:tc>
                  <a:txBody>
                    <a:bodyPr/>
                    <a:lstStyle/>
                    <a:p>
                      <a:pPr marL="91440" marR="2413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Контейнер типа Север на 1 ГПУ и 60 воздушных </a:t>
                      </a:r>
                      <a:r>
                        <a:rPr lang="ru-RU" sz="1200" dirty="0" err="1">
                          <a:latin typeface="Microsoft Sans Serif"/>
                          <a:cs typeface="Microsoft Sans Serif"/>
                        </a:rPr>
                        <a:t>асиков</a:t>
                      </a:r>
                      <a:endParaRPr lang="ru-RU"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1</a:t>
                      </a:r>
                      <a:endParaRPr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2 000 000</a:t>
                      </a: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534748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91440" marR="24130" lvl="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Контейнер типа Север на 1 ГПУ и 40 водоохлаждаемых </a:t>
                      </a:r>
                      <a:r>
                        <a:rPr lang="ru-RU" sz="1200" dirty="0" err="1">
                          <a:latin typeface="Microsoft Sans Serif"/>
                          <a:cs typeface="Microsoft Sans Serif"/>
                        </a:rPr>
                        <a:t>асиков</a:t>
                      </a: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 с градирней</a:t>
                      </a: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1</a:t>
                      </a:r>
                      <a:endParaRPr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3 600 000</a:t>
                      </a: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523647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91440" marR="2413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Проектные работы </a:t>
                      </a: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2-5% от стоимости счета</a:t>
                      </a:r>
                      <a:endParaRPr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757850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91440" marR="2413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Пуско-наладочные работы выездные (ПНР)</a:t>
                      </a: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5%</a:t>
                      </a:r>
                      <a:r>
                        <a:rPr lang="ru-RU" sz="1200" baseline="0" dirty="0">
                          <a:latin typeface="Microsoft Sans Serif"/>
                          <a:cs typeface="Microsoft Sans Serif"/>
                        </a:rPr>
                        <a:t> стоимости счёта</a:t>
                      </a:r>
                      <a:endParaRPr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90425990"/>
                  </a:ext>
                </a:extLst>
              </a:tr>
              <a:tr h="298597">
                <a:tc>
                  <a:txBody>
                    <a:bodyPr/>
                    <a:lstStyle/>
                    <a:p>
                      <a:pPr marL="91440" marR="24130" indent="0" algn="l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Строительно-монтажные работы (СМР)</a:t>
                      </a:r>
                    </a:p>
                  </a:txBody>
                  <a:tcPr marL="0" marR="0" marT="37465" marB="0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5-10% от</a:t>
                      </a:r>
                      <a:r>
                        <a:rPr lang="ru-RU" sz="1200" baseline="0" dirty="0">
                          <a:latin typeface="Microsoft Sans Serif"/>
                          <a:cs typeface="Microsoft Sans Serif"/>
                        </a:rPr>
                        <a:t> сложности</a:t>
                      </a:r>
                      <a:endParaRPr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29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3746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60317923"/>
                  </a:ext>
                </a:extLst>
              </a:tr>
              <a:tr h="774335">
                <a:tc gridSpan="2">
                  <a:txBody>
                    <a:bodyPr/>
                    <a:lstStyle/>
                    <a:p>
                      <a:pPr marL="180975" marR="4138295" indent="0">
                        <a:lnSpc>
                          <a:spcPct val="118000"/>
                        </a:lnSpc>
                        <a:spcBef>
                          <a:spcPts val="1415"/>
                        </a:spcBef>
                      </a:pPr>
                      <a:r>
                        <a:rPr sz="1200" spc="-10" dirty="0" err="1">
                          <a:latin typeface="Microsoft Sans Serif"/>
                          <a:cs typeface="Microsoft Sans Serif"/>
                        </a:rPr>
                        <a:t>Срок</a:t>
                      </a:r>
                      <a:r>
                        <a:rPr sz="1200" spc="-5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spc="-25" dirty="0" err="1">
                          <a:latin typeface="Microsoft Sans Serif"/>
                          <a:cs typeface="Microsoft Sans Serif"/>
                        </a:rPr>
                        <a:t>поставки</a:t>
                      </a:r>
                      <a:r>
                        <a:rPr lang="ru-RU" sz="1200" spc="-25" dirty="0">
                          <a:latin typeface="Microsoft Sans Serif"/>
                          <a:cs typeface="Microsoft Sans Serif"/>
                        </a:rPr>
                        <a:t>: </a:t>
                      </a:r>
                      <a:r>
                        <a:rPr lang="ru-RU" sz="1200" spc="-45" dirty="0">
                          <a:latin typeface="Microsoft Sans Serif"/>
                          <a:cs typeface="Microsoft Sans Serif"/>
                        </a:rPr>
                        <a:t>9</a:t>
                      </a:r>
                      <a:r>
                        <a:rPr sz="1200" dirty="0">
                          <a:latin typeface="Microsoft Sans Serif"/>
                          <a:cs typeface="Microsoft Sans Serif"/>
                        </a:rPr>
                        <a:t>0</a:t>
                      </a:r>
                      <a:r>
                        <a:rPr lang="ru-RU" sz="1200" dirty="0">
                          <a:latin typeface="Microsoft Sans Serif"/>
                          <a:cs typeface="Microsoft Sans Serif"/>
                        </a:rPr>
                        <a:t> дней</a:t>
                      </a:r>
                      <a:br>
                        <a:rPr lang="ru-RU" sz="1200" spc="-20" dirty="0">
                          <a:latin typeface="Microsoft Sans Serif"/>
                          <a:cs typeface="Microsoft Sans Serif"/>
                        </a:rPr>
                      </a:br>
                      <a:r>
                        <a:rPr sz="1200" spc="-10" dirty="0" err="1">
                          <a:latin typeface="Microsoft Sans Serif"/>
                          <a:cs typeface="Microsoft Sans Serif"/>
                        </a:rPr>
                        <a:t>Итого</a:t>
                      </a:r>
                      <a:r>
                        <a:rPr sz="1200" spc="-10" dirty="0">
                          <a:latin typeface="Microsoft Sans Serif"/>
                          <a:cs typeface="Microsoft Sans Serif"/>
                        </a:rPr>
                        <a:t>,</a:t>
                      </a:r>
                      <a:r>
                        <a:rPr sz="1200" spc="-8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dirty="0">
                          <a:latin typeface="Microsoft Sans Serif"/>
                          <a:cs typeface="Microsoft Sans Serif"/>
                        </a:rPr>
                        <a:t>руб</a:t>
                      </a:r>
                      <a:r>
                        <a:rPr sz="1200" spc="-4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dirty="0">
                          <a:latin typeface="Microsoft Sans Serif"/>
                          <a:cs typeface="Microsoft Sans Serif"/>
                        </a:rPr>
                        <a:t>с</a:t>
                      </a:r>
                      <a:r>
                        <a:rPr sz="1200" spc="-85" dirty="0">
                          <a:latin typeface="Microsoft Sans Serif"/>
                          <a:cs typeface="Microsoft Sans Serif"/>
                        </a:rPr>
                        <a:t> </a:t>
                      </a:r>
                      <a:r>
                        <a:rPr sz="1200" spc="-20" dirty="0">
                          <a:latin typeface="Microsoft Sans Serif"/>
                          <a:cs typeface="Microsoft Sans Serif"/>
                        </a:rPr>
                        <a:t>НДС:</a:t>
                      </a:r>
                      <a:endParaRPr sz="1200" dirty="0">
                        <a:latin typeface="Microsoft Sans Serif"/>
                        <a:cs typeface="Microsoft Sans Serif"/>
                      </a:endParaRPr>
                    </a:p>
                  </a:txBody>
                  <a:tcPr marL="0" marR="0" marT="17970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994"/>
                        </a:spcBef>
                      </a:pPr>
                      <a:endParaRPr sz="1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126364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755619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36600" y="629793"/>
            <a:ext cx="7219900" cy="80124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40690" algn="ctr">
              <a:lnSpc>
                <a:spcPct val="100000"/>
              </a:lnSpc>
              <a:spcBef>
                <a:spcPts val="100"/>
              </a:spcBef>
            </a:pPr>
            <a:r>
              <a:rPr spc="-60" dirty="0">
                <a:latin typeface="Verdana"/>
                <a:cs typeface="Verdana"/>
              </a:rPr>
              <a:t>Вы</a:t>
            </a:r>
            <a:r>
              <a:rPr spc="-380" dirty="0">
                <a:latin typeface="Verdana"/>
                <a:cs typeface="Verdana"/>
              </a:rPr>
              <a:t> </a:t>
            </a:r>
            <a:r>
              <a:rPr spc="-135" dirty="0">
                <a:latin typeface="Verdana"/>
                <a:cs typeface="Verdana"/>
              </a:rPr>
              <a:t>нашли</a:t>
            </a:r>
            <a:r>
              <a:rPr spc="-455" dirty="0">
                <a:latin typeface="Verdana"/>
                <a:cs typeface="Verdana"/>
              </a:rPr>
              <a:t> </a:t>
            </a:r>
            <a:r>
              <a:rPr spc="-175" dirty="0" err="1">
                <a:latin typeface="Verdana"/>
                <a:cs typeface="Verdana"/>
              </a:rPr>
              <a:t>правильную</a:t>
            </a:r>
            <a:r>
              <a:rPr spc="-440" dirty="0">
                <a:latin typeface="Verdana"/>
                <a:cs typeface="Verdana"/>
              </a:rPr>
              <a:t> </a:t>
            </a:r>
            <a:r>
              <a:rPr lang="ru-RU" spc="-440" dirty="0">
                <a:latin typeface="Verdana"/>
                <a:cs typeface="Verdana"/>
              </a:rPr>
              <a:t> </a:t>
            </a:r>
            <a:r>
              <a:rPr spc="-125" dirty="0" err="1">
                <a:latin typeface="Verdana"/>
                <a:cs typeface="Verdana"/>
              </a:rPr>
              <a:t>компанию</a:t>
            </a:r>
            <a:r>
              <a:rPr lang="ru-RU" spc="-125" dirty="0">
                <a:latin typeface="Verdana"/>
                <a:cs typeface="Verdana"/>
              </a:rPr>
              <a:t> </a:t>
            </a:r>
            <a:r>
              <a:rPr spc="-125" dirty="0" err="1">
                <a:latin typeface="Verdana"/>
                <a:cs typeface="Verdana"/>
              </a:rPr>
              <a:t>для</a:t>
            </a:r>
            <a:r>
              <a:rPr spc="-434" dirty="0">
                <a:latin typeface="Verdana"/>
                <a:cs typeface="Verdana"/>
              </a:rPr>
              <a:t> </a:t>
            </a:r>
            <a:r>
              <a:rPr lang="ru-RU" spc="-434" dirty="0">
                <a:latin typeface="Verdana"/>
                <a:cs typeface="Verdana"/>
              </a:rPr>
              <a:t> </a:t>
            </a:r>
            <a:r>
              <a:rPr spc="-170" dirty="0" err="1">
                <a:latin typeface="Verdana"/>
                <a:cs typeface="Verdana"/>
              </a:rPr>
              <a:t>покупки</a:t>
            </a:r>
            <a:r>
              <a:rPr lang="ru-RU" spc="-170" dirty="0">
                <a:latin typeface="Verdana"/>
                <a:cs typeface="Verdana"/>
              </a:rPr>
              <a:t> </a:t>
            </a:r>
            <a:r>
              <a:rPr spc="-484" dirty="0">
                <a:latin typeface="Verdana"/>
                <a:cs typeface="Verdana"/>
              </a:rPr>
              <a:t> </a:t>
            </a:r>
            <a:r>
              <a:rPr spc="-20" dirty="0">
                <a:latin typeface="Verdana"/>
                <a:cs typeface="Verdana"/>
              </a:rPr>
              <a:t>ГПУ!</a:t>
            </a:r>
            <a:endParaRPr dirty="0">
              <a:latin typeface="Verdana"/>
              <a:cs typeface="Verdana"/>
            </a:endParaRPr>
          </a:p>
          <a:p>
            <a:pPr marL="186055" marR="5080" algn="ctr">
              <a:lnSpc>
                <a:spcPct val="100000"/>
              </a:lnSpc>
              <a:spcBef>
                <a:spcPts val="1505"/>
              </a:spcBef>
            </a:pPr>
            <a:r>
              <a:rPr sz="1600" spc="-55" dirty="0" err="1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То</a:t>
            </a:r>
            <a:r>
              <a:rPr sz="1600" spc="-44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1600" spc="-135" dirty="0" err="1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самое</a:t>
            </a:r>
            <a:r>
              <a:rPr lang="ru-RU" sz="1600" spc="-13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1600" spc="-50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1600" spc="-114" dirty="0" err="1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чувство</a:t>
            </a:r>
            <a:r>
              <a:rPr sz="1600" spc="-114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,</a:t>
            </a:r>
            <a:r>
              <a:rPr lang="ru-RU" sz="1600" spc="-114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1600" spc="-114" dirty="0" err="1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когда</a:t>
            </a:r>
            <a:r>
              <a:rPr lang="ru-RU" sz="1600" spc="-114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1600" spc="-114" dirty="0" err="1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ты</a:t>
            </a:r>
            <a:r>
              <a:rPr sz="1600" spc="-42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1600" spc="-114" dirty="0" err="1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круче</a:t>
            </a:r>
            <a:r>
              <a:rPr lang="ru-RU" sz="1600" spc="-114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1600" spc="-114" dirty="0" err="1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всех</a:t>
            </a:r>
            <a:r>
              <a:rPr sz="1600" spc="-45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lang="ru-RU" sz="1600" spc="-455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160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и</a:t>
            </a:r>
            <a:r>
              <a:rPr sz="1600" spc="-34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1600" spc="-2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у</a:t>
            </a:r>
            <a:r>
              <a:rPr sz="1600" spc="-32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1600" spc="-110" dirty="0" err="1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тебя</a:t>
            </a:r>
            <a:r>
              <a:rPr lang="ru-RU" sz="1600" spc="-11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1600" spc="-509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lang="ru-RU" sz="1600" spc="-509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160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с</a:t>
            </a:r>
            <a:r>
              <a:rPr sz="1600" spc="-31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1600" spc="-10" dirty="0" err="1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Нами</a:t>
            </a:r>
            <a:r>
              <a:rPr lang="ru-RU" sz="1600" spc="-1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</a:t>
            </a:r>
            <a:r>
              <a:rPr sz="1600" spc="-10" dirty="0" err="1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вс</a:t>
            </a:r>
            <a:r>
              <a:rPr lang="ru-RU" sz="1600" spc="-1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ё</a:t>
            </a:r>
            <a:r>
              <a:rPr sz="1600" spc="-10" dirty="0">
                <a:latin typeface="Verdana" panose="020B0604030504040204" pitchFamily="34" charset="0"/>
                <a:ea typeface="Verdana" panose="020B0604030504040204" pitchFamily="34" charset="0"/>
                <a:cs typeface="Verdana"/>
              </a:rPr>
              <a:t> получится!</a:t>
            </a:r>
            <a:endParaRPr sz="1600" dirty="0">
              <a:latin typeface="Verdana" panose="020B0604030504040204" pitchFamily="34" charset="0"/>
              <a:ea typeface="Verdana" panose="020B0604030504040204" pitchFamily="34" charset="0"/>
              <a:cs typeface="Verdana"/>
            </a:endParaRPr>
          </a:p>
          <a:p>
            <a:pPr algn="ctr">
              <a:lnSpc>
                <a:spcPct val="100000"/>
              </a:lnSpc>
              <a:spcBef>
                <a:spcPts val="1405"/>
              </a:spcBef>
            </a:pPr>
            <a:r>
              <a:rPr sz="1600" dirty="0">
                <a:latin typeface="Verdana"/>
                <a:cs typeface="Verdana"/>
              </a:rPr>
              <a:t>И</a:t>
            </a:r>
            <a:r>
              <a:rPr sz="1600" spc="-375" dirty="0">
                <a:latin typeface="Verdana"/>
                <a:cs typeface="Verdana"/>
              </a:rPr>
              <a:t> </a:t>
            </a:r>
            <a:r>
              <a:rPr sz="1600" spc="-100" dirty="0" err="1">
                <a:latin typeface="Verdana"/>
                <a:cs typeface="Verdana"/>
              </a:rPr>
              <a:t>вот</a:t>
            </a:r>
            <a:r>
              <a:rPr sz="1600" spc="-490" dirty="0">
                <a:latin typeface="Verdana"/>
                <a:cs typeface="Verdana"/>
              </a:rPr>
              <a:t> </a:t>
            </a:r>
            <a:r>
              <a:rPr lang="ru-RU" sz="1600" spc="-490" dirty="0">
                <a:latin typeface="Verdana"/>
                <a:cs typeface="Verdana"/>
              </a:rPr>
              <a:t>         </a:t>
            </a:r>
            <a:r>
              <a:rPr sz="1600" spc="-10" dirty="0" err="1">
                <a:latin typeface="Verdana"/>
                <a:cs typeface="Verdana"/>
              </a:rPr>
              <a:t>почему</a:t>
            </a:r>
            <a:r>
              <a:rPr sz="1600" spc="-10" dirty="0">
                <a:latin typeface="Verdana"/>
                <a:cs typeface="Verdana"/>
              </a:rPr>
              <a:t>:</a:t>
            </a:r>
            <a:br>
              <a:rPr lang="ru-RU" sz="1600" dirty="0">
                <a:latin typeface="Verdana"/>
                <a:cs typeface="Verdana"/>
              </a:rPr>
            </a:br>
            <a:endParaRPr sz="2000" dirty="0">
              <a:latin typeface="Verdana"/>
              <a:cs typeface="Verdana"/>
            </a:endParaRPr>
          </a:p>
          <a:p>
            <a:pPr marL="501650" marR="114300" algn="ctr">
              <a:lnSpc>
                <a:spcPct val="100000"/>
              </a:lnSpc>
              <a:spcBef>
                <a:spcPts val="5"/>
              </a:spcBef>
            </a:pPr>
            <a:r>
              <a:rPr sz="1600" b="1" dirty="0">
                <a:solidFill>
                  <a:srgbClr val="1C2A45"/>
                </a:solidFill>
                <a:latin typeface="Verdana"/>
                <a:cs typeface="Verdana"/>
              </a:rPr>
              <a:t>Преимущества</a:t>
            </a:r>
            <a:r>
              <a:rPr sz="1600" b="1" spc="-70" dirty="0">
                <a:solidFill>
                  <a:srgbClr val="1C2A45"/>
                </a:solidFill>
                <a:latin typeface="Verdana"/>
                <a:cs typeface="Verdana"/>
              </a:rPr>
              <a:t> </a:t>
            </a:r>
            <a:r>
              <a:rPr sz="1600" b="1" spc="-20" dirty="0">
                <a:solidFill>
                  <a:srgbClr val="1C2A45"/>
                </a:solidFill>
                <a:latin typeface="Verdana"/>
                <a:cs typeface="Verdana"/>
              </a:rPr>
              <a:t>газопоршневой</a:t>
            </a:r>
            <a:r>
              <a:rPr sz="1600" b="1" spc="-95" dirty="0">
                <a:solidFill>
                  <a:srgbClr val="1C2A45"/>
                </a:solidFill>
                <a:latin typeface="Verdana"/>
                <a:cs typeface="Verdana"/>
              </a:rPr>
              <a:t> </a:t>
            </a:r>
            <a:r>
              <a:rPr sz="1600" b="1" dirty="0">
                <a:solidFill>
                  <a:srgbClr val="1C2A45"/>
                </a:solidFill>
                <a:latin typeface="Verdana"/>
                <a:cs typeface="Verdana"/>
              </a:rPr>
              <a:t>установки</a:t>
            </a:r>
            <a:r>
              <a:rPr sz="1600" b="1" spc="-105" dirty="0">
                <a:solidFill>
                  <a:srgbClr val="1C2A45"/>
                </a:solidFill>
                <a:latin typeface="Verdana"/>
                <a:cs typeface="Verdana"/>
              </a:rPr>
              <a:t> </a:t>
            </a:r>
            <a:r>
              <a:rPr sz="1600" b="1" spc="-10" dirty="0">
                <a:solidFill>
                  <a:srgbClr val="1C2A45"/>
                </a:solidFill>
                <a:latin typeface="Verdana"/>
                <a:cs typeface="Verdana"/>
              </a:rPr>
              <a:t>компании Элемент,</a:t>
            </a:r>
            <a:r>
              <a:rPr sz="1600" b="1" spc="-60" dirty="0">
                <a:solidFill>
                  <a:srgbClr val="1C2A45"/>
                </a:solidFill>
                <a:latin typeface="Verdana"/>
                <a:cs typeface="Verdana"/>
              </a:rPr>
              <a:t> </a:t>
            </a:r>
            <a:r>
              <a:rPr sz="1600" b="1" spc="-10" dirty="0">
                <a:solidFill>
                  <a:srgbClr val="1C2A45"/>
                </a:solidFill>
                <a:latin typeface="Verdana"/>
                <a:cs typeface="Verdana"/>
              </a:rPr>
              <a:t>специально</a:t>
            </a:r>
            <a:r>
              <a:rPr sz="1600" b="1" spc="-110" dirty="0">
                <a:solidFill>
                  <a:srgbClr val="1C2A45"/>
                </a:solidFill>
                <a:latin typeface="Verdana"/>
                <a:cs typeface="Verdana"/>
              </a:rPr>
              <a:t> </a:t>
            </a:r>
            <a:r>
              <a:rPr sz="1600" b="1" dirty="0">
                <a:solidFill>
                  <a:srgbClr val="1C2A45"/>
                </a:solidFill>
                <a:latin typeface="Verdana"/>
                <a:cs typeface="Verdana"/>
              </a:rPr>
              <a:t>разработанной</a:t>
            </a:r>
            <a:r>
              <a:rPr sz="1600" b="1" spc="-55" dirty="0">
                <a:solidFill>
                  <a:srgbClr val="1C2A45"/>
                </a:solidFill>
                <a:latin typeface="Verdana"/>
                <a:cs typeface="Verdana"/>
              </a:rPr>
              <a:t> </a:t>
            </a:r>
            <a:r>
              <a:rPr sz="1600" b="1" dirty="0">
                <a:solidFill>
                  <a:srgbClr val="1C2A45"/>
                </a:solidFill>
                <a:latin typeface="Verdana"/>
                <a:cs typeface="Verdana"/>
              </a:rPr>
              <a:t>под</a:t>
            </a:r>
            <a:r>
              <a:rPr sz="1600" b="1" spc="-70" dirty="0">
                <a:solidFill>
                  <a:srgbClr val="1C2A45"/>
                </a:solidFill>
                <a:latin typeface="Verdana"/>
                <a:cs typeface="Verdana"/>
              </a:rPr>
              <a:t> </a:t>
            </a:r>
            <a:r>
              <a:rPr sz="1600" b="1" spc="-10" dirty="0">
                <a:solidFill>
                  <a:srgbClr val="1C2A45"/>
                </a:solidFill>
                <a:latin typeface="Verdana"/>
                <a:cs typeface="Verdana"/>
              </a:rPr>
              <a:t>реалии </a:t>
            </a:r>
            <a:r>
              <a:rPr sz="1600" b="1" dirty="0" err="1">
                <a:solidFill>
                  <a:srgbClr val="1C2A45"/>
                </a:solidFill>
                <a:latin typeface="Verdana"/>
                <a:cs typeface="Verdana"/>
              </a:rPr>
              <a:t>российского</a:t>
            </a:r>
            <a:r>
              <a:rPr sz="1600" b="1" spc="-114" dirty="0">
                <a:solidFill>
                  <a:srgbClr val="1C2A45"/>
                </a:solidFill>
                <a:latin typeface="Verdana"/>
                <a:cs typeface="Verdana"/>
              </a:rPr>
              <a:t> </a:t>
            </a:r>
            <a:r>
              <a:rPr sz="1600" b="1" spc="-10" dirty="0" err="1">
                <a:solidFill>
                  <a:srgbClr val="1C2A45"/>
                </a:solidFill>
                <a:latin typeface="Verdana"/>
                <a:cs typeface="Verdana"/>
              </a:rPr>
              <a:t>рынка</a:t>
            </a:r>
            <a:endParaRPr sz="1600" dirty="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720"/>
              </a:spcBef>
            </a:pPr>
            <a:endParaRPr sz="1600" dirty="0">
              <a:latin typeface="Verdana"/>
              <a:cs typeface="Verdana"/>
            </a:endParaRPr>
          </a:p>
          <a:p>
            <a:pPr marL="522605" indent="-287655">
              <a:lnSpc>
                <a:spcPct val="100000"/>
              </a:lnSpc>
              <a:buFont typeface="Wingdings"/>
              <a:buChar char=""/>
              <a:tabLst>
                <a:tab pos="522605" algn="l"/>
              </a:tabLst>
            </a:pPr>
            <a:r>
              <a:rPr sz="1600" dirty="0">
                <a:solidFill>
                  <a:srgbClr val="0D0D0D"/>
                </a:solidFill>
                <a:latin typeface="Trebuchet MS"/>
                <a:cs typeface="Trebuchet MS"/>
              </a:rPr>
              <a:t>В</a:t>
            </a:r>
            <a:r>
              <a:rPr sz="1600" spc="-80" dirty="0">
                <a:solidFill>
                  <a:srgbClr val="0D0D0D"/>
                </a:solidFill>
                <a:latin typeface="Trebuchet MS"/>
                <a:cs typeface="Trebuchet MS"/>
              </a:rPr>
              <a:t> </a:t>
            </a:r>
            <a:r>
              <a:rPr sz="1600" dirty="0">
                <a:latin typeface="Microsoft Sans Serif"/>
                <a:cs typeface="Microsoft Sans Serif"/>
              </a:rPr>
              <a:t>базовую</a:t>
            </a:r>
            <a:r>
              <a:rPr sz="1600" spc="-20" dirty="0">
                <a:latin typeface="Microsoft Sans Serif"/>
                <a:cs typeface="Microsoft Sans Serif"/>
              </a:rPr>
              <a:t> </a:t>
            </a:r>
            <a:r>
              <a:rPr sz="1600" spc="-25" dirty="0">
                <a:latin typeface="Microsoft Sans Serif"/>
                <a:cs typeface="Microsoft Sans Serif"/>
              </a:rPr>
              <a:t>комплектацию</a:t>
            </a:r>
            <a:r>
              <a:rPr sz="1600" spc="-10" dirty="0">
                <a:latin typeface="Microsoft Sans Serif"/>
                <a:cs typeface="Microsoft Sans Serif"/>
              </a:rPr>
              <a:t> входят</a:t>
            </a:r>
            <a:r>
              <a:rPr sz="1600" spc="-10" dirty="0">
                <a:latin typeface="Arial MT"/>
                <a:cs typeface="Arial MT"/>
              </a:rPr>
              <a:t>:</a:t>
            </a:r>
            <a:endParaRPr sz="16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10"/>
              </a:spcBef>
            </a:pPr>
            <a:endParaRPr sz="1600" dirty="0">
              <a:latin typeface="Arial MT"/>
              <a:cs typeface="Arial MT"/>
            </a:endParaRPr>
          </a:p>
          <a:p>
            <a:pPr marL="296545" marR="375285" indent="-284480">
              <a:lnSpc>
                <a:spcPct val="100000"/>
              </a:lnSpc>
              <a:buAutoNum type="arabicPeriod"/>
              <a:tabLst>
                <a:tab pos="299085" algn="l"/>
              </a:tabLst>
            </a:pPr>
            <a:r>
              <a:rPr sz="1400" dirty="0">
                <a:latin typeface="Verdana"/>
                <a:cs typeface="Verdana"/>
              </a:rPr>
              <a:t>ГПУ</a:t>
            </a:r>
            <a:r>
              <a:rPr sz="1400" spc="-4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на</a:t>
            </a:r>
            <a:r>
              <a:rPr sz="1400" spc="-5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250кВт,</a:t>
            </a:r>
            <a:r>
              <a:rPr sz="1400" spc="-3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радиатор</a:t>
            </a:r>
            <a:r>
              <a:rPr sz="1400" spc="-3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охлаждения</a:t>
            </a:r>
            <a:r>
              <a:rPr sz="1400" spc="-6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вдвое</a:t>
            </a:r>
            <a:r>
              <a:rPr sz="1400" spc="-5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большей</a:t>
            </a:r>
            <a:r>
              <a:rPr sz="1400" spc="-40" dirty="0">
                <a:latin typeface="Verdana"/>
                <a:cs typeface="Verdana"/>
              </a:rPr>
              <a:t> </a:t>
            </a:r>
            <a:r>
              <a:rPr sz="1400" spc="-10" dirty="0">
                <a:latin typeface="Verdana"/>
                <a:cs typeface="Verdana"/>
              </a:rPr>
              <a:t>площадью, 	</a:t>
            </a:r>
            <a:r>
              <a:rPr sz="1400" dirty="0">
                <a:latin typeface="Verdana"/>
                <a:cs typeface="Verdana"/>
              </a:rPr>
              <a:t>с</a:t>
            </a:r>
            <a:r>
              <a:rPr sz="1400" spc="-3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возможностью</a:t>
            </a:r>
            <a:r>
              <a:rPr sz="1400" spc="-4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выноса</a:t>
            </a:r>
            <a:r>
              <a:rPr sz="1400" spc="-6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и</a:t>
            </a:r>
            <a:r>
              <a:rPr sz="1400" spc="-2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двумя</a:t>
            </a:r>
            <a:r>
              <a:rPr sz="1400" spc="-35" dirty="0">
                <a:latin typeface="Verdana"/>
                <a:cs typeface="Verdana"/>
              </a:rPr>
              <a:t> </a:t>
            </a:r>
            <a:r>
              <a:rPr sz="1400" spc="-10" dirty="0">
                <a:latin typeface="Verdana"/>
                <a:cs typeface="Verdana"/>
              </a:rPr>
              <a:t>электровентиляторами</a:t>
            </a:r>
            <a:endParaRPr sz="1400" dirty="0">
              <a:latin typeface="Verdana"/>
              <a:cs typeface="Verdana"/>
            </a:endParaRPr>
          </a:p>
          <a:p>
            <a:pPr marL="299085" marR="1319530" indent="-287020">
              <a:lnSpc>
                <a:spcPct val="100000"/>
              </a:lnSpc>
              <a:spcBef>
                <a:spcPts val="1680"/>
              </a:spcBef>
              <a:buAutoNum type="arabicPeriod"/>
              <a:tabLst>
                <a:tab pos="299085" algn="l"/>
                <a:tab pos="361315" algn="l"/>
              </a:tabLst>
            </a:pPr>
            <a:r>
              <a:rPr sz="1400" dirty="0">
                <a:latin typeface="Verdana"/>
                <a:cs typeface="Verdana"/>
              </a:rPr>
              <a:t>	Электрический</a:t>
            </a:r>
            <a:r>
              <a:rPr sz="1400" spc="-7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насос</a:t>
            </a:r>
            <a:r>
              <a:rPr sz="1400" spc="-7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охлаждающей</a:t>
            </a:r>
            <a:r>
              <a:rPr sz="1400" spc="-7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жидкости,</a:t>
            </a:r>
            <a:r>
              <a:rPr sz="1400" spc="-70" dirty="0">
                <a:latin typeface="Verdana"/>
                <a:cs typeface="Verdana"/>
              </a:rPr>
              <a:t> </a:t>
            </a:r>
            <a:r>
              <a:rPr sz="1400" spc="-10" dirty="0">
                <a:latin typeface="Verdana"/>
                <a:cs typeface="Verdana"/>
              </a:rPr>
              <a:t>вместо </a:t>
            </a:r>
            <a:r>
              <a:rPr sz="1400" dirty="0">
                <a:latin typeface="Verdana"/>
                <a:cs typeface="Verdana"/>
              </a:rPr>
              <a:t>механической</a:t>
            </a:r>
            <a:r>
              <a:rPr sz="1400" spc="-105" dirty="0">
                <a:latin typeface="Verdana"/>
                <a:cs typeface="Verdana"/>
              </a:rPr>
              <a:t> </a:t>
            </a:r>
            <a:r>
              <a:rPr sz="1400" spc="-20" dirty="0">
                <a:latin typeface="Verdana"/>
                <a:cs typeface="Verdana"/>
              </a:rPr>
              <a:t>помпы</a:t>
            </a:r>
            <a:endParaRPr sz="1400" dirty="0">
              <a:latin typeface="Verdana"/>
              <a:cs typeface="Verdana"/>
            </a:endParaRPr>
          </a:p>
          <a:p>
            <a:pPr marL="299085" marR="437515" indent="-287020">
              <a:lnSpc>
                <a:spcPct val="100000"/>
              </a:lnSpc>
              <a:spcBef>
                <a:spcPts val="1685"/>
              </a:spcBef>
              <a:buAutoNum type="arabicPeriod"/>
              <a:tabLst>
                <a:tab pos="299085" algn="l"/>
                <a:tab pos="361315" algn="l"/>
              </a:tabLst>
            </a:pPr>
            <a:r>
              <a:rPr sz="1400" dirty="0">
                <a:latin typeface="Verdana"/>
                <a:cs typeface="Verdana"/>
              </a:rPr>
              <a:t>	Полное</a:t>
            </a:r>
            <a:r>
              <a:rPr sz="1400" spc="-6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отсутствие</a:t>
            </a:r>
            <a:r>
              <a:rPr sz="1400" spc="-4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ремней</a:t>
            </a:r>
            <a:r>
              <a:rPr sz="1400" spc="-5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и</a:t>
            </a:r>
            <a:r>
              <a:rPr sz="1400" spc="-3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роликов,</a:t>
            </a:r>
            <a:r>
              <a:rPr sz="1400" spc="-5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что</a:t>
            </a:r>
            <a:r>
              <a:rPr sz="1400" spc="-3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сокращает</a:t>
            </a:r>
            <a:r>
              <a:rPr sz="1400" spc="-70" dirty="0">
                <a:latin typeface="Verdana"/>
                <a:cs typeface="Verdana"/>
              </a:rPr>
              <a:t> </a:t>
            </a:r>
            <a:r>
              <a:rPr sz="1400" spc="-10" dirty="0">
                <a:latin typeface="Verdana"/>
                <a:cs typeface="Verdana"/>
              </a:rPr>
              <a:t>стоимость обслуживания</a:t>
            </a:r>
            <a:endParaRPr sz="1400" dirty="0">
              <a:latin typeface="Verdana"/>
              <a:cs typeface="Verdana"/>
            </a:endParaRPr>
          </a:p>
          <a:p>
            <a:pPr marL="361315" indent="-348615">
              <a:lnSpc>
                <a:spcPct val="100000"/>
              </a:lnSpc>
              <a:spcBef>
                <a:spcPts val="1680"/>
              </a:spcBef>
              <a:buAutoNum type="arabicPeriod"/>
              <a:tabLst>
                <a:tab pos="361315" algn="l"/>
              </a:tabLst>
            </a:pPr>
            <a:r>
              <a:rPr sz="1400" spc="-10" dirty="0">
                <a:latin typeface="Verdana"/>
                <a:cs typeface="Verdana"/>
              </a:rPr>
              <a:t>Использование</a:t>
            </a:r>
            <a:r>
              <a:rPr sz="1400" spc="-6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постоянного</a:t>
            </a:r>
            <a:r>
              <a:rPr sz="1400" spc="-4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магнита</a:t>
            </a:r>
            <a:r>
              <a:rPr sz="1400" spc="-2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в</a:t>
            </a:r>
            <a:r>
              <a:rPr sz="1400" spc="-20" dirty="0">
                <a:latin typeface="Verdana"/>
                <a:cs typeface="Verdana"/>
              </a:rPr>
              <a:t> </a:t>
            </a:r>
            <a:r>
              <a:rPr sz="1400" spc="-10" dirty="0">
                <a:latin typeface="Verdana"/>
                <a:cs typeface="Verdana"/>
              </a:rPr>
              <a:t>альтернаторе,</a:t>
            </a:r>
            <a:endParaRPr sz="1400" dirty="0">
              <a:latin typeface="Verdana"/>
              <a:cs typeface="Verdana"/>
            </a:endParaRPr>
          </a:p>
          <a:p>
            <a:pPr marL="299085" marR="429895">
              <a:lnSpc>
                <a:spcPct val="100000"/>
              </a:lnSpc>
            </a:pPr>
            <a:r>
              <a:rPr sz="1400" dirty="0">
                <a:latin typeface="Verdana"/>
                <a:cs typeface="Verdana"/>
              </a:rPr>
              <a:t>позволяющее</a:t>
            </a:r>
            <a:r>
              <a:rPr sz="1400" spc="-9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добиваться</a:t>
            </a:r>
            <a:r>
              <a:rPr sz="1400" spc="-7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точности</a:t>
            </a:r>
            <a:r>
              <a:rPr sz="1400" spc="-6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выработки</a:t>
            </a:r>
            <a:r>
              <a:rPr sz="1400" spc="-6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электроэнергии</a:t>
            </a:r>
            <a:r>
              <a:rPr sz="1400" spc="-75" dirty="0">
                <a:latin typeface="Verdana"/>
                <a:cs typeface="Verdana"/>
              </a:rPr>
              <a:t> </a:t>
            </a:r>
            <a:r>
              <a:rPr sz="1400" spc="-50" dirty="0">
                <a:latin typeface="Verdana"/>
                <a:cs typeface="Verdana"/>
              </a:rPr>
              <a:t>в </a:t>
            </a:r>
            <a:r>
              <a:rPr sz="1400" dirty="0">
                <a:latin typeface="Verdana"/>
                <a:cs typeface="Verdana"/>
              </a:rPr>
              <a:t>1%,</a:t>
            </a:r>
            <a:r>
              <a:rPr sz="1400" spc="-4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против</a:t>
            </a:r>
            <a:r>
              <a:rPr sz="1400" spc="-4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10%</a:t>
            </a:r>
            <a:r>
              <a:rPr sz="1400" spc="-4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у</a:t>
            </a:r>
            <a:r>
              <a:rPr sz="1400" spc="-3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стандартных</a:t>
            </a:r>
            <a:r>
              <a:rPr sz="1400" spc="-75" dirty="0">
                <a:latin typeface="Verdana"/>
                <a:cs typeface="Verdana"/>
              </a:rPr>
              <a:t> </a:t>
            </a:r>
            <a:r>
              <a:rPr sz="1400" spc="-10" dirty="0">
                <a:latin typeface="Verdana"/>
                <a:cs typeface="Verdana"/>
              </a:rPr>
              <a:t>моделей</a:t>
            </a:r>
            <a:endParaRPr sz="1400" dirty="0">
              <a:latin typeface="Verdana"/>
              <a:cs typeface="Verdana"/>
            </a:endParaRPr>
          </a:p>
          <a:p>
            <a:pPr marL="361315" indent="-348615">
              <a:lnSpc>
                <a:spcPct val="100000"/>
              </a:lnSpc>
              <a:spcBef>
                <a:spcPts val="1680"/>
              </a:spcBef>
              <a:buAutoNum type="arabicPeriod" startAt="5"/>
              <a:tabLst>
                <a:tab pos="361315" algn="l"/>
              </a:tabLst>
            </a:pPr>
            <a:r>
              <a:rPr sz="1400" dirty="0">
                <a:latin typeface="Verdana"/>
                <a:cs typeface="Verdana"/>
              </a:rPr>
              <a:t>Увеличенная</a:t>
            </a:r>
            <a:r>
              <a:rPr sz="1400" spc="-6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постоянная</a:t>
            </a:r>
            <a:r>
              <a:rPr sz="1400" spc="-8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мощность</a:t>
            </a:r>
            <a:r>
              <a:rPr sz="1400" spc="-5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–</a:t>
            </a:r>
            <a:r>
              <a:rPr sz="1400" spc="-35" dirty="0">
                <a:latin typeface="Verdana"/>
                <a:cs typeface="Verdana"/>
              </a:rPr>
              <a:t> </a:t>
            </a:r>
            <a:r>
              <a:rPr sz="1400" spc="-10" dirty="0">
                <a:latin typeface="Verdana"/>
                <a:cs typeface="Verdana"/>
              </a:rPr>
              <a:t>210кВт</a:t>
            </a:r>
            <a:endParaRPr sz="1400" dirty="0">
              <a:latin typeface="Verdana"/>
              <a:cs typeface="Verdana"/>
            </a:endParaRPr>
          </a:p>
          <a:p>
            <a:pPr marL="299085">
              <a:lnSpc>
                <a:spcPct val="100000"/>
              </a:lnSpc>
            </a:pPr>
            <a:r>
              <a:rPr sz="1400" dirty="0">
                <a:latin typeface="Verdana"/>
                <a:cs typeface="Verdana"/>
              </a:rPr>
              <a:t>(против</a:t>
            </a:r>
            <a:r>
              <a:rPr sz="1400" spc="-4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базовых</a:t>
            </a:r>
            <a:r>
              <a:rPr sz="1400" spc="-6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200кВт),</a:t>
            </a:r>
            <a:r>
              <a:rPr sz="1400" spc="-3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без</a:t>
            </a:r>
            <a:r>
              <a:rPr sz="1400" spc="-4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уменьшения</a:t>
            </a:r>
            <a:r>
              <a:rPr sz="1400" spc="-8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ресурса</a:t>
            </a:r>
            <a:r>
              <a:rPr sz="1400" spc="-60" dirty="0">
                <a:latin typeface="Verdana"/>
                <a:cs typeface="Verdana"/>
              </a:rPr>
              <a:t> </a:t>
            </a:r>
            <a:r>
              <a:rPr sz="1400" spc="-10" dirty="0">
                <a:latin typeface="Verdana"/>
                <a:cs typeface="Verdana"/>
              </a:rPr>
              <a:t>двигателя</a:t>
            </a:r>
            <a:endParaRPr sz="1400" dirty="0">
              <a:latin typeface="Verdana"/>
              <a:cs typeface="Verdana"/>
            </a:endParaRPr>
          </a:p>
          <a:p>
            <a:pPr marL="361315" indent="-348615">
              <a:lnSpc>
                <a:spcPct val="100000"/>
              </a:lnSpc>
              <a:spcBef>
                <a:spcPts val="1680"/>
              </a:spcBef>
              <a:buAutoNum type="arabicPeriod" startAt="6"/>
              <a:tabLst>
                <a:tab pos="361315" algn="l"/>
              </a:tabLst>
            </a:pPr>
            <a:r>
              <a:rPr sz="1400" dirty="0">
                <a:latin typeface="Verdana"/>
                <a:cs typeface="Verdana"/>
              </a:rPr>
              <a:t>Работа</a:t>
            </a:r>
            <a:r>
              <a:rPr sz="1400" spc="-4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ГПУ</a:t>
            </a:r>
            <a:r>
              <a:rPr sz="1400" spc="-5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без</a:t>
            </a:r>
            <a:r>
              <a:rPr sz="1400" spc="-3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перегрева</a:t>
            </a:r>
            <a:r>
              <a:rPr sz="1400" spc="-5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в</a:t>
            </a:r>
            <a:r>
              <a:rPr sz="1400" spc="-3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летний</a:t>
            </a:r>
            <a:r>
              <a:rPr sz="1400" spc="-3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период</a:t>
            </a:r>
            <a:r>
              <a:rPr sz="1400" spc="-4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за</a:t>
            </a:r>
            <a:r>
              <a:rPr sz="1400" spc="-30" dirty="0">
                <a:latin typeface="Verdana"/>
                <a:cs typeface="Verdana"/>
              </a:rPr>
              <a:t> </a:t>
            </a:r>
            <a:r>
              <a:rPr sz="1400" spc="-20" dirty="0">
                <a:latin typeface="Verdana"/>
                <a:cs typeface="Verdana"/>
              </a:rPr>
              <a:t>счет</a:t>
            </a:r>
            <a:endParaRPr sz="1400" dirty="0">
              <a:latin typeface="Verdana"/>
              <a:cs typeface="Verdana"/>
            </a:endParaRPr>
          </a:p>
          <a:p>
            <a:pPr marL="299085" marR="1101090">
              <a:lnSpc>
                <a:spcPct val="100000"/>
              </a:lnSpc>
            </a:pPr>
            <a:r>
              <a:rPr sz="1400" dirty="0">
                <a:latin typeface="Verdana"/>
                <a:cs typeface="Verdana"/>
              </a:rPr>
              <a:t>электронасоса</a:t>
            </a:r>
            <a:r>
              <a:rPr sz="1400" spc="-6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повышенной</a:t>
            </a:r>
            <a:r>
              <a:rPr sz="1400" spc="-40" dirty="0">
                <a:latin typeface="Verdana"/>
                <a:cs typeface="Verdana"/>
              </a:rPr>
              <a:t> </a:t>
            </a:r>
            <a:r>
              <a:rPr sz="1400" spc="-10" dirty="0">
                <a:latin typeface="Verdana"/>
                <a:cs typeface="Verdana"/>
              </a:rPr>
              <a:t>производительности</a:t>
            </a:r>
            <a:r>
              <a:rPr sz="1400" spc="-2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и</a:t>
            </a:r>
            <a:r>
              <a:rPr sz="1400" spc="-10" dirty="0">
                <a:latin typeface="Verdana"/>
                <a:cs typeface="Verdana"/>
              </a:rPr>
              <a:t> вдвое </a:t>
            </a:r>
            <a:r>
              <a:rPr sz="1400" dirty="0">
                <a:latin typeface="Verdana"/>
                <a:cs typeface="Verdana"/>
              </a:rPr>
              <a:t>большего</a:t>
            </a:r>
            <a:r>
              <a:rPr sz="1400" spc="-2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радиатора</a:t>
            </a:r>
            <a:r>
              <a:rPr sz="1400" spc="-3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охлаждения</a:t>
            </a:r>
            <a:r>
              <a:rPr sz="1400" spc="-60" dirty="0">
                <a:latin typeface="Verdana"/>
                <a:cs typeface="Verdana"/>
              </a:rPr>
              <a:t> </a:t>
            </a:r>
            <a:r>
              <a:rPr sz="1400" spc="-10" dirty="0">
                <a:latin typeface="Verdana"/>
                <a:cs typeface="Verdana"/>
              </a:rPr>
              <a:t>двигателя</a:t>
            </a:r>
            <a:endParaRPr sz="1400" dirty="0">
              <a:latin typeface="Verdana"/>
              <a:cs typeface="Verdana"/>
            </a:endParaRPr>
          </a:p>
          <a:p>
            <a:pPr marL="297180" indent="-284480">
              <a:lnSpc>
                <a:spcPct val="100000"/>
              </a:lnSpc>
              <a:spcBef>
                <a:spcPts val="1680"/>
              </a:spcBef>
              <a:buAutoNum type="arabicPeriod" startAt="7"/>
              <a:tabLst>
                <a:tab pos="297180" algn="l"/>
              </a:tabLst>
            </a:pPr>
            <a:r>
              <a:rPr sz="1400" dirty="0">
                <a:latin typeface="Verdana"/>
                <a:cs typeface="Verdana"/>
              </a:rPr>
              <a:t>Установлены</a:t>
            </a:r>
            <a:r>
              <a:rPr sz="1400" spc="-8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индивидуальные</a:t>
            </a:r>
            <a:r>
              <a:rPr sz="1400" spc="-65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датчики</a:t>
            </a:r>
            <a:r>
              <a:rPr sz="1400" spc="-50" dirty="0">
                <a:latin typeface="Verdana"/>
                <a:cs typeface="Verdana"/>
              </a:rPr>
              <a:t> </a:t>
            </a:r>
            <a:r>
              <a:rPr sz="1400" dirty="0">
                <a:latin typeface="Verdana"/>
                <a:cs typeface="Verdana"/>
              </a:rPr>
              <a:t>температуры</a:t>
            </a:r>
            <a:r>
              <a:rPr sz="1400" spc="-55" dirty="0">
                <a:latin typeface="Verdana"/>
                <a:cs typeface="Verdana"/>
              </a:rPr>
              <a:t> </a:t>
            </a:r>
            <a:r>
              <a:rPr sz="1400" spc="-25" dirty="0" err="1">
                <a:latin typeface="Verdana"/>
                <a:cs typeface="Verdana"/>
              </a:rPr>
              <a:t>по</a:t>
            </a:r>
            <a:r>
              <a:rPr sz="1400" spc="-25" dirty="0">
                <a:latin typeface="Verdana"/>
                <a:cs typeface="Verdana"/>
              </a:rPr>
              <a:t> </a:t>
            </a:r>
            <a:r>
              <a:rPr sz="1400" spc="-10" dirty="0" err="1">
                <a:latin typeface="Verdana"/>
                <a:cs typeface="Verdana"/>
              </a:rPr>
              <a:t>цилиндрам</a:t>
            </a:r>
            <a:r>
              <a:rPr lang="en-US" sz="1400" spc="-10" dirty="0">
                <a:latin typeface="Verdana"/>
                <a:cs typeface="Verdana"/>
              </a:rPr>
              <a:t> </a:t>
            </a:r>
            <a:r>
              <a:rPr lang="ru-RU" sz="1400" spc="-10" dirty="0">
                <a:latin typeface="Verdana"/>
                <a:cs typeface="Verdana"/>
              </a:rPr>
              <a:t>и да</a:t>
            </a:r>
            <a:r>
              <a:rPr lang="ru-RU" sz="1400" dirty="0">
                <a:latin typeface="Verdana"/>
                <a:cs typeface="Verdana"/>
              </a:rPr>
              <a:t>тчик</a:t>
            </a:r>
            <a:r>
              <a:rPr lang="ru-RU" sz="1400" spc="-20" dirty="0">
                <a:latin typeface="Verdana"/>
                <a:cs typeface="Verdana"/>
              </a:rPr>
              <a:t> </a:t>
            </a:r>
            <a:r>
              <a:rPr lang="ru-RU" sz="1400" dirty="0">
                <a:latin typeface="Verdana"/>
                <a:cs typeface="Verdana"/>
              </a:rPr>
              <a:t>температуры</a:t>
            </a:r>
            <a:r>
              <a:rPr lang="ru-RU" sz="1400" spc="-40" dirty="0">
                <a:latin typeface="Verdana"/>
                <a:cs typeface="Verdana"/>
              </a:rPr>
              <a:t> </a:t>
            </a:r>
            <a:r>
              <a:rPr lang="ru-RU" sz="1400" dirty="0">
                <a:latin typeface="Verdana"/>
                <a:cs typeface="Verdana"/>
              </a:rPr>
              <a:t>выхлопных</a:t>
            </a:r>
            <a:r>
              <a:rPr lang="ru-RU" sz="1400" spc="-65" dirty="0">
                <a:latin typeface="Verdana"/>
                <a:cs typeface="Verdana"/>
              </a:rPr>
              <a:t> </a:t>
            </a:r>
            <a:r>
              <a:rPr lang="ru-RU" sz="1400" dirty="0">
                <a:latin typeface="Verdana"/>
                <a:cs typeface="Verdana"/>
              </a:rPr>
              <a:t>газов</a:t>
            </a:r>
            <a:r>
              <a:rPr lang="ru-RU" sz="1400" spc="-15" dirty="0">
                <a:latin typeface="Verdana"/>
                <a:cs typeface="Verdana"/>
              </a:rPr>
              <a:t> </a:t>
            </a:r>
            <a:r>
              <a:rPr lang="ru-RU" sz="1400" dirty="0">
                <a:latin typeface="Verdana"/>
                <a:cs typeface="Verdana"/>
              </a:rPr>
              <a:t>с</a:t>
            </a:r>
            <a:r>
              <a:rPr lang="ru-RU" sz="1400" spc="-25" dirty="0">
                <a:latin typeface="Verdana"/>
                <a:cs typeface="Verdana"/>
              </a:rPr>
              <a:t> </a:t>
            </a:r>
            <a:r>
              <a:rPr lang="ru-RU" sz="1400" dirty="0">
                <a:latin typeface="Verdana"/>
                <a:cs typeface="Verdana"/>
              </a:rPr>
              <a:t>целью</a:t>
            </a:r>
            <a:r>
              <a:rPr lang="ru-RU" sz="1400" spc="-30" dirty="0">
                <a:latin typeface="Verdana"/>
                <a:cs typeface="Verdana"/>
              </a:rPr>
              <a:t> </a:t>
            </a:r>
            <a:r>
              <a:rPr lang="ru-RU" sz="1400" spc="-10" dirty="0">
                <a:latin typeface="Verdana"/>
                <a:cs typeface="Verdana"/>
              </a:rPr>
              <a:t>остановки</a:t>
            </a:r>
            <a:endParaRPr lang="ru-RU" sz="1400" dirty="0">
              <a:latin typeface="Verdana"/>
              <a:cs typeface="Verdana"/>
            </a:endParaRPr>
          </a:p>
          <a:p>
            <a:pPr marL="299085">
              <a:lnSpc>
                <a:spcPct val="100000"/>
              </a:lnSpc>
              <a:spcBef>
                <a:spcPts val="5"/>
              </a:spcBef>
            </a:pPr>
            <a:r>
              <a:rPr lang="ru-RU" sz="1400" dirty="0">
                <a:latin typeface="Verdana"/>
                <a:cs typeface="Verdana"/>
              </a:rPr>
              <a:t>двигателя</a:t>
            </a:r>
            <a:r>
              <a:rPr lang="ru-RU" sz="1400" spc="-55" dirty="0">
                <a:latin typeface="Verdana"/>
                <a:cs typeface="Verdana"/>
              </a:rPr>
              <a:t> </a:t>
            </a:r>
            <a:r>
              <a:rPr lang="ru-RU" sz="1400" dirty="0">
                <a:latin typeface="Verdana"/>
                <a:cs typeface="Verdana"/>
              </a:rPr>
              <a:t>в</a:t>
            </a:r>
            <a:r>
              <a:rPr lang="ru-RU" sz="1400" spc="-25" dirty="0">
                <a:latin typeface="Verdana"/>
                <a:cs typeface="Verdana"/>
              </a:rPr>
              <a:t> </a:t>
            </a:r>
            <a:r>
              <a:rPr lang="ru-RU" sz="1400" dirty="0">
                <a:latin typeface="Verdana"/>
                <a:cs typeface="Verdana"/>
              </a:rPr>
              <a:t>случае,</a:t>
            </a:r>
            <a:r>
              <a:rPr lang="ru-RU" sz="1400" spc="-55" dirty="0">
                <a:latin typeface="Verdana"/>
                <a:cs typeface="Verdana"/>
              </a:rPr>
              <a:t> </a:t>
            </a:r>
            <a:r>
              <a:rPr lang="ru-RU" sz="1400" dirty="0">
                <a:latin typeface="Verdana"/>
                <a:cs typeface="Verdana"/>
              </a:rPr>
              <a:t>если</a:t>
            </a:r>
            <a:r>
              <a:rPr lang="ru-RU" sz="1400" spc="-55" dirty="0">
                <a:latin typeface="Verdana"/>
                <a:cs typeface="Verdana"/>
              </a:rPr>
              <a:t> </a:t>
            </a:r>
            <a:r>
              <a:rPr lang="ru-RU" sz="1400" dirty="0">
                <a:latin typeface="Verdana"/>
                <a:cs typeface="Verdana"/>
              </a:rPr>
              <a:t>некачественно</a:t>
            </a:r>
            <a:r>
              <a:rPr lang="ru-RU" sz="1400" spc="-80" dirty="0">
                <a:latin typeface="Verdana"/>
                <a:cs typeface="Verdana"/>
              </a:rPr>
              <a:t> </a:t>
            </a:r>
            <a:r>
              <a:rPr lang="ru-RU" sz="1400" spc="-10" dirty="0">
                <a:latin typeface="Verdana"/>
                <a:cs typeface="Verdana"/>
              </a:rPr>
              <a:t>отрегулированы</a:t>
            </a:r>
            <a:r>
              <a:rPr lang="ru-RU" sz="1400" spc="-65" dirty="0">
                <a:latin typeface="Verdana"/>
                <a:cs typeface="Verdana"/>
              </a:rPr>
              <a:t> </a:t>
            </a:r>
            <a:r>
              <a:rPr lang="ru-RU" sz="1400" spc="-10" dirty="0">
                <a:latin typeface="Verdana"/>
                <a:cs typeface="Verdana"/>
              </a:rPr>
              <a:t>зазоры</a:t>
            </a:r>
            <a:endParaRPr lang="ru-RU" sz="1400" dirty="0">
              <a:latin typeface="Verdana"/>
              <a:cs typeface="Verdana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353079" y="9180520"/>
            <a:ext cx="2296141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08915">
              <a:lnSpc>
                <a:spcPct val="100000"/>
              </a:lnSpc>
              <a:spcBef>
                <a:spcPts val="950"/>
              </a:spcBef>
            </a:pPr>
            <a:r>
              <a:rPr lang="ru-RU" sz="1600" b="1" spc="-10" dirty="0">
                <a:solidFill>
                  <a:srgbClr val="1C2A45"/>
                </a:solidFill>
                <a:latin typeface="Verdana"/>
                <a:cs typeface="Verdana"/>
              </a:rPr>
              <a:t>Условия</a:t>
            </a:r>
            <a:r>
              <a:rPr lang="ru-RU" sz="1600" b="1" spc="-125" dirty="0">
                <a:solidFill>
                  <a:srgbClr val="1C2A45"/>
                </a:solidFill>
                <a:latin typeface="Verdana"/>
                <a:cs typeface="Verdana"/>
              </a:rPr>
              <a:t> </a:t>
            </a:r>
            <a:r>
              <a:rPr lang="ru-RU" sz="1600" b="1" spc="-10" dirty="0">
                <a:solidFill>
                  <a:srgbClr val="1C2A45"/>
                </a:solidFill>
                <a:latin typeface="Verdana"/>
                <a:cs typeface="Verdana"/>
              </a:rPr>
              <a:t>оплаты</a:t>
            </a:r>
            <a:endParaRPr lang="ru-RU" sz="1600" dirty="0">
              <a:latin typeface="Verdana"/>
              <a:cs typeface="Verdana"/>
            </a:endParaRPr>
          </a:p>
        </p:txBody>
      </p:sp>
      <p:sp>
        <p:nvSpPr>
          <p:cNvPr id="4" name="object 3"/>
          <p:cNvSpPr txBox="1"/>
          <p:nvPr/>
        </p:nvSpPr>
        <p:spPr>
          <a:xfrm>
            <a:off x="584200" y="9512915"/>
            <a:ext cx="2071370" cy="287020"/>
          </a:xfrm>
          <a:prstGeom prst="rect">
            <a:avLst/>
          </a:prstGeom>
          <a:solidFill>
            <a:srgbClr val="F6F6F6"/>
          </a:solidFill>
        </p:spPr>
        <p:txBody>
          <a:bodyPr vert="horz" wrap="square" lIns="0" tIns="70485" rIns="0" bIns="0" rtlCol="0">
            <a:spAutoFit/>
          </a:bodyPr>
          <a:lstStyle/>
          <a:p>
            <a:pPr marL="128905">
              <a:lnSpc>
                <a:spcPct val="100000"/>
              </a:lnSpc>
              <a:spcBef>
                <a:spcPts val="555"/>
              </a:spcBef>
              <a:tabLst>
                <a:tab pos="788670" algn="l"/>
              </a:tabLst>
            </a:pPr>
            <a:r>
              <a:rPr sz="2100" b="1" spc="-37" baseline="-3968" dirty="0">
                <a:solidFill>
                  <a:srgbClr val="1F2A43"/>
                </a:solidFill>
                <a:latin typeface="Verdana"/>
                <a:cs typeface="Verdana"/>
              </a:rPr>
              <a:t>70%</a:t>
            </a:r>
            <a:r>
              <a:rPr sz="2100" b="1" baseline="-3968" dirty="0">
                <a:solidFill>
                  <a:srgbClr val="1F2A43"/>
                </a:solidFill>
                <a:latin typeface="Verdana"/>
                <a:cs typeface="Verdana"/>
              </a:rPr>
              <a:t>	</a:t>
            </a:r>
            <a:r>
              <a:rPr sz="1200" dirty="0">
                <a:solidFill>
                  <a:srgbClr val="46494D"/>
                </a:solidFill>
                <a:latin typeface="Verdana"/>
                <a:cs typeface="Verdana"/>
              </a:rPr>
              <a:t>–</a:t>
            </a:r>
            <a:r>
              <a:rPr sz="1200" spc="-45" dirty="0">
                <a:solidFill>
                  <a:srgbClr val="46494D"/>
                </a:solidFill>
                <a:latin typeface="Verdana"/>
                <a:cs typeface="Verdana"/>
              </a:rPr>
              <a:t> </a:t>
            </a:r>
            <a:r>
              <a:rPr sz="1200" spc="-10" dirty="0">
                <a:solidFill>
                  <a:srgbClr val="46494D"/>
                </a:solidFill>
                <a:latin typeface="Verdana"/>
                <a:cs typeface="Verdana"/>
              </a:rPr>
              <a:t>предоплата</a:t>
            </a:r>
            <a:endParaRPr sz="1200" dirty="0">
              <a:latin typeface="Verdana"/>
              <a:cs typeface="Verdana"/>
            </a:endParaRPr>
          </a:p>
        </p:txBody>
      </p:sp>
      <p:sp>
        <p:nvSpPr>
          <p:cNvPr id="5" name="object 4"/>
          <p:cNvSpPr txBox="1"/>
          <p:nvPr/>
        </p:nvSpPr>
        <p:spPr>
          <a:xfrm>
            <a:off x="577850" y="9840809"/>
            <a:ext cx="2071370" cy="287020"/>
          </a:xfrm>
          <a:prstGeom prst="rect">
            <a:avLst/>
          </a:prstGeom>
          <a:solidFill>
            <a:srgbClr val="F6F6F6"/>
          </a:solidFill>
        </p:spPr>
        <p:txBody>
          <a:bodyPr vert="horz" wrap="square" lIns="0" tIns="71120" rIns="0" bIns="0" rtlCol="0">
            <a:spAutoFit/>
          </a:bodyPr>
          <a:lstStyle/>
          <a:p>
            <a:pPr marL="128905">
              <a:lnSpc>
                <a:spcPct val="100000"/>
              </a:lnSpc>
              <a:spcBef>
                <a:spcPts val="560"/>
              </a:spcBef>
              <a:tabLst>
                <a:tab pos="789305" algn="l"/>
              </a:tabLst>
            </a:pPr>
            <a:r>
              <a:rPr sz="2100" b="1" spc="-37" baseline="-3968" dirty="0">
                <a:solidFill>
                  <a:srgbClr val="1F2A43"/>
                </a:solidFill>
                <a:latin typeface="Verdana"/>
                <a:cs typeface="Verdana"/>
              </a:rPr>
              <a:t>20%</a:t>
            </a:r>
            <a:r>
              <a:rPr sz="2100" b="1" baseline="-3968" dirty="0">
                <a:solidFill>
                  <a:srgbClr val="1F2A43"/>
                </a:solidFill>
                <a:latin typeface="Verdana"/>
                <a:cs typeface="Verdana"/>
              </a:rPr>
              <a:t>	</a:t>
            </a:r>
            <a:r>
              <a:rPr sz="1200" dirty="0">
                <a:solidFill>
                  <a:srgbClr val="46494D"/>
                </a:solidFill>
                <a:latin typeface="Verdana"/>
                <a:cs typeface="Verdana"/>
              </a:rPr>
              <a:t>–</a:t>
            </a:r>
            <a:r>
              <a:rPr sz="1200" spc="-55" dirty="0">
                <a:solidFill>
                  <a:srgbClr val="46494D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46494D"/>
                </a:solidFill>
                <a:latin typeface="Verdana"/>
                <a:cs typeface="Verdana"/>
              </a:rPr>
              <a:t>через</a:t>
            </a:r>
            <a:r>
              <a:rPr sz="1200" spc="-25" dirty="0">
                <a:solidFill>
                  <a:srgbClr val="46494D"/>
                </a:solidFill>
                <a:latin typeface="Verdana"/>
                <a:cs typeface="Verdana"/>
              </a:rPr>
              <a:t> </a:t>
            </a:r>
            <a:r>
              <a:rPr sz="1200" spc="-20" dirty="0">
                <a:solidFill>
                  <a:srgbClr val="46494D"/>
                </a:solidFill>
                <a:latin typeface="Verdana"/>
                <a:cs typeface="Verdana"/>
              </a:rPr>
              <a:t>месяц</a:t>
            </a:r>
            <a:endParaRPr sz="1200" dirty="0">
              <a:latin typeface="Verdana"/>
              <a:cs typeface="Verdana"/>
            </a:endParaRPr>
          </a:p>
        </p:txBody>
      </p:sp>
      <p:sp>
        <p:nvSpPr>
          <p:cNvPr id="6" name="object 5"/>
          <p:cNvSpPr txBox="1"/>
          <p:nvPr/>
        </p:nvSpPr>
        <p:spPr>
          <a:xfrm>
            <a:off x="552450" y="10168703"/>
            <a:ext cx="6802120" cy="471170"/>
          </a:xfrm>
          <a:prstGeom prst="rect">
            <a:avLst/>
          </a:prstGeom>
          <a:solidFill>
            <a:srgbClr val="F6F6F6"/>
          </a:solidFill>
        </p:spPr>
        <p:txBody>
          <a:bodyPr vert="horz" wrap="square" lIns="0" tIns="70485" rIns="0" bIns="0" rtlCol="0">
            <a:spAutoFit/>
          </a:bodyPr>
          <a:lstStyle/>
          <a:p>
            <a:pPr marL="128905" marR="506095">
              <a:lnSpc>
                <a:spcPct val="100000"/>
              </a:lnSpc>
              <a:spcBef>
                <a:spcPts val="555"/>
              </a:spcBef>
              <a:tabLst>
                <a:tab pos="788670" algn="l"/>
              </a:tabLst>
            </a:pPr>
            <a:r>
              <a:rPr sz="2100" b="1" spc="-37" baseline="-3968" dirty="0">
                <a:solidFill>
                  <a:srgbClr val="1F2A43"/>
                </a:solidFill>
                <a:latin typeface="Verdana"/>
                <a:cs typeface="Verdana"/>
              </a:rPr>
              <a:t>10%</a:t>
            </a:r>
            <a:r>
              <a:rPr sz="2100" b="1" baseline="-3968" dirty="0">
                <a:solidFill>
                  <a:srgbClr val="1F2A43"/>
                </a:solidFill>
                <a:latin typeface="Verdana"/>
                <a:cs typeface="Verdana"/>
              </a:rPr>
              <a:t>	</a:t>
            </a:r>
            <a:r>
              <a:rPr sz="1200" dirty="0">
                <a:solidFill>
                  <a:srgbClr val="4D4D4D"/>
                </a:solidFill>
                <a:latin typeface="Verdana"/>
                <a:cs typeface="Verdana"/>
              </a:rPr>
              <a:t>–</a:t>
            </a:r>
            <a:r>
              <a:rPr sz="1200" spc="-65" dirty="0">
                <a:solidFill>
                  <a:srgbClr val="4D4D4D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4D4D4D"/>
                </a:solidFill>
                <a:latin typeface="Verdana"/>
                <a:cs typeface="Verdana"/>
              </a:rPr>
              <a:t>не</a:t>
            </a:r>
            <a:r>
              <a:rPr sz="1200" spc="-25" dirty="0">
                <a:solidFill>
                  <a:srgbClr val="4D4D4D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4D4D4D"/>
                </a:solidFill>
                <a:latin typeface="Verdana"/>
                <a:cs typeface="Verdana"/>
              </a:rPr>
              <a:t>позднее</a:t>
            </a:r>
            <a:r>
              <a:rPr sz="1200" spc="-45" dirty="0">
                <a:solidFill>
                  <a:srgbClr val="4D4D4D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4D4D4D"/>
                </a:solidFill>
                <a:latin typeface="Verdana"/>
                <a:cs typeface="Verdana"/>
              </a:rPr>
              <a:t>3</a:t>
            </a:r>
            <a:r>
              <a:rPr sz="1200" spc="-10" dirty="0">
                <a:solidFill>
                  <a:srgbClr val="4D4D4D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4D4D4D"/>
                </a:solidFill>
                <a:latin typeface="Verdana"/>
                <a:cs typeface="Verdana"/>
              </a:rPr>
              <a:t>(Трех)</a:t>
            </a:r>
            <a:r>
              <a:rPr sz="1200" spc="-5" dirty="0">
                <a:solidFill>
                  <a:srgbClr val="4D4D4D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4D4D4D"/>
                </a:solidFill>
                <a:latin typeface="Verdana"/>
                <a:cs typeface="Verdana"/>
              </a:rPr>
              <a:t>рабочих</a:t>
            </a:r>
            <a:r>
              <a:rPr sz="1200" spc="-15" dirty="0">
                <a:solidFill>
                  <a:srgbClr val="4D4D4D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4D4D4D"/>
                </a:solidFill>
                <a:latin typeface="Verdana"/>
                <a:cs typeface="Verdana"/>
              </a:rPr>
              <a:t>дней</a:t>
            </a:r>
            <a:r>
              <a:rPr sz="1200" spc="-30" dirty="0">
                <a:solidFill>
                  <a:srgbClr val="4D4D4D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4D4D4D"/>
                </a:solidFill>
                <a:latin typeface="Verdana"/>
                <a:cs typeface="Verdana"/>
              </a:rPr>
              <a:t>после</a:t>
            </a:r>
            <a:r>
              <a:rPr sz="1200" spc="-35" dirty="0">
                <a:solidFill>
                  <a:srgbClr val="4D4D4D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4D4D4D"/>
                </a:solidFill>
                <a:latin typeface="Verdana"/>
                <a:cs typeface="Verdana"/>
              </a:rPr>
              <a:t>направления</a:t>
            </a:r>
            <a:r>
              <a:rPr sz="1200" spc="-10" dirty="0">
                <a:solidFill>
                  <a:srgbClr val="4D4D4D"/>
                </a:solidFill>
                <a:latin typeface="Verdana"/>
                <a:cs typeface="Verdana"/>
              </a:rPr>
              <a:t> Покупателю </a:t>
            </a:r>
            <a:r>
              <a:rPr sz="1200" dirty="0">
                <a:solidFill>
                  <a:srgbClr val="4D4D4D"/>
                </a:solidFill>
                <a:latin typeface="Verdana"/>
                <a:cs typeface="Verdana"/>
              </a:rPr>
              <a:t>уведомления</a:t>
            </a:r>
            <a:r>
              <a:rPr sz="1200" spc="-40" dirty="0">
                <a:solidFill>
                  <a:srgbClr val="4D4D4D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4D4D4D"/>
                </a:solidFill>
                <a:latin typeface="Verdana"/>
                <a:cs typeface="Verdana"/>
              </a:rPr>
              <a:t>о</a:t>
            </a:r>
            <a:r>
              <a:rPr sz="1200" spc="-55" dirty="0">
                <a:solidFill>
                  <a:srgbClr val="4D4D4D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4D4D4D"/>
                </a:solidFill>
                <a:latin typeface="Verdana"/>
                <a:cs typeface="Verdana"/>
              </a:rPr>
              <a:t>готовности</a:t>
            </a:r>
            <a:r>
              <a:rPr sz="1200" spc="-50" dirty="0">
                <a:solidFill>
                  <a:srgbClr val="4D4D4D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4D4D4D"/>
                </a:solidFill>
                <a:latin typeface="Verdana"/>
                <a:cs typeface="Verdana"/>
              </a:rPr>
              <a:t>оборудования</a:t>
            </a:r>
            <a:r>
              <a:rPr sz="1200" spc="-40" dirty="0">
                <a:solidFill>
                  <a:srgbClr val="4D4D4D"/>
                </a:solidFill>
                <a:latin typeface="Verdana"/>
                <a:cs typeface="Verdana"/>
              </a:rPr>
              <a:t> </a:t>
            </a:r>
            <a:r>
              <a:rPr sz="1200" dirty="0">
                <a:solidFill>
                  <a:srgbClr val="4D4D4D"/>
                </a:solidFill>
                <a:latin typeface="Verdana"/>
                <a:cs typeface="Verdana"/>
              </a:rPr>
              <a:t>к</a:t>
            </a:r>
            <a:r>
              <a:rPr sz="1200" spc="-15" dirty="0">
                <a:solidFill>
                  <a:srgbClr val="4D4D4D"/>
                </a:solidFill>
                <a:latin typeface="Verdana"/>
                <a:cs typeface="Verdana"/>
              </a:rPr>
              <a:t> </a:t>
            </a:r>
            <a:r>
              <a:rPr sz="1200" spc="-10" dirty="0">
                <a:solidFill>
                  <a:srgbClr val="4D4D4D"/>
                </a:solidFill>
                <a:latin typeface="Verdana"/>
                <a:cs typeface="Verdana"/>
              </a:rPr>
              <a:t>отгрузке.</a:t>
            </a:r>
            <a:endParaRPr sz="1200" dirty="0">
              <a:latin typeface="Verdana"/>
              <a:cs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25169801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0ACE271-9777-4B29-ABD5-3A217D093D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5251"/>
            <a:ext cx="7556500" cy="3505200"/>
          </a:xfrm>
          <a:prstGeom prst="rect">
            <a:avLst/>
          </a:prstGeom>
        </p:spPr>
      </p:pic>
      <p:graphicFrame>
        <p:nvGraphicFramePr>
          <p:cNvPr id="6" name="object 4">
            <a:extLst>
              <a:ext uri="{FF2B5EF4-FFF2-40B4-BE49-F238E27FC236}">
                <a16:creationId xmlns:a16="http://schemas.microsoft.com/office/drawing/2014/main" id="{1F763D7E-56DE-4AB1-9EBB-2CE0AE2FD2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7494069"/>
              </p:ext>
            </p:extLst>
          </p:nvPr>
        </p:nvGraphicFramePr>
        <p:xfrm>
          <a:off x="196850" y="3448050"/>
          <a:ext cx="6934200" cy="667093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467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7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4170">
                <a:tc>
                  <a:txBody>
                    <a:bodyPr/>
                    <a:lstStyle/>
                    <a:p>
                      <a:pPr marL="569595">
                        <a:lnSpc>
                          <a:spcPct val="100000"/>
                        </a:lnSpc>
                        <a:spcBef>
                          <a:spcPts val="660"/>
                        </a:spcBef>
                      </a:pP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Наименование</a:t>
                      </a:r>
                      <a:r>
                        <a:rPr sz="1200" b="1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показателя</a:t>
                      </a:r>
                      <a:endParaRPr sz="1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8382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DADA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45"/>
                        </a:spcBef>
                      </a:pP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Значение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8191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DADA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4150">
                <a:tc gridSpan="2">
                  <a:txBody>
                    <a:bodyPr/>
                    <a:lstStyle/>
                    <a:p>
                      <a:pPr marL="2319655">
                        <a:lnSpc>
                          <a:spcPts val="1330"/>
                        </a:lnSpc>
                      </a:pPr>
                      <a:r>
                        <a:rPr sz="1200" b="1" dirty="0">
                          <a:latin typeface="Times New Roman"/>
                          <a:cs typeface="Times New Roman"/>
                        </a:rPr>
                        <a:t>Параметры</a:t>
                      </a:r>
                      <a:r>
                        <a:rPr sz="1200" b="1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генераторной</a:t>
                      </a:r>
                      <a:r>
                        <a:rPr sz="1200" b="1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установки</a:t>
                      </a: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D5D5D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marL="5016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Модель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635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l">
                        <a:lnSpc>
                          <a:spcPts val="1180"/>
                        </a:lnSpc>
                      </a:pPr>
                      <a:r>
                        <a:rPr lang="ru-RU" sz="1050" spc="-25" dirty="0">
                          <a:latin typeface="Times New Roman"/>
                          <a:cs typeface="Times New Roman"/>
                        </a:rPr>
                        <a:t>                                         ГПУ</a:t>
                      </a:r>
                      <a:r>
                        <a:rPr sz="1050" spc="-25" dirty="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250</a:t>
                      </a:r>
                      <a:endParaRPr sz="105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marL="51435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Номинальная</a:t>
                      </a:r>
                      <a:r>
                        <a:rPr sz="105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мощность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254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29969" algn="l">
                        <a:lnSpc>
                          <a:spcPts val="1185"/>
                        </a:lnSpc>
                      </a:pPr>
                      <a:r>
                        <a:rPr lang="en-US" sz="1050" spc="-10" dirty="0">
                          <a:latin typeface="Times New Roman"/>
                          <a:cs typeface="Times New Roman"/>
                        </a:rPr>
                        <a:t>250</a:t>
                      </a:r>
                      <a:r>
                        <a:rPr lang="ru-RU" sz="1050" spc="-10" dirty="0">
                          <a:latin typeface="Times New Roman"/>
                          <a:cs typeface="Times New Roman"/>
                        </a:rPr>
                        <a:t>Квт/</a:t>
                      </a:r>
                      <a:r>
                        <a:rPr lang="en-US" sz="1050" spc="-10" dirty="0">
                          <a:latin typeface="Times New Roman"/>
                          <a:cs typeface="Times New Roman"/>
                        </a:rPr>
                        <a:t>31</a:t>
                      </a:r>
                      <a:r>
                        <a:rPr lang="ru-RU" sz="1050" spc="-10" dirty="0">
                          <a:latin typeface="Times New Roman"/>
                          <a:cs typeface="Times New Roman"/>
                        </a:rPr>
                        <a:t>2</a:t>
                      </a:r>
                      <a:r>
                        <a:rPr lang="en-US" sz="1050" spc="-10" dirty="0">
                          <a:latin typeface="Times New Roman"/>
                          <a:cs typeface="Times New Roman"/>
                        </a:rPr>
                        <a:t>,5</a:t>
                      </a:r>
                      <a:r>
                        <a:rPr lang="ru-RU" sz="1050" spc="-10" dirty="0" err="1">
                          <a:latin typeface="Times New Roman"/>
                          <a:cs typeface="Times New Roman"/>
                        </a:rPr>
                        <a:t>кВа</a:t>
                      </a:r>
                      <a:endParaRPr sz="105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51435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lang="ru-RU" sz="1050" spc="-10" dirty="0">
                          <a:latin typeface="Times New Roman"/>
                          <a:cs typeface="Times New Roman"/>
                        </a:rPr>
                        <a:t>Постоянная</a:t>
                      </a:r>
                      <a:r>
                        <a:rPr sz="10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мощность</a:t>
                      </a:r>
                      <a:endParaRPr sz="105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7625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29969" algn="l">
                        <a:lnSpc>
                          <a:spcPts val="1180"/>
                        </a:lnSpc>
                      </a:pPr>
                      <a:r>
                        <a:rPr lang="ru-RU" sz="1050" spc="-10" dirty="0">
                          <a:latin typeface="Times New Roman"/>
                          <a:cs typeface="Times New Roman"/>
                        </a:rPr>
                        <a:t>210кВт/262,5кВа</a:t>
                      </a:r>
                      <a:endParaRPr sz="105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5590">
                <a:tc>
                  <a:txBody>
                    <a:bodyPr/>
                    <a:lstStyle/>
                    <a:p>
                      <a:pPr marL="51435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Номинальное</a:t>
                      </a:r>
                      <a:r>
                        <a:rPr sz="105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напряжение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47625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80"/>
                        </a:lnSpc>
                      </a:pPr>
                      <a:r>
                        <a:rPr lang="ru-RU" sz="1050" spc="-10" dirty="0">
                          <a:latin typeface="Times New Roman"/>
                          <a:cs typeface="Times New Roman"/>
                        </a:rPr>
                        <a:t>                                     400В/220В</a:t>
                      </a:r>
                      <a:endParaRPr sz="105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5590">
                <a:tc>
                  <a:txBody>
                    <a:bodyPr/>
                    <a:lstStyle/>
                    <a:p>
                      <a:pPr marL="51435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Номинальная частота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47625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80"/>
                        </a:lnSpc>
                      </a:pPr>
                      <a:r>
                        <a:rPr lang="ru-RU" sz="1050" dirty="0">
                          <a:latin typeface="Times New Roman"/>
                          <a:cs typeface="Times New Roman"/>
                        </a:rPr>
                        <a:t>                                       50 Гц</a:t>
                      </a:r>
                      <a:endParaRPr sz="105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51435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Номинальная скорость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47625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l">
                        <a:lnSpc>
                          <a:spcPts val="1180"/>
                        </a:lnSpc>
                      </a:pPr>
                      <a:r>
                        <a:rPr lang="ru-RU" sz="1050" dirty="0">
                          <a:latin typeface="Times New Roman"/>
                          <a:cs typeface="Times New Roman"/>
                        </a:rPr>
                        <a:t>                                1500 об/мин</a:t>
                      </a:r>
                      <a:endParaRPr sz="105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5590">
                <a:tc>
                  <a:txBody>
                    <a:bodyPr/>
                    <a:lstStyle/>
                    <a:p>
                      <a:pPr marL="51435">
                        <a:lnSpc>
                          <a:spcPct val="100000"/>
                        </a:lnSpc>
                        <a:spcBef>
                          <a:spcPts val="375"/>
                        </a:spcBef>
                      </a:pP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Номинальный</a:t>
                      </a:r>
                      <a:r>
                        <a:rPr sz="105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-25" dirty="0">
                          <a:latin typeface="Times New Roman"/>
                          <a:cs typeface="Times New Roman"/>
                        </a:rPr>
                        <a:t>ток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47625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80"/>
                        </a:lnSpc>
                      </a:pPr>
                      <a:r>
                        <a:rPr lang="ru-RU" sz="1050" spc="-20">
                          <a:latin typeface="Times New Roman"/>
                          <a:cs typeface="Times New Roman"/>
                        </a:rPr>
                        <a:t>                                          450А</a:t>
                      </a:r>
                      <a:endParaRPr sz="105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61323">
                <a:tc>
                  <a:txBody>
                    <a:bodyPr/>
                    <a:lstStyle/>
                    <a:p>
                      <a:pPr marL="51435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050" dirty="0">
                          <a:latin typeface="Times New Roman"/>
                          <a:cs typeface="Times New Roman"/>
                        </a:rPr>
                        <a:t>Фактор</a:t>
                      </a:r>
                      <a:r>
                        <a:rPr sz="105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мощности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46355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180"/>
                        </a:lnSpc>
                      </a:pPr>
                      <a:r>
                        <a:rPr lang="ru-RU" sz="1050" spc="-25" dirty="0">
                          <a:latin typeface="Times New Roman"/>
                          <a:cs typeface="Times New Roman"/>
                        </a:rPr>
                        <a:t>                                            </a:t>
                      </a:r>
                      <a:r>
                        <a:rPr sz="1050" spc="-25" dirty="0">
                          <a:latin typeface="Times New Roman"/>
                          <a:cs typeface="Times New Roman"/>
                        </a:rPr>
                        <a:t>0</a:t>
                      </a:r>
                      <a:r>
                        <a:rPr lang="ru-RU" sz="1050" spc="-25" dirty="0">
                          <a:latin typeface="Times New Roman"/>
                          <a:cs typeface="Times New Roman"/>
                        </a:rPr>
                        <a:t>,8</a:t>
                      </a:r>
                      <a:endParaRPr sz="105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3685">
                <a:tc>
                  <a:txBody>
                    <a:bodyPr/>
                    <a:lstStyle/>
                    <a:p>
                      <a:pPr marL="51435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Контроллер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46355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07365" algn="l">
                        <a:lnSpc>
                          <a:spcPts val="1170"/>
                        </a:lnSpc>
                      </a:pPr>
                      <a:r>
                        <a:rPr lang="ru-RU" sz="1050" spc="-10" dirty="0">
                          <a:latin typeface="Times New Roman"/>
                          <a:cs typeface="Times New Roman"/>
                        </a:rPr>
                        <a:t>                 </a:t>
                      </a:r>
                      <a:r>
                        <a:rPr lang="en-US" sz="1050" spc="-10" dirty="0">
                          <a:latin typeface="Times New Roman"/>
                          <a:cs typeface="Times New Roman"/>
                        </a:rPr>
                        <a:t>Smartgen9420</a:t>
                      </a:r>
                      <a:endParaRPr sz="105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76225">
                <a:tc>
                  <a:txBody>
                    <a:bodyPr/>
                    <a:lstStyle/>
                    <a:p>
                      <a:pPr marL="51435">
                        <a:lnSpc>
                          <a:spcPct val="100000"/>
                        </a:lnSpc>
                        <a:spcBef>
                          <a:spcPts val="380"/>
                        </a:spcBef>
                      </a:pP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Регулятор скорости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4826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7715" algn="l">
                        <a:lnSpc>
                          <a:spcPts val="1180"/>
                        </a:lnSpc>
                      </a:pPr>
                      <a:r>
                        <a:rPr lang="ru-RU" sz="1050" spc="-10" dirty="0">
                          <a:latin typeface="Times New Roman"/>
                          <a:cs typeface="Times New Roman"/>
                        </a:rPr>
                        <a:t>             Цифровой</a:t>
                      </a:r>
                      <a:endParaRPr sz="105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85420">
                <a:tc gridSpan="2">
                  <a:txBody>
                    <a:bodyPr/>
                    <a:lstStyle/>
                    <a:p>
                      <a:pPr marL="250825" algn="ctr">
                        <a:lnSpc>
                          <a:spcPts val="1345"/>
                        </a:lnSpc>
                      </a:pP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Параметры</a:t>
                      </a:r>
                      <a:r>
                        <a:rPr sz="1200" b="1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200" b="1" spc="-10" dirty="0">
                          <a:latin typeface="Times New Roman"/>
                          <a:cs typeface="Times New Roman"/>
                        </a:rPr>
                        <a:t>двигателя</a:t>
                      </a:r>
                      <a:endParaRPr sz="1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DADAD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82245">
                <a:tc>
                  <a:txBody>
                    <a:bodyPr/>
                    <a:lstStyle/>
                    <a:p>
                      <a:pPr marL="50165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lang="ru-RU" sz="1050" spc="-10" dirty="0">
                          <a:latin typeface="Times New Roman"/>
                          <a:cs typeface="Times New Roman"/>
                        </a:rPr>
                        <a:t>М</a:t>
                      </a:r>
                      <a:r>
                        <a:rPr sz="1050" spc="-10" dirty="0" err="1">
                          <a:latin typeface="Times New Roman"/>
                          <a:cs typeface="Times New Roman"/>
                        </a:rPr>
                        <a:t>одель</a:t>
                      </a:r>
                      <a:r>
                        <a:rPr lang="ru-RU" sz="1050" spc="-10" dirty="0">
                          <a:latin typeface="Times New Roman"/>
                          <a:cs typeface="Times New Roman"/>
                        </a:rPr>
                        <a:t> двигателя</a:t>
                      </a:r>
                      <a:endParaRPr sz="105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1905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62585">
                        <a:lnSpc>
                          <a:spcPts val="1170"/>
                        </a:lnSpc>
                      </a:pPr>
                      <a:r>
                        <a:rPr lang="ru-RU" sz="1050" spc="-10" dirty="0">
                          <a:latin typeface="Times New Roman"/>
                          <a:cs typeface="Times New Roman"/>
                        </a:rPr>
                        <a:t>     </a:t>
                      </a:r>
                      <a:r>
                        <a:rPr sz="1050" dirty="0">
                          <a:latin typeface="Times New Roman"/>
                          <a:cs typeface="Times New Roman"/>
                        </a:rPr>
                        <a:t>Weichai</a:t>
                      </a:r>
                      <a:r>
                        <a:rPr sz="105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/WP13D317E300NG</a:t>
                      </a:r>
                      <a:endParaRPr sz="105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09245">
                <a:tc>
                  <a:txBody>
                    <a:bodyPr/>
                    <a:lstStyle/>
                    <a:p>
                      <a:pPr marL="4699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1050" dirty="0">
                          <a:latin typeface="Times New Roman"/>
                          <a:cs typeface="Times New Roman"/>
                        </a:rPr>
                        <a:t>Тип</a:t>
                      </a:r>
                      <a:r>
                        <a:rPr sz="105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двигателя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1905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94080" marR="60960" indent="-852169">
                        <a:lnSpc>
                          <a:spcPts val="1200"/>
                        </a:lnSpc>
                      </a:pPr>
                      <a:r>
                        <a:rPr lang="ru-RU" sz="1050" spc="-10" dirty="0">
                          <a:latin typeface="Times New Roman"/>
                          <a:cs typeface="Times New Roman"/>
                        </a:rPr>
                        <a:t>       </a:t>
                      </a:r>
                      <a:r>
                        <a:rPr sz="1050" spc="-10" dirty="0" err="1">
                          <a:latin typeface="Times New Roman"/>
                          <a:cs typeface="Times New Roman"/>
                        </a:rPr>
                        <a:t>Рядный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, четырехтактный,</a:t>
                      </a:r>
                      <a:r>
                        <a:rPr sz="105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электронное</a:t>
                      </a:r>
                      <a:r>
                        <a:rPr sz="105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-10" dirty="0" err="1">
                          <a:latin typeface="Times New Roman"/>
                          <a:cs typeface="Times New Roman"/>
                        </a:rPr>
                        <a:t>зажигание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,</a:t>
                      </a:r>
                      <a:endParaRPr lang="ru-RU" sz="1050" spc="-10" dirty="0">
                        <a:latin typeface="Times New Roman"/>
                        <a:cs typeface="Times New Roman"/>
                      </a:endParaRPr>
                    </a:p>
                    <a:p>
                      <a:pPr marL="894080" marR="60960" indent="-852169">
                        <a:lnSpc>
                          <a:spcPts val="1200"/>
                        </a:lnSpc>
                      </a:pPr>
                      <a:r>
                        <a:rPr lang="ru-RU" sz="1050" spc="-10" dirty="0">
                          <a:latin typeface="Times New Roman"/>
                          <a:cs typeface="Times New Roman"/>
                        </a:rPr>
                        <a:t>                             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dirty="0">
                          <a:latin typeface="Times New Roman"/>
                          <a:cs typeface="Times New Roman"/>
                        </a:rPr>
                        <a:t>водяное</a:t>
                      </a:r>
                      <a:r>
                        <a:rPr sz="105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охлаждение</a:t>
                      </a:r>
                      <a:endParaRPr sz="105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marL="4699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lang="ru-RU" sz="1050" spc="-10" dirty="0">
                          <a:latin typeface="Times New Roman"/>
                          <a:cs typeface="Times New Roman"/>
                        </a:rPr>
                        <a:t>Количество цилиндров и клапанов</a:t>
                      </a:r>
                      <a:endParaRPr sz="105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1905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3970" algn="ctr">
                        <a:lnSpc>
                          <a:spcPts val="1180"/>
                        </a:lnSpc>
                      </a:pPr>
                      <a:r>
                        <a:rPr lang="ru-RU" sz="1050" spc="-25" dirty="0">
                          <a:latin typeface="Times New Roman"/>
                          <a:cs typeface="Times New Roman"/>
                        </a:rPr>
                        <a:t>6 цилиндров/24 клапана</a:t>
                      </a:r>
                      <a:endParaRPr sz="105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marL="46990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lang="ru-RU" sz="1050" spc="-10" dirty="0">
                          <a:latin typeface="Times New Roman"/>
                          <a:cs typeface="Times New Roman"/>
                        </a:rPr>
                        <a:t>Диаметр и ход цилиндра</a:t>
                      </a:r>
                      <a:endParaRPr sz="105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381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1180"/>
                        </a:lnSpc>
                      </a:pP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127×165мм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62560">
                <a:tc>
                  <a:txBody>
                    <a:bodyPr/>
                    <a:lstStyle/>
                    <a:p>
                      <a:pPr marL="46990">
                        <a:lnSpc>
                          <a:spcPts val="1180"/>
                        </a:lnSpc>
                      </a:pP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Объем</a:t>
                      </a:r>
                      <a:r>
                        <a:rPr sz="105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двигателя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313815">
                        <a:lnSpc>
                          <a:spcPts val="1160"/>
                        </a:lnSpc>
                      </a:pPr>
                      <a:r>
                        <a:rPr lang="ru-RU" sz="1050" dirty="0">
                          <a:latin typeface="Times New Roman"/>
                          <a:cs typeface="Times New Roman"/>
                        </a:rPr>
                        <a:t>     </a:t>
                      </a:r>
                      <a:r>
                        <a:rPr sz="1050" dirty="0">
                          <a:latin typeface="Times New Roman"/>
                          <a:cs typeface="Times New Roman"/>
                        </a:rPr>
                        <a:t>11.6</a:t>
                      </a:r>
                      <a:r>
                        <a:rPr sz="105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-50" dirty="0">
                          <a:latin typeface="Times New Roman"/>
                          <a:cs typeface="Times New Roman"/>
                        </a:rPr>
                        <a:t>л</a:t>
                      </a:r>
                      <a:endParaRPr sz="105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marL="4699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1050" dirty="0">
                          <a:latin typeface="Times New Roman"/>
                          <a:cs typeface="Times New Roman"/>
                        </a:rPr>
                        <a:t>Метод</a:t>
                      </a:r>
                      <a:r>
                        <a:rPr sz="105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запуска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1905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80"/>
                        </a:lnSpc>
                      </a:pP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Электрический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marL="4699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Направление</a:t>
                      </a:r>
                      <a:r>
                        <a:rPr sz="105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вращения</a:t>
                      </a:r>
                      <a:r>
                        <a:rPr sz="105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коленчатого </a:t>
                      </a:r>
                      <a:r>
                        <a:rPr sz="1050" spc="-20" dirty="0">
                          <a:latin typeface="Times New Roman"/>
                          <a:cs typeface="Times New Roman"/>
                        </a:rPr>
                        <a:t>вала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1905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71830">
                        <a:lnSpc>
                          <a:spcPts val="1180"/>
                        </a:lnSpc>
                      </a:pPr>
                      <a:r>
                        <a:rPr lang="ru-RU" sz="1050" dirty="0">
                          <a:latin typeface="Times New Roman"/>
                          <a:cs typeface="Times New Roman"/>
                        </a:rPr>
                        <a:t>       Против часовой стрелки</a:t>
                      </a:r>
                      <a:endParaRPr sz="105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marL="4699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1050" dirty="0">
                          <a:latin typeface="Times New Roman"/>
                          <a:cs typeface="Times New Roman"/>
                        </a:rPr>
                        <a:t>Метод</a:t>
                      </a:r>
                      <a:r>
                        <a:rPr sz="1050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охлаждения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1905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12140">
                        <a:lnSpc>
                          <a:spcPts val="1180"/>
                        </a:lnSpc>
                      </a:pPr>
                      <a:r>
                        <a:rPr lang="ru-RU" sz="1050" dirty="0">
                          <a:latin typeface="Times New Roman"/>
                          <a:cs typeface="Times New Roman"/>
                        </a:rPr>
                        <a:t>                      Водяное</a:t>
                      </a:r>
                      <a:endParaRPr sz="105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182245">
                <a:tc>
                  <a:txBody>
                    <a:bodyPr/>
                    <a:lstStyle/>
                    <a:p>
                      <a:pPr marL="46990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Тип</a:t>
                      </a:r>
                      <a:r>
                        <a:rPr sz="105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принудительного</a:t>
                      </a:r>
                      <a:r>
                        <a:rPr sz="105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нагнетания</a:t>
                      </a:r>
                      <a:r>
                        <a:rPr sz="105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воздуха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381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2545">
                        <a:lnSpc>
                          <a:spcPts val="1180"/>
                        </a:lnSpc>
                      </a:pPr>
                      <a:r>
                        <a:rPr lang="ru-RU" sz="1050" dirty="0">
                          <a:latin typeface="Times New Roman"/>
                          <a:cs typeface="Times New Roman"/>
                        </a:rPr>
                        <a:t>    </a:t>
                      </a:r>
                      <a:r>
                        <a:rPr sz="1050" dirty="0">
                          <a:latin typeface="Times New Roman"/>
                          <a:cs typeface="Times New Roman"/>
                        </a:rPr>
                        <a:t>С</a:t>
                      </a:r>
                      <a:r>
                        <a:rPr sz="105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турбонаддувом</a:t>
                      </a:r>
                      <a:r>
                        <a:rPr sz="1050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dirty="0">
                          <a:latin typeface="Times New Roman"/>
                          <a:cs typeface="Times New Roman"/>
                        </a:rPr>
                        <a:t>и</a:t>
                      </a:r>
                      <a:r>
                        <a:rPr sz="105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промежуточным</a:t>
                      </a:r>
                      <a:r>
                        <a:rPr sz="10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охлаждением</a:t>
                      </a:r>
                      <a:endParaRPr sz="105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46038">
                <a:tc>
                  <a:txBody>
                    <a:bodyPr/>
                    <a:lstStyle/>
                    <a:p>
                      <a:pPr marL="46990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Регулятор</a:t>
                      </a:r>
                      <a:r>
                        <a:rPr sz="105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скорости</a:t>
                      </a:r>
                      <a:endParaRPr sz="105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1905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80"/>
                        </a:lnSpc>
                      </a:pP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Электронный</a:t>
                      </a:r>
                      <a:endParaRPr sz="105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65405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lang="ru-RU" sz="1000" spc="-10" dirty="0">
                          <a:latin typeface="Times New Roman"/>
                          <a:cs typeface="Times New Roman"/>
                        </a:rPr>
                        <a:t>Метод смешивания топливной смеси</a:t>
                      </a: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6350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03835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lang="ru-RU" sz="1000" spc="-10" dirty="0">
                          <a:latin typeface="Times New Roman"/>
                          <a:cs typeface="Times New Roman"/>
                        </a:rPr>
                        <a:t>                        Смеситель типа Вентури</a:t>
                      </a: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58419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72622353"/>
                  </a:ext>
                </a:extLst>
              </a:tr>
              <a:tr h="52493">
                <a:tc>
                  <a:txBody>
                    <a:bodyPr/>
                    <a:lstStyle/>
                    <a:p>
                      <a:pPr marL="92710">
                        <a:lnSpc>
                          <a:spcPts val="1135"/>
                        </a:lnSpc>
                      </a:pPr>
                      <a:r>
                        <a:rPr sz="1000" spc="-20" dirty="0" err="1">
                          <a:latin typeface="Times New Roman"/>
                          <a:cs typeface="Times New Roman"/>
                        </a:rPr>
                        <a:t>Давление</a:t>
                      </a:r>
                      <a:r>
                        <a:rPr sz="10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spc="-20" dirty="0" err="1">
                          <a:latin typeface="Times New Roman"/>
                          <a:cs typeface="Times New Roman"/>
                        </a:rPr>
                        <a:t>масла</a:t>
                      </a: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82245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lang="ru-RU" sz="1000" spc="-10" dirty="0">
                          <a:latin typeface="Times New Roman"/>
                          <a:cs typeface="Times New Roman"/>
                        </a:rPr>
                        <a:t>                                  4-6,5 бар</a:t>
                      </a: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508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860479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65405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lang="ru-RU" sz="1000" dirty="0" err="1">
                          <a:latin typeface="Times New Roman"/>
                          <a:cs typeface="Times New Roman"/>
                        </a:rPr>
                        <a:t>Обьем</a:t>
                      </a:r>
                      <a:r>
                        <a:rPr lang="ru-RU" sz="1000" dirty="0">
                          <a:latin typeface="Times New Roman"/>
                          <a:cs typeface="Times New Roman"/>
                        </a:rPr>
                        <a:t> охлаждающей жидкости двигателя/с радиатором</a:t>
                      </a: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63462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82245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lang="ru-RU" sz="1000" dirty="0">
                          <a:latin typeface="Times New Roman"/>
                          <a:cs typeface="Times New Roman"/>
                        </a:rPr>
                        <a:t>                                     25/70л</a:t>
                      </a: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508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750389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65405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lang="ru-RU" sz="1000" dirty="0" err="1">
                          <a:latin typeface="Times New Roman"/>
                          <a:cs typeface="Times New Roman"/>
                        </a:rPr>
                        <a:t>Обьем</a:t>
                      </a:r>
                      <a:r>
                        <a:rPr lang="ru-RU" sz="1000" dirty="0">
                          <a:latin typeface="Times New Roman"/>
                          <a:cs typeface="Times New Roman"/>
                        </a:rPr>
                        <a:t> масла</a:t>
                      </a: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63462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82245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lang="ru-RU" sz="1000" dirty="0">
                          <a:latin typeface="Times New Roman"/>
                          <a:cs typeface="Times New Roman"/>
                        </a:rPr>
                        <a:t>                                     30л</a:t>
                      </a: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508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294678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54610">
                        <a:lnSpc>
                          <a:spcPct val="100000"/>
                        </a:lnSpc>
                        <a:spcBef>
                          <a:spcPts val="715"/>
                        </a:spcBef>
                      </a:pPr>
                      <a:r>
                        <a:rPr sz="1000" spc="-10" dirty="0">
                          <a:latin typeface="Times New Roman"/>
                          <a:cs typeface="Times New Roman"/>
                        </a:rPr>
                        <a:t>Номинальный</a:t>
                      </a:r>
                      <a:r>
                        <a:rPr sz="10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spc="-10" dirty="0">
                          <a:latin typeface="Times New Roman"/>
                          <a:cs typeface="Times New Roman"/>
                        </a:rPr>
                        <a:t>расход</a:t>
                      </a:r>
                      <a:r>
                        <a:rPr sz="10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spc="-10" dirty="0">
                          <a:latin typeface="Times New Roman"/>
                          <a:cs typeface="Times New Roman"/>
                        </a:rPr>
                        <a:t>газа</a:t>
                      </a:r>
                      <a:r>
                        <a:rPr sz="10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(м³/ч)</a:t>
                      </a:r>
                      <a:r>
                        <a:rPr sz="10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spc="-10" dirty="0">
                          <a:latin typeface="Times New Roman"/>
                          <a:cs typeface="Times New Roman"/>
                        </a:rPr>
                        <a:t>при</a:t>
                      </a:r>
                      <a:r>
                        <a:rPr sz="10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spc="-10" dirty="0">
                          <a:latin typeface="Times New Roman"/>
                          <a:cs typeface="Times New Roman"/>
                        </a:rPr>
                        <a:t>нагрузке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90805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6530">
                        <a:lnSpc>
                          <a:spcPts val="1265"/>
                        </a:lnSpc>
                        <a:spcBef>
                          <a:spcPts val="340"/>
                        </a:spcBef>
                      </a:pPr>
                      <a:r>
                        <a:rPr sz="1100" dirty="0">
                          <a:latin typeface="Times New Roman"/>
                          <a:cs typeface="Times New Roman"/>
                        </a:rPr>
                        <a:t>100%</a:t>
                      </a:r>
                      <a:r>
                        <a:rPr sz="11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-25" dirty="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lang="ru-RU" sz="1100" spc="-10" dirty="0">
                          <a:latin typeface="Times New Roman"/>
                          <a:cs typeface="Times New Roman"/>
                        </a:rPr>
                        <a:t>57</a:t>
                      </a: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м3/час</a:t>
                      </a:r>
                      <a:endParaRPr sz="1100" dirty="0">
                        <a:latin typeface="Times New Roman"/>
                        <a:cs typeface="Times New Roman"/>
                      </a:endParaRPr>
                    </a:p>
                    <a:p>
                      <a:pPr marL="176530">
                        <a:lnSpc>
                          <a:spcPts val="1245"/>
                        </a:lnSpc>
                      </a:pPr>
                      <a:r>
                        <a:rPr sz="1100" dirty="0">
                          <a:latin typeface="Times New Roman"/>
                          <a:cs typeface="Times New Roman"/>
                        </a:rPr>
                        <a:t>75%</a:t>
                      </a:r>
                      <a:r>
                        <a:rPr sz="110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-25" dirty="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lang="ru-RU" sz="1100" spc="-10" dirty="0">
                          <a:latin typeface="Times New Roman"/>
                          <a:cs typeface="Times New Roman"/>
                        </a:rPr>
                        <a:t>50</a:t>
                      </a: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м3/час</a:t>
                      </a:r>
                      <a:endParaRPr sz="1100" dirty="0">
                        <a:latin typeface="Times New Roman"/>
                        <a:cs typeface="Times New Roman"/>
                      </a:endParaRPr>
                    </a:p>
                    <a:p>
                      <a:pPr marL="174625">
                        <a:lnSpc>
                          <a:spcPts val="1235"/>
                        </a:lnSpc>
                      </a:pPr>
                      <a:r>
                        <a:rPr sz="1100" dirty="0">
                          <a:latin typeface="Times New Roman"/>
                          <a:cs typeface="Times New Roman"/>
                        </a:rPr>
                        <a:t>50%</a:t>
                      </a:r>
                      <a:r>
                        <a:rPr sz="1100" spc="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-25" dirty="0">
                          <a:latin typeface="Times New Roman"/>
                          <a:cs typeface="Times New Roman"/>
                        </a:rPr>
                        <a:t>-</a:t>
                      </a: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40м3/час</a:t>
                      </a:r>
                      <a:endParaRPr sz="1100" dirty="0">
                        <a:latin typeface="Times New Roman"/>
                        <a:cs typeface="Times New Roman"/>
                      </a:endParaRPr>
                    </a:p>
                    <a:p>
                      <a:pPr marL="184150">
                        <a:lnSpc>
                          <a:spcPts val="1260"/>
                        </a:lnSpc>
                      </a:pPr>
                      <a:r>
                        <a:rPr sz="1100" dirty="0">
                          <a:latin typeface="Times New Roman"/>
                          <a:cs typeface="Times New Roman"/>
                        </a:rPr>
                        <a:t>16.5м3/час</a:t>
                      </a:r>
                      <a:r>
                        <a:rPr sz="1100" spc="-8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холостой</a:t>
                      </a:r>
                      <a:r>
                        <a:rPr sz="11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-25" dirty="0">
                          <a:latin typeface="Times New Roman"/>
                          <a:cs typeface="Times New Roman"/>
                        </a:rPr>
                        <a:t>ход</a:t>
                      </a:r>
                      <a:endParaRPr sz="11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318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80779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992998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>
            <a:extLst>
              <a:ext uri="{FF2B5EF4-FFF2-40B4-BE49-F238E27FC236}">
                <a16:creationId xmlns:a16="http://schemas.microsoft.com/office/drawing/2014/main" id="{BE0570E1-4FCE-47F4-A2D5-3FAA6E9C04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7632130"/>
              </p:ext>
            </p:extLst>
          </p:nvPr>
        </p:nvGraphicFramePr>
        <p:xfrm>
          <a:off x="273050" y="126491"/>
          <a:ext cx="6934200" cy="2574051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471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626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7325">
                <a:tc gridSpan="2">
                  <a:txBody>
                    <a:bodyPr/>
                    <a:lstStyle/>
                    <a:p>
                      <a:pPr marL="245745" algn="ctr">
                        <a:lnSpc>
                          <a:spcPts val="1195"/>
                        </a:lnSpc>
                      </a:pPr>
                      <a:r>
                        <a:rPr sz="1000" b="1" spc="-20" dirty="0">
                          <a:latin typeface="Times New Roman"/>
                          <a:cs typeface="Times New Roman"/>
                        </a:rPr>
                        <a:t>Ге</a:t>
                      </a:r>
                      <a:r>
                        <a:rPr sz="1000" b="1" spc="-5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b="1" spc="-10" dirty="0">
                          <a:latin typeface="Times New Roman"/>
                          <a:cs typeface="Times New Roman"/>
                        </a:rPr>
                        <a:t>нератор</a:t>
                      </a: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DADAD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43815">
                        <a:lnSpc>
                          <a:spcPts val="1255"/>
                        </a:lnSpc>
                      </a:pPr>
                      <a:r>
                        <a:rPr lang="ru-RU" sz="1000" dirty="0">
                          <a:latin typeface="Times New Roman"/>
                          <a:cs typeface="Times New Roman"/>
                        </a:rPr>
                        <a:t>Производитель</a:t>
                      </a: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985" algn="ctr">
                        <a:lnSpc>
                          <a:spcPts val="1180"/>
                        </a:lnSpc>
                      </a:pPr>
                      <a:r>
                        <a:rPr lang="ru-RU" sz="1000" dirty="0">
                          <a:latin typeface="Times New Roman"/>
                          <a:cs typeface="Times New Roman"/>
                        </a:rPr>
                        <a:t>ЭЛЕМЕНТ</a:t>
                      </a: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638755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43815">
                        <a:lnSpc>
                          <a:spcPts val="1255"/>
                        </a:lnSpc>
                      </a:pPr>
                      <a:r>
                        <a:rPr lang="ru-RU" sz="1000" dirty="0">
                          <a:latin typeface="Times New Roman"/>
                          <a:cs typeface="Times New Roman"/>
                        </a:rPr>
                        <a:t>Модель</a:t>
                      </a: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985" algn="ctr">
                        <a:lnSpc>
                          <a:spcPts val="1180"/>
                        </a:lnSpc>
                      </a:pPr>
                      <a:r>
                        <a:rPr lang="en-US" sz="1000" b="0" i="0" u="none" strike="noStrike" baseline="0" dirty="0">
                          <a:latin typeface="DengXian" panose="02010600030101010101" pitchFamily="2" charset="-122"/>
                        </a:rPr>
                        <a:t>LSA46.3L10 </a:t>
                      </a: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328157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43815">
                        <a:lnSpc>
                          <a:spcPts val="1255"/>
                        </a:lnSpc>
                      </a:pPr>
                      <a:r>
                        <a:rPr lang="ru-RU" sz="1000" dirty="0">
                          <a:latin typeface="Times New Roman"/>
                          <a:cs typeface="Times New Roman"/>
                        </a:rPr>
                        <a:t>Шаг обмотки</a:t>
                      </a: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" algn="ctr">
                        <a:lnSpc>
                          <a:spcPts val="1180"/>
                        </a:lnSpc>
                      </a:pPr>
                      <a:r>
                        <a:rPr lang="ru-RU" sz="1000" dirty="0">
                          <a:latin typeface="Times New Roman"/>
                          <a:cs typeface="Times New Roman"/>
                        </a:rPr>
                        <a:t>2/3</a:t>
                      </a: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98016087"/>
                  </a:ext>
                </a:extLst>
              </a:tr>
              <a:tr h="202565">
                <a:tc>
                  <a:txBody>
                    <a:bodyPr/>
                    <a:lstStyle/>
                    <a:p>
                      <a:pPr marL="43815">
                        <a:lnSpc>
                          <a:spcPts val="1255"/>
                        </a:lnSpc>
                      </a:pPr>
                      <a:r>
                        <a:rPr sz="1000" dirty="0">
                          <a:latin typeface="Times New Roman"/>
                          <a:cs typeface="Times New Roman"/>
                        </a:rPr>
                        <a:t>Класс </a:t>
                      </a:r>
                      <a:r>
                        <a:rPr sz="1000" spc="-10" dirty="0">
                          <a:latin typeface="Times New Roman"/>
                          <a:cs typeface="Times New Roman"/>
                        </a:rPr>
                        <a:t>изоляции</a:t>
                      </a: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985" algn="ctr">
                        <a:lnSpc>
                          <a:spcPts val="1180"/>
                        </a:lnSpc>
                      </a:pPr>
                      <a:r>
                        <a:rPr sz="1000" dirty="0">
                          <a:latin typeface="Times New Roman"/>
                          <a:cs typeface="Times New Roman"/>
                        </a:rPr>
                        <a:t>Класс</a:t>
                      </a:r>
                      <a:r>
                        <a:rPr sz="1000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spc="-50" dirty="0">
                          <a:latin typeface="Times New Roman"/>
                          <a:cs typeface="Times New Roman"/>
                        </a:rPr>
                        <a:t>Н</a:t>
                      </a: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1100" dirty="0">
                          <a:latin typeface="Times New Roman"/>
                          <a:cs typeface="Times New Roman"/>
                        </a:rPr>
                        <a:t>Номинальная</a:t>
                      </a:r>
                      <a:r>
                        <a:rPr sz="1100" spc="-7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мощность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15875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3535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lang="ru-RU" sz="1000" spc="-10" dirty="0">
                          <a:latin typeface="Times New Roman"/>
                          <a:cs typeface="Times New Roman"/>
                        </a:rPr>
                        <a:t>      </a:t>
                      </a:r>
                      <a:r>
                        <a:rPr sz="1000" spc="-10" dirty="0">
                          <a:latin typeface="Times New Roman"/>
                          <a:cs typeface="Times New Roman"/>
                        </a:rPr>
                        <a:t>250кВт/312.5кВА</a:t>
                      </a: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3429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8279">
                <a:tc>
                  <a:txBody>
                    <a:bodyPr/>
                    <a:lstStyle/>
                    <a:p>
                      <a:pPr marL="4381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050" dirty="0">
                          <a:latin typeface="Times New Roman"/>
                          <a:cs typeface="Times New Roman"/>
                        </a:rPr>
                        <a:t>Кла</a:t>
                      </a:r>
                      <a:r>
                        <a:rPr sz="1575" baseline="2645" dirty="0">
                          <a:latin typeface="Times New Roman"/>
                          <a:cs typeface="Times New Roman"/>
                        </a:rPr>
                        <a:t>сс</a:t>
                      </a:r>
                      <a:r>
                        <a:rPr sz="1575" spc="-89" baseline="26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575" spc="-15" baseline="2645" dirty="0">
                          <a:latin typeface="Times New Roman"/>
                          <a:cs typeface="Times New Roman"/>
                        </a:rPr>
                        <a:t>з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ащиты</a:t>
                      </a:r>
                      <a:endParaRPr sz="105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1143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ts val="1135"/>
                        </a:lnSpc>
                      </a:pPr>
                      <a:r>
                        <a:rPr sz="1050" spc="-20" dirty="0">
                          <a:latin typeface="Times New Roman"/>
                          <a:cs typeface="Times New Roman"/>
                        </a:rPr>
                        <a:t>IP23</a:t>
                      </a:r>
                      <a:endParaRPr sz="105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0185">
                <a:tc>
                  <a:txBody>
                    <a:bodyPr/>
                    <a:lstStyle/>
                    <a:p>
                      <a:pPr marL="43815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050" dirty="0">
                          <a:latin typeface="Times New Roman"/>
                          <a:cs typeface="Times New Roman"/>
                        </a:rPr>
                        <a:t>Режим</a:t>
                      </a:r>
                      <a:r>
                        <a:rPr sz="1050" spc="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-20" dirty="0">
                          <a:latin typeface="Times New Roman"/>
                          <a:cs typeface="Times New Roman"/>
                        </a:rPr>
                        <a:t>регули</a:t>
                      </a:r>
                      <a:r>
                        <a:rPr sz="1575" spc="-30" baseline="2645" dirty="0">
                          <a:latin typeface="Times New Roman"/>
                          <a:cs typeface="Times New Roman"/>
                        </a:rPr>
                        <a:t>р</a:t>
                      </a:r>
                      <a:r>
                        <a:rPr sz="1050" spc="-20" dirty="0">
                          <a:latin typeface="Times New Roman"/>
                          <a:cs typeface="Times New Roman"/>
                        </a:rPr>
                        <a:t>ования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 напряжения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9525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14705" algn="l">
                        <a:lnSpc>
                          <a:spcPts val="1205"/>
                        </a:lnSpc>
                      </a:pPr>
                      <a:r>
                        <a:rPr lang="ru-RU" sz="1050" dirty="0">
                          <a:latin typeface="Times New Roman"/>
                          <a:cs typeface="Times New Roman"/>
                        </a:rPr>
                        <a:t>                             </a:t>
                      </a:r>
                      <a:r>
                        <a:rPr sz="1050" dirty="0">
                          <a:latin typeface="Times New Roman"/>
                          <a:cs typeface="Times New Roman"/>
                        </a:rPr>
                        <a:t>АВР</a:t>
                      </a:r>
                      <a:r>
                        <a:rPr sz="105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575" spc="-15" baseline="2645" dirty="0">
                          <a:latin typeface="Times New Roman"/>
                          <a:cs typeface="Times New Roman"/>
                        </a:rPr>
                        <a:t>(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автоматический</a:t>
                      </a:r>
                      <a:r>
                        <a:rPr sz="1575" spc="-15" baseline="2645" dirty="0">
                          <a:latin typeface="Times New Roman"/>
                          <a:cs typeface="Times New Roman"/>
                        </a:rPr>
                        <a:t>)</a:t>
                      </a:r>
                      <a:endParaRPr sz="1575" baseline="2645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08279">
                <a:tc>
                  <a:txBody>
                    <a:bodyPr/>
                    <a:lstStyle/>
                    <a:p>
                      <a:pPr marL="40640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sz="1050" dirty="0">
                          <a:latin typeface="Times New Roman"/>
                          <a:cs typeface="Times New Roman"/>
                        </a:rPr>
                        <a:t>Фактор</a:t>
                      </a:r>
                      <a:r>
                        <a:rPr sz="105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мощности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1905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ts val="1180"/>
                        </a:lnSpc>
                      </a:pPr>
                      <a:r>
                        <a:rPr sz="1050" spc="-25" dirty="0">
                          <a:latin typeface="Times New Roman"/>
                          <a:cs typeface="Times New Roman"/>
                        </a:rPr>
                        <a:t>0,8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70062">
                <a:tc>
                  <a:txBody>
                    <a:bodyPr/>
                    <a:lstStyle/>
                    <a:p>
                      <a:pPr marL="42545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1050" dirty="0">
                          <a:latin typeface="Times New Roman"/>
                          <a:cs typeface="Times New Roman"/>
                        </a:rPr>
                        <a:t>Тип</a:t>
                      </a:r>
                      <a:r>
                        <a:rPr sz="105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в</a:t>
                      </a:r>
                      <a:r>
                        <a:rPr sz="1575" spc="-15" baseline="2645" dirty="0">
                          <a:latin typeface="Times New Roman"/>
                          <a:cs typeface="Times New Roman"/>
                        </a:rPr>
                        <a:t>озб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ужд</a:t>
                      </a:r>
                      <a:r>
                        <a:rPr sz="1575" spc="-15" baseline="2645" dirty="0">
                          <a:latin typeface="Times New Roman"/>
                          <a:cs typeface="Times New Roman"/>
                        </a:rPr>
                        <a:t>е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ния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2032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350" algn="ctr">
                        <a:lnSpc>
                          <a:spcPts val="1180"/>
                        </a:lnSpc>
                      </a:pP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Бесщеточный</a:t>
                      </a:r>
                      <a:endParaRPr sz="105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90170">
                <a:tc>
                  <a:txBody>
                    <a:bodyPr/>
                    <a:lstStyle/>
                    <a:p>
                      <a:pPr marL="40640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sz="1000" dirty="0" err="1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Тип</a:t>
                      </a:r>
                      <a:r>
                        <a:rPr sz="1000" dirty="0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 в</a:t>
                      </a:r>
                      <a:r>
                        <a:rPr lang="ru-RU" sz="1000" dirty="0" err="1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оз</a:t>
                      </a:r>
                      <a:r>
                        <a:rPr sz="1000" dirty="0" err="1">
                          <a:solidFill>
                            <a:schemeClr val="tx1"/>
                          </a:solidFill>
                          <a:latin typeface="Times New Roman"/>
                          <a:ea typeface="+mn-ea"/>
                          <a:cs typeface="Times New Roman"/>
                        </a:rPr>
                        <a:t>буждения</a:t>
                      </a:r>
                      <a:endParaRPr sz="1000" dirty="0">
                        <a:solidFill>
                          <a:schemeClr val="tx1"/>
                        </a:solidFill>
                        <a:latin typeface="Times New Roman"/>
                        <a:ea typeface="+mn-ea"/>
                        <a:cs typeface="Times New Roman"/>
                      </a:endParaRPr>
                    </a:p>
                  </a:txBody>
                  <a:tcPr marL="0" marR="0" marT="20308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350" algn="ctr">
                        <a:lnSpc>
                          <a:spcPts val="1180"/>
                        </a:lnSpc>
                      </a:pPr>
                      <a:r>
                        <a:rPr lang="ru-RU" sz="1000" spc="-10" dirty="0" err="1">
                          <a:latin typeface="Times New Roman"/>
                          <a:cs typeface="Times New Roman"/>
                        </a:rPr>
                        <a:t>Самовозбуждение+постоянный</a:t>
                      </a:r>
                      <a:r>
                        <a:rPr lang="ru-RU" sz="1000" spc="-10" dirty="0">
                          <a:latin typeface="Times New Roman"/>
                          <a:cs typeface="Times New Roman"/>
                        </a:rPr>
                        <a:t> магнит</a:t>
                      </a: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667607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42545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lang="ru-RU" sz="1000" dirty="0">
                          <a:latin typeface="Times New Roman"/>
                          <a:cs typeface="Times New Roman"/>
                        </a:rPr>
                        <a:t>Тип подшипника</a:t>
                      </a: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20308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350" algn="ctr">
                        <a:lnSpc>
                          <a:spcPts val="1180"/>
                        </a:lnSpc>
                      </a:pPr>
                      <a:r>
                        <a:rPr lang="ru-RU" sz="1000" dirty="0">
                          <a:latin typeface="Times New Roman"/>
                          <a:cs typeface="Times New Roman"/>
                        </a:rPr>
                        <a:t>Одинарный подшипник</a:t>
                      </a: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61216994"/>
                  </a:ext>
                </a:extLst>
              </a:tr>
              <a:tr h="86354">
                <a:tc>
                  <a:txBody>
                    <a:bodyPr/>
                    <a:lstStyle/>
                    <a:p>
                      <a:pPr marL="42545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lang="ru-RU" sz="1000" dirty="0">
                          <a:latin typeface="Times New Roman"/>
                          <a:cs typeface="Times New Roman"/>
                        </a:rPr>
                        <a:t>Точность регулирования напряжения</a:t>
                      </a: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20308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350" algn="ctr">
                        <a:lnSpc>
                          <a:spcPts val="1180"/>
                        </a:lnSpc>
                      </a:pPr>
                      <a:r>
                        <a:rPr lang="ru-RU" sz="1000" dirty="0">
                          <a:latin typeface="Times New Roman"/>
                          <a:cs typeface="Times New Roman"/>
                        </a:rPr>
                        <a:t>+/- 1%</a:t>
                      </a: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897351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42545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lang="ru-RU" sz="1000" dirty="0">
                          <a:latin typeface="Times New Roman"/>
                          <a:cs typeface="Times New Roman"/>
                        </a:rPr>
                        <a:t>Тип крепления к двигателю</a:t>
                      </a: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20308" marB="0">
                    <a:lnL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0" algn="ctr">
                        <a:lnSpc>
                          <a:spcPts val="1180"/>
                        </a:lnSpc>
                      </a:pPr>
                      <a:r>
                        <a:rPr lang="ru-RU" sz="1000" dirty="0">
                          <a:latin typeface="Times New Roman"/>
                          <a:cs typeface="Times New Roman"/>
                        </a:rPr>
                        <a:t>Жесткая муфта</a:t>
                      </a:r>
                      <a:endParaRPr sz="10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56699625"/>
                  </a:ext>
                </a:extLst>
              </a:tr>
            </a:tbl>
          </a:graphicData>
        </a:graphic>
      </p:graphicFrame>
      <p:graphicFrame>
        <p:nvGraphicFramePr>
          <p:cNvPr id="3" name="object 3">
            <a:extLst>
              <a:ext uri="{FF2B5EF4-FFF2-40B4-BE49-F238E27FC236}">
                <a16:creationId xmlns:a16="http://schemas.microsoft.com/office/drawing/2014/main" id="{98B6974D-E03A-425D-864D-C31BE45EF03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0131858"/>
              </p:ext>
            </p:extLst>
          </p:nvPr>
        </p:nvGraphicFramePr>
        <p:xfrm>
          <a:off x="269374" y="2858361"/>
          <a:ext cx="6858000" cy="245681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4333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246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2880">
                <a:tc gridSpan="2">
                  <a:txBody>
                    <a:bodyPr/>
                    <a:lstStyle/>
                    <a:p>
                      <a:pPr marL="43815" algn="ctr">
                        <a:lnSpc>
                          <a:spcPts val="1160"/>
                        </a:lnSpc>
                      </a:pPr>
                      <a:r>
                        <a:rPr sz="1000" b="1" dirty="0">
                          <a:latin typeface="Times New Roman"/>
                          <a:cs typeface="Times New Roman"/>
                        </a:rPr>
                        <a:t>Обща</a:t>
                      </a:r>
                      <a:r>
                        <a:rPr sz="1000" b="1" spc="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b="1" dirty="0">
                          <a:latin typeface="Times New Roman"/>
                          <a:cs typeface="Times New Roman"/>
                        </a:rPr>
                        <a:t>я</a:t>
                      </a:r>
                      <a:r>
                        <a:rPr sz="1000" b="1" spc="28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b="1" spc="-10" dirty="0">
                          <a:latin typeface="Times New Roman"/>
                          <a:cs typeface="Times New Roman"/>
                        </a:rPr>
                        <a:t>информация</a:t>
                      </a: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  <a:solidFill>
                      <a:srgbClr val="DADAD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5104">
                <a:tc>
                  <a:txBody>
                    <a:bodyPr/>
                    <a:lstStyle/>
                    <a:p>
                      <a:pPr marL="60325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lang="ru-RU" sz="1050" dirty="0"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sz="1050" dirty="0" err="1">
                          <a:latin typeface="Times New Roman"/>
                          <a:cs typeface="Times New Roman"/>
                        </a:rPr>
                        <a:t>Допустимая</a:t>
                      </a:r>
                      <a:r>
                        <a:rPr sz="105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dirty="0">
                          <a:latin typeface="Times New Roman"/>
                          <a:cs typeface="Times New Roman"/>
                        </a:rPr>
                        <a:t>температура</a:t>
                      </a:r>
                      <a:r>
                        <a:rPr sz="105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dirty="0">
                          <a:latin typeface="Times New Roman"/>
                          <a:cs typeface="Times New Roman"/>
                        </a:rPr>
                        <a:t>окружающей</a:t>
                      </a:r>
                      <a:r>
                        <a:rPr sz="105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-10" dirty="0">
                          <a:latin typeface="Times New Roman"/>
                          <a:cs typeface="Times New Roman"/>
                        </a:rPr>
                        <a:t>среды</a:t>
                      </a:r>
                      <a:endParaRPr sz="105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508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95985">
                        <a:lnSpc>
                          <a:spcPts val="1230"/>
                        </a:lnSpc>
                      </a:pPr>
                      <a:r>
                        <a:rPr lang="ru-RU" sz="1575" spc="-75" baseline="2645" dirty="0">
                          <a:latin typeface="Times New Roman"/>
                          <a:cs typeface="Times New Roman"/>
                        </a:rPr>
                        <a:t>             </a:t>
                      </a:r>
                      <a:r>
                        <a:rPr sz="1575" spc="-75" baseline="26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ru-RU" sz="1575" spc="-75" baseline="2645" dirty="0">
                          <a:latin typeface="Times New Roman"/>
                          <a:cs typeface="Times New Roman"/>
                        </a:rPr>
                        <a:t>не боле </a:t>
                      </a:r>
                      <a:r>
                        <a:rPr lang="ru-RU" sz="1575" baseline="2645" dirty="0">
                          <a:latin typeface="Times New Roman"/>
                          <a:cs typeface="Times New Roman"/>
                        </a:rPr>
                        <a:t>25</a:t>
                      </a:r>
                      <a:r>
                        <a:rPr sz="1575" spc="-67" baseline="26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50" spc="-25" dirty="0">
                          <a:latin typeface="Cambria Math"/>
                          <a:cs typeface="Cambria Math"/>
                        </a:rPr>
                        <a:t>℃</a:t>
                      </a:r>
                      <a:endParaRPr sz="105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3040">
                <a:tc>
                  <a:txBody>
                    <a:bodyPr/>
                    <a:lstStyle/>
                    <a:p>
                      <a:pPr marL="73025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lang="ru-RU" sz="1050" spc="-10" dirty="0"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sz="1050" spc="-10" dirty="0" err="1">
                          <a:latin typeface="Times New Roman"/>
                          <a:cs typeface="Times New Roman"/>
                        </a:rPr>
                        <a:t>С</a:t>
                      </a:r>
                      <a:r>
                        <a:rPr sz="1575" spc="-15" baseline="2645" dirty="0" err="1">
                          <a:latin typeface="Times New Roman"/>
                          <a:cs typeface="Times New Roman"/>
                        </a:rPr>
                        <a:t>уммарный</a:t>
                      </a:r>
                      <a:r>
                        <a:rPr sz="1575" spc="-60" baseline="26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575" baseline="2645" dirty="0">
                          <a:latin typeface="Times New Roman"/>
                          <a:cs typeface="Times New Roman"/>
                        </a:rPr>
                        <a:t>КП</a:t>
                      </a:r>
                      <a:r>
                        <a:rPr sz="1050" dirty="0">
                          <a:latin typeface="Times New Roman"/>
                          <a:cs typeface="Times New Roman"/>
                        </a:rPr>
                        <a:t>Д</a:t>
                      </a:r>
                      <a:r>
                        <a:rPr sz="1050" spc="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575" baseline="2645" dirty="0">
                          <a:latin typeface="Times New Roman"/>
                          <a:cs typeface="Times New Roman"/>
                        </a:rPr>
                        <a:t>при</a:t>
                      </a:r>
                      <a:r>
                        <a:rPr sz="1575" spc="-37" baseline="26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575" spc="-15" baseline="2645" dirty="0">
                          <a:latin typeface="Times New Roman"/>
                          <a:cs typeface="Times New Roman"/>
                        </a:rPr>
                        <a:t>номинальной</a:t>
                      </a:r>
                      <a:r>
                        <a:rPr sz="1575" spc="-82" baseline="26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575" spc="-15" baseline="2645" dirty="0">
                          <a:latin typeface="Times New Roman"/>
                          <a:cs typeface="Times New Roman"/>
                        </a:rPr>
                        <a:t>мощности</a:t>
                      </a:r>
                      <a:endParaRPr sz="1575" baseline="2645" dirty="0">
                        <a:latin typeface="Times New Roman"/>
                        <a:cs typeface="Times New Roman"/>
                      </a:endParaRPr>
                    </a:p>
                  </a:txBody>
                  <a:tcPr marL="0" marR="0" marT="8255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05104" algn="ctr">
                        <a:lnSpc>
                          <a:spcPct val="100000"/>
                        </a:lnSpc>
                        <a:spcBef>
                          <a:spcPts val="125"/>
                        </a:spcBef>
                      </a:pPr>
                      <a:r>
                        <a:rPr sz="1050" spc="-25" dirty="0">
                          <a:latin typeface="Times New Roman"/>
                          <a:cs typeface="Times New Roman"/>
                        </a:rPr>
                        <a:t>80%</a:t>
                      </a:r>
                      <a:endParaRPr sz="1050">
                        <a:latin typeface="Times New Roman"/>
                        <a:cs typeface="Times New Roman"/>
                      </a:endParaRPr>
                    </a:p>
                  </a:txBody>
                  <a:tcPr marL="0" marR="0" marT="1587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5900">
                <a:tc>
                  <a:txBody>
                    <a:bodyPr/>
                    <a:lstStyle/>
                    <a:p>
                      <a:pPr marL="124460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1100" dirty="0">
                          <a:latin typeface="Times New Roman"/>
                          <a:cs typeface="Times New Roman"/>
                        </a:rPr>
                        <a:t>КПД</a:t>
                      </a:r>
                      <a:r>
                        <a:rPr sz="1100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50" spc="-15" baseline="2525" dirty="0">
                          <a:latin typeface="Times New Roman"/>
                          <a:cs typeface="Times New Roman"/>
                        </a:rPr>
                        <a:t>электрическая</a:t>
                      </a:r>
                      <a:endParaRPr sz="1650" baseline="2525" dirty="0">
                        <a:latin typeface="Times New Roman"/>
                        <a:cs typeface="Times New Roman"/>
                      </a:endParaRPr>
                    </a:p>
                  </a:txBody>
                  <a:tcPr marL="0" marR="0" marT="17145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69545" algn="ctr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1100" spc="-25" dirty="0">
                          <a:latin typeface="Times New Roman"/>
                          <a:cs typeface="Times New Roman"/>
                        </a:rPr>
                        <a:t>3</a:t>
                      </a:r>
                      <a:r>
                        <a:rPr lang="ru-RU" sz="1100" spc="-25" dirty="0">
                          <a:latin typeface="Times New Roman"/>
                          <a:cs typeface="Times New Roman"/>
                        </a:rPr>
                        <a:t>3</a:t>
                      </a:r>
                      <a:r>
                        <a:rPr sz="1100" spc="-25" dirty="0">
                          <a:latin typeface="Times New Roman"/>
                          <a:cs typeface="Times New Roman"/>
                        </a:rPr>
                        <a:t>%</a:t>
                      </a:r>
                      <a:endParaRPr sz="11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1714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142875">
                        <a:lnSpc>
                          <a:spcPct val="100000"/>
                        </a:lnSpc>
                        <a:spcBef>
                          <a:spcPts val="365"/>
                        </a:spcBef>
                      </a:pP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Внешние</a:t>
                      </a:r>
                      <a:r>
                        <a:rPr sz="11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габариты</a:t>
                      </a:r>
                      <a:r>
                        <a:rPr sz="11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на</a:t>
                      </a:r>
                      <a:r>
                        <a:rPr sz="1100" spc="-20" dirty="0">
                          <a:latin typeface="Times New Roman"/>
                          <a:cs typeface="Times New Roman"/>
                        </a:rPr>
                        <a:t> раме</a:t>
                      </a:r>
                      <a:endParaRPr sz="1100" dirty="0">
                        <a:latin typeface="Times New Roman"/>
                        <a:cs typeface="Times New Roman"/>
                      </a:endParaRPr>
                    </a:p>
                    <a:p>
                      <a:pPr marL="194945">
                        <a:lnSpc>
                          <a:spcPct val="100000"/>
                        </a:lnSpc>
                        <a:spcBef>
                          <a:spcPts val="620"/>
                        </a:spcBef>
                      </a:pPr>
                      <a:r>
                        <a:rPr sz="1100" dirty="0">
                          <a:latin typeface="Times New Roman"/>
                          <a:cs typeface="Times New Roman"/>
                        </a:rPr>
                        <a:t>Общая</a:t>
                      </a:r>
                      <a:r>
                        <a:rPr sz="1100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масса</a:t>
                      </a:r>
                      <a:endParaRPr sz="11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46355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6200" algn="ctr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sz="1000" dirty="0">
                          <a:latin typeface="Times New Roman"/>
                          <a:cs typeface="Times New Roman"/>
                        </a:rPr>
                        <a:t>Д</a:t>
                      </a:r>
                      <a:r>
                        <a:rPr sz="10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*</a:t>
                      </a:r>
                      <a:r>
                        <a:rPr sz="1000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Ш</a:t>
                      </a:r>
                      <a:r>
                        <a:rPr sz="10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*</a:t>
                      </a:r>
                      <a:r>
                        <a:rPr sz="10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В:</a:t>
                      </a:r>
                      <a:r>
                        <a:rPr sz="10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3</a:t>
                      </a:r>
                      <a:r>
                        <a:rPr lang="ru-RU" sz="1000" dirty="0">
                          <a:latin typeface="Times New Roman"/>
                          <a:cs typeface="Times New Roman"/>
                        </a:rPr>
                        <a:t>65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0*1</a:t>
                      </a:r>
                      <a:r>
                        <a:rPr lang="ru-RU" sz="1000" dirty="0">
                          <a:latin typeface="Times New Roman"/>
                          <a:cs typeface="Times New Roman"/>
                        </a:rPr>
                        <a:t>000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*</a:t>
                      </a:r>
                      <a:r>
                        <a:rPr lang="ru-RU" sz="1000" dirty="0">
                          <a:latin typeface="Times New Roman"/>
                          <a:cs typeface="Times New Roman"/>
                        </a:rPr>
                        <a:t>224</a:t>
                      </a:r>
                      <a:r>
                        <a:rPr sz="1000" dirty="0">
                          <a:latin typeface="Times New Roman"/>
                          <a:cs typeface="Times New Roman"/>
                        </a:rPr>
                        <a:t>0</a:t>
                      </a:r>
                      <a:r>
                        <a:rPr sz="1000" spc="-20" dirty="0">
                          <a:latin typeface="Times New Roman"/>
                          <a:cs typeface="Times New Roman"/>
                        </a:rPr>
                        <a:t> (мм)</a:t>
                      </a:r>
                      <a:endParaRPr sz="1000" dirty="0">
                        <a:latin typeface="Times New Roman"/>
                        <a:cs typeface="Times New Roman"/>
                      </a:endParaRPr>
                    </a:p>
                    <a:p>
                      <a:pPr marR="82550" algn="ct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2275кг</a:t>
                      </a:r>
                      <a:endParaRPr sz="11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5715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9870">
                <a:tc>
                  <a:txBody>
                    <a:bodyPr/>
                    <a:lstStyle/>
                    <a:p>
                      <a:pPr marL="158115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Внешние</a:t>
                      </a:r>
                      <a:r>
                        <a:rPr sz="11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габариты</a:t>
                      </a:r>
                      <a:r>
                        <a:rPr sz="1100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контейнера</a:t>
                      </a:r>
                      <a:endParaRPr sz="11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17145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80720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sz="1100" dirty="0">
                          <a:latin typeface="Times New Roman"/>
                          <a:cs typeface="Times New Roman"/>
                        </a:rPr>
                        <a:t>Д*Ш*В</a:t>
                      </a:r>
                      <a:r>
                        <a:rPr sz="1100" spc="160" dirty="0">
                          <a:latin typeface="Times New Roman"/>
                          <a:cs typeface="Times New Roman"/>
                        </a:rPr>
                        <a:t>  </a:t>
                      </a: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4</a:t>
                      </a:r>
                      <a:r>
                        <a:rPr lang="ru-RU" sz="1100" spc="-10" dirty="0">
                          <a:latin typeface="Times New Roman"/>
                          <a:cs typeface="Times New Roman"/>
                        </a:rPr>
                        <a:t>0</a:t>
                      </a: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00*2160*2210</a:t>
                      </a:r>
                      <a:endParaRPr sz="11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2032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379">
                <a:tc>
                  <a:txBody>
                    <a:bodyPr/>
                    <a:lstStyle/>
                    <a:p>
                      <a:pPr marL="184150"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r>
                        <a:rPr sz="1100" dirty="0">
                          <a:latin typeface="Times New Roman"/>
                          <a:cs typeface="Times New Roman"/>
                        </a:rPr>
                        <a:t>Общая</a:t>
                      </a:r>
                      <a:r>
                        <a:rPr sz="11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масса</a:t>
                      </a:r>
                      <a:r>
                        <a:rPr sz="11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в</a:t>
                      </a:r>
                      <a:r>
                        <a:rPr sz="11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контейнере</a:t>
                      </a:r>
                      <a:endParaRPr sz="11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3175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6830" algn="ctr">
                        <a:lnSpc>
                          <a:spcPct val="100000"/>
                        </a:lnSpc>
                        <a:spcBef>
                          <a:spcPts val="204"/>
                        </a:spcBef>
                      </a:pP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4350кг</a:t>
                      </a:r>
                      <a:endParaRPr sz="11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26034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3840">
                <a:tc>
                  <a:txBody>
                    <a:bodyPr/>
                    <a:lstStyle/>
                    <a:p>
                      <a:pPr marL="113664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lang="ru-RU" sz="11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-10" dirty="0" err="1">
                          <a:latin typeface="Times New Roman"/>
                          <a:cs typeface="Times New Roman"/>
                        </a:rPr>
                        <a:t>Рекомендуемое</a:t>
                      </a: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 давление</a:t>
                      </a:r>
                      <a:r>
                        <a:rPr sz="11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газа</a:t>
                      </a:r>
                      <a:r>
                        <a:rPr sz="11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на</a:t>
                      </a: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-20" dirty="0">
                          <a:latin typeface="Times New Roman"/>
                          <a:cs typeface="Times New Roman"/>
                        </a:rPr>
                        <a:t>вводе</a:t>
                      </a:r>
                      <a:endParaRPr sz="11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2794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69850" algn="ctr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r>
                        <a:rPr lang="ru-RU" sz="1100" spc="-20" dirty="0">
                          <a:latin typeface="Times New Roman"/>
                          <a:cs typeface="Times New Roman"/>
                        </a:rPr>
                        <a:t>3-</a:t>
                      </a:r>
                      <a:r>
                        <a:rPr sz="1100" spc="-20" dirty="0">
                          <a:latin typeface="Times New Roman"/>
                          <a:cs typeface="Times New Roman"/>
                        </a:rPr>
                        <a:t>5кПа</a:t>
                      </a:r>
                      <a:endParaRPr sz="11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2794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8595">
                <a:tc>
                  <a:txBody>
                    <a:bodyPr/>
                    <a:lstStyle/>
                    <a:p>
                      <a:pPr marL="164465">
                        <a:lnSpc>
                          <a:spcPts val="1215"/>
                        </a:lnSpc>
                      </a:pPr>
                      <a:r>
                        <a:rPr sz="1100" dirty="0">
                          <a:latin typeface="Times New Roman"/>
                          <a:cs typeface="Times New Roman"/>
                        </a:rPr>
                        <a:t>Макс.</a:t>
                      </a:r>
                      <a:r>
                        <a:rPr sz="11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температура</a:t>
                      </a:r>
                      <a:r>
                        <a:rPr sz="11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выхлопных</a:t>
                      </a:r>
                      <a:r>
                        <a:rPr sz="1100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-20" dirty="0">
                          <a:latin typeface="Times New Roman"/>
                          <a:cs typeface="Times New Roman"/>
                        </a:rPr>
                        <a:t>газов</a:t>
                      </a:r>
                      <a:endParaRPr sz="11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715" algn="ctr">
                        <a:lnSpc>
                          <a:spcPts val="1300"/>
                        </a:lnSpc>
                      </a:pPr>
                      <a:r>
                        <a:rPr lang="ru-RU" sz="1100" spc="-10" dirty="0">
                          <a:latin typeface="Times New Roman"/>
                          <a:cs typeface="Times New Roman"/>
                        </a:rPr>
                        <a:t>58</a:t>
                      </a: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0</a:t>
                      </a:r>
                      <a:r>
                        <a:rPr sz="1100" spc="-10" dirty="0">
                          <a:latin typeface="Cambria Math"/>
                          <a:cs typeface="Cambria Math"/>
                        </a:rPr>
                        <a:t>℃</a:t>
                      </a: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±25</a:t>
                      </a:r>
                      <a:endParaRPr sz="11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8285">
                <a:tc>
                  <a:txBody>
                    <a:bodyPr/>
                    <a:lstStyle/>
                    <a:p>
                      <a:pPr marL="146050">
                        <a:lnSpc>
                          <a:spcPts val="1275"/>
                        </a:lnSpc>
                      </a:pPr>
                      <a:r>
                        <a:rPr sz="1100" dirty="0">
                          <a:latin typeface="Times New Roman"/>
                          <a:cs typeface="Times New Roman"/>
                        </a:rPr>
                        <a:t>Точка</a:t>
                      </a:r>
                      <a:r>
                        <a:rPr sz="11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ввода</a:t>
                      </a:r>
                      <a:r>
                        <a:rPr sz="1100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dirty="0">
                          <a:latin typeface="Times New Roman"/>
                          <a:cs typeface="Times New Roman"/>
                        </a:rPr>
                        <a:t>газа,</a:t>
                      </a:r>
                      <a:r>
                        <a:rPr sz="1100" spc="2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100" spc="-10" dirty="0">
                          <a:latin typeface="Times New Roman"/>
                          <a:cs typeface="Times New Roman"/>
                        </a:rPr>
                        <a:t>диаметр</a:t>
                      </a: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3175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54610" algn="ctr">
                        <a:lnSpc>
                          <a:spcPct val="100000"/>
                        </a:lnSpc>
                        <a:spcBef>
                          <a:spcPts val="229"/>
                        </a:spcBef>
                      </a:pPr>
                      <a:r>
                        <a:rPr sz="1100" spc="-20" dirty="0">
                          <a:latin typeface="Times New Roman"/>
                          <a:cs typeface="Times New Roman"/>
                        </a:rPr>
                        <a:t>DN50</a:t>
                      </a:r>
                      <a:endParaRPr sz="11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29209" marB="0">
                    <a:lnL w="6350">
                      <a:solidFill>
                        <a:srgbClr val="000000"/>
                      </a:solidFill>
                      <a:prstDash val="solid"/>
                    </a:lnL>
                    <a:lnR w="3175">
                      <a:solidFill>
                        <a:srgbClr val="000000"/>
                      </a:solidFill>
                      <a:prstDash val="solid"/>
                    </a:lnR>
                    <a:lnT w="3175">
                      <a:solidFill>
                        <a:srgbClr val="000000"/>
                      </a:solidFill>
                      <a:prstDash val="solid"/>
                    </a:lnT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4" name="object 4">
            <a:extLst>
              <a:ext uri="{FF2B5EF4-FFF2-40B4-BE49-F238E27FC236}">
                <a16:creationId xmlns:a16="http://schemas.microsoft.com/office/drawing/2014/main" id="{C5AA7B4C-274F-41CB-9C8A-23965B6A6B11}"/>
              </a:ext>
            </a:extLst>
          </p:cNvPr>
          <p:cNvSpPr txBox="1"/>
          <p:nvPr/>
        </p:nvSpPr>
        <p:spPr>
          <a:xfrm>
            <a:off x="234950" y="5689989"/>
            <a:ext cx="6934200" cy="265072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3845" indent="-268605">
              <a:lnSpc>
                <a:spcPct val="100000"/>
              </a:lnSpc>
              <a:spcBef>
                <a:spcPts val="100"/>
              </a:spcBef>
              <a:buFont typeface="Times New Roman"/>
              <a:buAutoNum type="arabicPeriod" startAt="4"/>
              <a:tabLst>
                <a:tab pos="283845" algn="l"/>
              </a:tabLst>
            </a:pPr>
            <a:r>
              <a:rPr sz="1200" b="1" spc="-10" dirty="0">
                <a:latin typeface="Times New Roman"/>
                <a:cs typeface="Times New Roman"/>
              </a:rPr>
              <a:t>ГАРАНТИЙНЫЕ</a:t>
            </a:r>
            <a:r>
              <a:rPr sz="1200" b="1" spc="-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ОБЯЗАТЕЛЬСТВА</a:t>
            </a:r>
            <a:endParaRPr sz="12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85"/>
              </a:spcBef>
              <a:buFont typeface="Times New Roman"/>
              <a:buAutoNum type="arabicPeriod" startAt="4"/>
            </a:pPr>
            <a:endParaRPr sz="1200" dirty="0">
              <a:latin typeface="Times New Roman"/>
              <a:cs typeface="Times New Roman"/>
            </a:endParaRPr>
          </a:p>
          <a:p>
            <a:pPr marL="259079" marR="244475" lvl="1" indent="-247015" algn="just">
              <a:lnSpc>
                <a:spcPct val="123800"/>
              </a:lnSpc>
              <a:spcBef>
                <a:spcPts val="5"/>
              </a:spcBef>
              <a:buAutoNum type="arabicPeriod"/>
              <a:tabLst>
                <a:tab pos="259079" algn="l"/>
              </a:tabLst>
            </a:pPr>
            <a:r>
              <a:rPr sz="1200" spc="-10" dirty="0">
                <a:latin typeface="Times New Roman"/>
                <a:cs typeface="Times New Roman"/>
              </a:rPr>
              <a:t>Предприятие-изготовитель</a:t>
            </a:r>
            <a:r>
              <a:rPr sz="1200" dirty="0">
                <a:latin typeface="Times New Roman"/>
                <a:cs typeface="Times New Roman"/>
              </a:rPr>
              <a:t> гарантирует </a:t>
            </a:r>
            <a:r>
              <a:rPr sz="1200" dirty="0" err="1">
                <a:latin typeface="Times New Roman"/>
                <a:cs typeface="Times New Roman"/>
              </a:rPr>
              <a:t>соответствие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lang="ru-RU" sz="1200" spc="-10" dirty="0">
                <a:latin typeface="Times New Roman"/>
                <a:cs typeface="Times New Roman"/>
              </a:rPr>
              <a:t>ГПУ-250</a:t>
            </a:r>
            <a:r>
              <a:rPr sz="1200" spc="-10" dirty="0">
                <a:latin typeface="Times New Roman"/>
                <a:cs typeface="Times New Roman"/>
              </a:rPr>
              <a:t> нормативной документации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при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соблюдении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правил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транспортирования,</a:t>
            </a:r>
            <a:r>
              <a:rPr sz="1200" dirty="0">
                <a:latin typeface="Times New Roman"/>
                <a:cs typeface="Times New Roman"/>
              </a:rPr>
              <a:t> хранения, </a:t>
            </a:r>
            <a:r>
              <a:rPr sz="1200" spc="-10" dirty="0">
                <a:latin typeface="Times New Roman"/>
                <a:cs typeface="Times New Roman"/>
              </a:rPr>
              <a:t>монтажа, </a:t>
            </a:r>
            <a:r>
              <a:rPr sz="1200" dirty="0">
                <a:latin typeface="Times New Roman"/>
                <a:cs typeface="Times New Roman"/>
              </a:rPr>
              <a:t>эксплуатации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и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 err="1">
                <a:latin typeface="Times New Roman"/>
                <a:cs typeface="Times New Roman"/>
              </a:rPr>
              <a:t>обслуживания</a:t>
            </a:r>
            <a:r>
              <a:rPr sz="1200" spc="-10" dirty="0">
                <a:latin typeface="Times New Roman"/>
                <a:cs typeface="Times New Roman"/>
              </a:rPr>
              <a:t>.</a:t>
            </a:r>
            <a:endParaRPr sz="1200" dirty="0">
              <a:latin typeface="Times New Roman"/>
              <a:cs typeface="Times New Roman"/>
            </a:endParaRPr>
          </a:p>
          <a:p>
            <a:pPr marL="15875" marR="5080" lvl="1" indent="255588">
              <a:lnSpc>
                <a:spcPts val="1430"/>
              </a:lnSpc>
              <a:buAutoNum type="arabicPeriod"/>
              <a:tabLst>
                <a:tab pos="17145" algn="l"/>
                <a:tab pos="284480" algn="l"/>
              </a:tabLst>
            </a:pPr>
            <a:r>
              <a:rPr sz="1200" dirty="0">
                <a:latin typeface="Times New Roman"/>
                <a:cs typeface="Times New Roman"/>
              </a:rPr>
              <a:t>Гарантийный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срок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хранения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-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12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месяца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со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дня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изготовления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до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ввода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в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 err="1">
                <a:latin typeface="Times New Roman"/>
                <a:cs typeface="Times New Roman"/>
              </a:rPr>
              <a:t>эксплуата</a:t>
            </a:r>
            <a:r>
              <a:rPr sz="1200" spc="-20" dirty="0" err="1">
                <a:latin typeface="Times New Roman"/>
                <a:cs typeface="Times New Roman"/>
              </a:rPr>
              <a:t>цию</a:t>
            </a:r>
            <a:r>
              <a:rPr sz="1200" spc="-20" dirty="0">
                <a:latin typeface="Times New Roman"/>
                <a:cs typeface="Times New Roman"/>
              </a:rPr>
              <a:t>.</a:t>
            </a:r>
            <a:endParaRPr sz="1200" dirty="0">
              <a:latin typeface="Times New Roman"/>
              <a:cs typeface="Times New Roman"/>
            </a:endParaRPr>
          </a:p>
          <a:p>
            <a:pPr marL="271463" marR="288925" lvl="1" indent="-85725">
              <a:lnSpc>
                <a:spcPct val="123300"/>
              </a:lnSpc>
              <a:spcBef>
                <a:spcPts val="335"/>
              </a:spcBef>
              <a:buAutoNum type="arabicPeriod"/>
              <a:tabLst>
                <a:tab pos="18415" algn="l"/>
                <a:tab pos="272415" algn="l"/>
              </a:tabLst>
            </a:pPr>
            <a:r>
              <a:rPr sz="1200" spc="-10" dirty="0">
                <a:latin typeface="Times New Roman"/>
                <a:cs typeface="Times New Roman"/>
              </a:rPr>
              <a:t>Гарантийный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срок</a:t>
            </a:r>
            <a:r>
              <a:rPr sz="1200" spc="-10" dirty="0">
                <a:latin typeface="Times New Roman"/>
                <a:cs typeface="Times New Roman"/>
              </a:rPr>
              <a:t> эксплуатации</a:t>
            </a:r>
            <a:r>
              <a:rPr sz="1200" dirty="0">
                <a:latin typeface="Times New Roman"/>
                <a:cs typeface="Times New Roman"/>
              </a:rPr>
              <a:t> 12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месяца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со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дня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ввода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в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10" dirty="0" err="1">
                <a:latin typeface="Times New Roman"/>
                <a:cs typeface="Times New Roman"/>
              </a:rPr>
              <a:t>эксплуатацию</a:t>
            </a:r>
            <a:r>
              <a:rPr lang="ru-RU" sz="1200" spc="-10" dirty="0">
                <a:latin typeface="Times New Roman"/>
                <a:cs typeface="Times New Roman"/>
              </a:rPr>
              <a:t> или 1500 моточасов, в зависимости от того, что наступит раньше,</a:t>
            </a:r>
            <a:r>
              <a:rPr sz="1200" dirty="0">
                <a:latin typeface="Times New Roman"/>
                <a:cs typeface="Times New Roman"/>
              </a:rPr>
              <a:t> но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не </a:t>
            </a:r>
            <a:r>
              <a:rPr sz="1200" dirty="0" err="1">
                <a:latin typeface="Times New Roman"/>
                <a:cs typeface="Times New Roman"/>
              </a:rPr>
              <a:t>более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lang="ru-RU" sz="1200" spc="-35" dirty="0">
                <a:latin typeface="Times New Roman"/>
                <a:cs typeface="Times New Roman"/>
              </a:rPr>
              <a:t>18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месяцев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с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 err="1">
                <a:latin typeface="Times New Roman"/>
                <a:cs typeface="Times New Roman"/>
              </a:rPr>
              <a:t>даты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 err="1">
                <a:latin typeface="Times New Roman"/>
                <a:cs typeface="Times New Roman"/>
              </a:rPr>
              <a:t>изготовления</a:t>
            </a:r>
            <a:r>
              <a:rPr sz="1200" spc="-10" dirty="0">
                <a:latin typeface="Times New Roman"/>
                <a:cs typeface="Times New Roman"/>
              </a:rPr>
              <a:t>.</a:t>
            </a:r>
            <a:endParaRPr sz="1200" dirty="0">
              <a:latin typeface="Times New Roman"/>
              <a:cs typeface="Times New Roman"/>
            </a:endParaRPr>
          </a:p>
          <a:p>
            <a:pPr marL="275590" lvl="1" indent="-261620">
              <a:lnSpc>
                <a:spcPct val="100000"/>
              </a:lnSpc>
              <a:spcBef>
                <a:spcPts val="360"/>
              </a:spcBef>
              <a:buAutoNum type="arabicPeriod"/>
              <a:tabLst>
                <a:tab pos="275590" algn="l"/>
              </a:tabLst>
            </a:pPr>
            <a:r>
              <a:rPr sz="1200" spc="-10" dirty="0">
                <a:latin typeface="Times New Roman"/>
                <a:cs typeface="Times New Roman"/>
              </a:rPr>
              <a:t>Нормативный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срок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10" dirty="0" err="1">
                <a:latin typeface="Times New Roman"/>
                <a:cs typeface="Times New Roman"/>
              </a:rPr>
              <a:t>службы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lang="ru-RU" sz="1200" spc="-10" dirty="0">
                <a:latin typeface="Times New Roman"/>
                <a:cs typeface="Times New Roman"/>
              </a:rPr>
              <a:t>ГПУ-250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составляет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не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менее: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15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лет </a:t>
            </a:r>
            <a:r>
              <a:rPr sz="1200" spc="-50" dirty="0">
                <a:latin typeface="Times New Roman"/>
                <a:cs typeface="Times New Roman"/>
              </a:rPr>
              <a:t>.</a:t>
            </a:r>
            <a:endParaRPr sz="1200" dirty="0">
              <a:latin typeface="Times New Roman"/>
              <a:cs typeface="Times New Roman"/>
            </a:endParaRPr>
          </a:p>
          <a:p>
            <a:pPr marL="259079" marR="128270" lvl="1" indent="-247015">
              <a:lnSpc>
                <a:spcPct val="113700"/>
              </a:lnSpc>
              <a:spcBef>
                <a:spcPts val="225"/>
              </a:spcBef>
              <a:buAutoNum type="arabicPeriod"/>
              <a:tabLst>
                <a:tab pos="259079" algn="l"/>
              </a:tabLst>
            </a:pPr>
            <a:r>
              <a:rPr sz="1200" dirty="0">
                <a:latin typeface="Times New Roman"/>
                <a:cs typeface="Times New Roman"/>
              </a:rPr>
              <a:t>Гарантия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не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предусматривает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возмещение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материального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ущерба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или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травм,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 err="1">
                <a:latin typeface="Times New Roman"/>
                <a:cs typeface="Times New Roman"/>
              </a:rPr>
              <a:t>связанных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с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 err="1">
                <a:latin typeface="Times New Roman"/>
                <a:cs typeface="Times New Roman"/>
              </a:rPr>
              <a:t>эксплуатацией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lang="ru-RU" sz="1200" spc="-10" dirty="0">
                <a:latin typeface="Times New Roman"/>
                <a:cs typeface="Times New Roman"/>
              </a:rPr>
              <a:t>ГПУ-250</a:t>
            </a:r>
            <a:r>
              <a:rPr sz="1200" dirty="0">
                <a:latin typeface="Times New Roman"/>
                <a:cs typeface="Times New Roman"/>
              </a:rPr>
              <a:t>.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Гарантийному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ремонту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не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подлежат </a:t>
            </a:r>
            <a:r>
              <a:rPr sz="1200" dirty="0">
                <a:latin typeface="Times New Roman"/>
                <a:cs typeface="Times New Roman"/>
              </a:rPr>
              <a:t>поломки,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возникшие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по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причине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неправильного,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монтажа,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 err="1">
                <a:latin typeface="Times New Roman"/>
                <a:cs typeface="Times New Roman"/>
              </a:rPr>
              <a:t>эксплуатации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25" dirty="0" err="1">
                <a:latin typeface="Times New Roman"/>
                <a:cs typeface="Times New Roman"/>
              </a:rPr>
              <a:t>или</a:t>
            </a:r>
            <a:r>
              <a:rPr lang="ru-RU" sz="1200" spc="-25" dirty="0">
                <a:latin typeface="Times New Roman"/>
                <a:cs typeface="Times New Roman"/>
              </a:rPr>
              <a:t> </a:t>
            </a:r>
            <a:r>
              <a:rPr sz="1200" dirty="0" err="1">
                <a:latin typeface="Times New Roman"/>
                <a:cs typeface="Times New Roman"/>
              </a:rPr>
              <a:t>размещения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lang="ru-RU" sz="1200" spc="-10" dirty="0">
                <a:latin typeface="Times New Roman"/>
                <a:cs typeface="Times New Roman"/>
              </a:rPr>
              <a:t>ГПУ-250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в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месте,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непригодном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для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эксплуатации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50" dirty="0">
                <a:latin typeface="Times New Roman"/>
                <a:cs typeface="Times New Roman"/>
              </a:rPr>
              <a:t>.</a:t>
            </a:r>
            <a:endParaRPr sz="12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9565183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640</TotalTime>
  <Words>1346</Words>
  <Application>Microsoft Office PowerPoint</Application>
  <PresentationFormat>Произвольный</PresentationFormat>
  <Paragraphs>291</Paragraphs>
  <Slides>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10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17" baseType="lpstr">
      <vt:lpstr>DengXian</vt:lpstr>
      <vt:lpstr>Arial MT</vt:lpstr>
      <vt:lpstr>Calibri</vt:lpstr>
      <vt:lpstr>Cambria Math</vt:lpstr>
      <vt:lpstr>Microsoft Sans Serif</vt:lpstr>
      <vt:lpstr>Segoe UI</vt:lpstr>
      <vt:lpstr>Times New Roman</vt:lpstr>
      <vt:lpstr>Trebuchet MS</vt:lpstr>
      <vt:lpstr>Verdana</vt:lpstr>
      <vt:lpstr>Wingdings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pav</dc:creator>
  <cp:lastModifiedBy>manager5</cp:lastModifiedBy>
  <cp:revision>50</cp:revision>
  <dcterms:created xsi:type="dcterms:W3CDTF">2025-09-25T10:34:58Z</dcterms:created>
  <dcterms:modified xsi:type="dcterms:W3CDTF">2025-10-10T10:15:17Z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2025-09-25T00:00:00Z</vt:filetime>
  </property>
  <property fmtid="{D5CDD505-2E9C-101B-9397-08002B2CF9AE}" pid="3" name="Creator">
    <vt:lpwstr>Microsoft® PowerPoint® 2019</vt:lpwstr>
  </property>
  <property fmtid="{D5CDD505-2E9C-101B-9397-08002B2CF9AE}" pid="4" name="LastSaved">
    <vt:filetime>2025-09-25T00:00:00Z</vt:filetime>
  </property>
  <property fmtid="{D5CDD505-2E9C-101B-9397-08002B2CF9AE}" pid="5" name="Producer">
    <vt:lpwstr>Microsoft® PowerPoint® 2019</vt:lpwstr>
  </property>
</Properties>
</file>