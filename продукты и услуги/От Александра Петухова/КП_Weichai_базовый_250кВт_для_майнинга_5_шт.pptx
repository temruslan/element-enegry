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2" autoAdjust="0"/>
  </p:normalViewPr>
  <p:slideViewPr>
    <p:cSldViewPr>
      <p:cViewPr>
        <p:scale>
          <a:sx n="80" d="100"/>
          <a:sy n="80" d="100"/>
        </p:scale>
        <p:origin x="1938" y="-6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1132"/>
            <a:ext cx="7556500" cy="7574280"/>
            <a:chOff x="0" y="2961132"/>
            <a:chExt cx="7556500" cy="7574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4428"/>
              <a:ext cx="4395470" cy="3997325"/>
            </a:xfrm>
            <a:custGeom>
              <a:avLst/>
              <a:gdLst/>
              <a:ahLst/>
              <a:cxnLst/>
              <a:rect l="l" t="t" r="r" b="b"/>
              <a:pathLst>
                <a:path w="4395470" h="3997325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244340"/>
              <a:ext cx="73151" cy="77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6971" y="1863979"/>
            <a:ext cx="7292468" cy="103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5" dirty="0" err="1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lang="ru-RU" sz="1600" b="1" spc="-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Weichai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номинальной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мощностью</a:t>
            </a:r>
            <a:endParaRPr lang="ru-RU" sz="1600" b="1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250кВт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открытого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исполнения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специально адаптированную для майнинга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</a:t>
            </a:r>
            <a:endParaRPr sz="10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sz="1000"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36.000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Без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дерейта.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33%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(против 28%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F1F1F1"/>
                </a:solidFill>
                <a:latin typeface="Microsoft Sans Serif"/>
                <a:cs typeface="Microsoft Sans Serif"/>
              </a:rPr>
              <a:t>WP13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sz="1000" spc="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точностью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1%,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sz="1000" spc="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19700"/>
            <a:ext cx="81280" cy="1525905"/>
            <a:chOff x="149352" y="5219700"/>
            <a:chExt cx="81280" cy="152590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2" y="6039612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2" y="5219700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6667500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103568"/>
              </p:ext>
            </p:extLst>
          </p:nvPr>
        </p:nvGraphicFramePr>
        <p:xfrm>
          <a:off x="1" y="171450"/>
          <a:ext cx="7435848" cy="8736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9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Количество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56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11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156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210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210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182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652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 юаней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6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330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двигателя 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158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14761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9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6057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60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0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812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20812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20812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10595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464703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</a:t>
                      </a:r>
                      <a:r>
                        <a:rPr lang="ru-RU" sz="1200" spc="-1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spc="-50" dirty="0">
                          <a:latin typeface="Microsoft Sans Serif"/>
                          <a:cs typeface="Microsoft Sans Serif"/>
                        </a:rPr>
                        <a:t>38 000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914701"/>
                  </a:ext>
                </a:extLst>
              </a:tr>
              <a:tr h="2119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lang="ru-RU"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lang="ru-RU"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 err="1">
                          <a:latin typeface="Microsoft Sans Serif"/>
                          <a:cs typeface="Microsoft Sans Serif"/>
                        </a:rPr>
                        <a:t>долива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масла с баком на 20 л и дополнительным внешним датчиком уровня масла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</a:t>
                      </a: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316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b="0" i="0" u="none" strike="noStrike" baseline="0" dirty="0">
                          <a:solidFill>
                            <a:srgbClr val="000000"/>
                          </a:solidFill>
                          <a:latin typeface="Microsoft Sans Serif" panose="020B0604020202020204" pitchFamily="34" charset="0"/>
                        </a:rPr>
                        <a:t>Строительно-монтажные работы</a:t>
                      </a:r>
                    </a:p>
                    <a:p>
                      <a:r>
                        <a:rPr lang="ru-RU" sz="1200" b="0" i="0" u="none" strike="noStrike" baseline="0" dirty="0">
                          <a:solidFill>
                            <a:srgbClr val="000000"/>
                          </a:solidFill>
                          <a:latin typeface="Microsoft Sans Serif" panose="020B0604020202020204" pitchFamily="34" charset="0"/>
                        </a:rPr>
                        <a:t> + </a:t>
                      </a:r>
                      <a:r>
                        <a:rPr lang="ru-RU" sz="1200" b="0" i="0" u="none" strike="noStrike" baseline="0" dirty="0" err="1">
                          <a:solidFill>
                            <a:srgbClr val="000000"/>
                          </a:solidFill>
                          <a:latin typeface="Microsoft Sans Serif" panose="020B0604020202020204" pitchFamily="34" charset="0"/>
                        </a:rPr>
                        <a:t>Пуско-наладочныеработы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</a:t>
                      </a: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425 000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797967"/>
                  </a:ext>
                </a:extLst>
              </a:tr>
              <a:tr h="11303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Итого, руб. с НДС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5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шт.</a:t>
                      </a: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26 165 000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5468571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Срок поставки до 90 дней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957870"/>
                  </a:ext>
                </a:extLst>
              </a:tr>
            </a:tbl>
          </a:graphicData>
        </a:graphic>
      </p:graphicFrame>
      <p:sp>
        <p:nvSpPr>
          <p:cNvPr id="3" name="object 6"/>
          <p:cNvSpPr txBox="1"/>
          <p:nvPr/>
        </p:nvSpPr>
        <p:spPr>
          <a:xfrm>
            <a:off x="273050" y="9772650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400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301458" y="9144765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 err="1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45873"/>
              </p:ext>
            </p:extLst>
          </p:nvPr>
        </p:nvGraphicFramePr>
        <p:xfrm>
          <a:off x="120649" y="171450"/>
          <a:ext cx="7315199" cy="88189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Возможные опции к ГПУ-250кВт </a:t>
                      </a:r>
                      <a:r>
                        <a:rPr lang="ru-RU" sz="14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4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: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02023"/>
                  </a:ext>
                </a:extLst>
              </a:tr>
              <a:tr h="579958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</a:t>
                      </a:r>
                      <a:r>
                        <a:rPr lang="ru-RU" sz="1200" b="0" dirty="0" err="1">
                          <a:latin typeface="Microsoft Sans Serif"/>
                          <a:cs typeface="Microsoft Sans Serif"/>
                        </a:rPr>
                        <a:t>интеркулера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 и охлаждающей жидкости 250кВт с автоматикой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43488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250кВт с автоматикой</a:t>
                      </a:r>
                    </a:p>
                    <a:p>
                      <a:pPr marL="92075" indent="0"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3064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интеркулера и охлаждающей жидкости 250кВт с автоматикой</a:t>
                      </a:r>
                    </a:p>
                    <a:p>
                      <a:pPr marL="92075" indent="0"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4296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Интеркулер вода-воздух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06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Промежуточный охладитель рубашки двигателя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1039"/>
                  </a:ext>
                </a:extLst>
              </a:tr>
              <a:tr h="379534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Шкаф параллельной работы 1250А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53939"/>
                  </a:ext>
                </a:extLst>
              </a:tr>
              <a:tr h="34032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АВР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Delixi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(автоматический ввод резерва) 630A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37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глушитель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54994"/>
                  </a:ext>
                </a:extLst>
              </a:tr>
              <a:tr h="16007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тепла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8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641023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099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4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111195"/>
                  </a:ext>
                </a:extLst>
              </a:tr>
              <a:tr h="165259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60 воздушных асиков</a:t>
                      </a:r>
                    </a:p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4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40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водоохлаждаемых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с градирней</a:t>
                      </a:r>
                    </a:p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3 450 000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36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Проектные работы 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2-5% от стоимости счета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8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5%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298597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5-10%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74335">
                <a:tc gridSpan="2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56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r>
              <a:rPr sz="16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</a:t>
            </a:r>
            <a:r>
              <a:rPr sz="1600" spc="-4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3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самое</a:t>
            </a:r>
            <a:r>
              <a:rPr lang="ru-RU" sz="16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чувство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когда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ты</a:t>
            </a:r>
            <a:r>
              <a:rPr sz="1600" spc="-4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круче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всех</a:t>
            </a:r>
            <a:r>
              <a:rPr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1600" spc="-3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</a:t>
            </a:r>
            <a:r>
              <a:rPr sz="1600" spc="-3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тебя</a:t>
            </a:r>
            <a:r>
              <a:rPr lang="ru-RU"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1600" spc="-3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Нами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ё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получится!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0" dirty="0" err="1">
                <a:latin typeface="Verdana"/>
                <a:cs typeface="Verdana"/>
              </a:rPr>
              <a:t>вот</a:t>
            </a:r>
            <a:r>
              <a:rPr sz="1600" spc="-490" dirty="0">
                <a:latin typeface="Verdana"/>
                <a:cs typeface="Verdana"/>
              </a:rPr>
              <a:t> </a:t>
            </a:r>
            <a:r>
              <a:rPr lang="ru-RU" sz="1600" spc="-490" dirty="0">
                <a:latin typeface="Verdana"/>
                <a:cs typeface="Verdana"/>
              </a:rPr>
              <a:t> </a:t>
            </a:r>
            <a:r>
              <a:rPr sz="1600" spc="-10" dirty="0" err="1">
                <a:latin typeface="Verdana"/>
                <a:cs typeface="Verdana"/>
              </a:rPr>
              <a:t>почему</a:t>
            </a:r>
            <a:r>
              <a:rPr sz="1600" spc="-10" dirty="0">
                <a:latin typeface="Verdana"/>
                <a:cs typeface="Verdana"/>
              </a:rPr>
              <a:t>:</a:t>
            </a:r>
            <a:br>
              <a:rPr lang="ru-RU" sz="1600" dirty="0">
                <a:latin typeface="Verdana"/>
                <a:cs typeface="Verdana"/>
              </a:rPr>
            </a:b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	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</a:t>
            </a:r>
            <a:r>
              <a:rPr sz="1400" dirty="0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альтернаторе,</a:t>
            </a:r>
            <a:endParaRPr sz="1400" dirty="0">
              <a:latin typeface="Verdana"/>
              <a:cs typeface="Verdana"/>
            </a:endParaRPr>
          </a:p>
          <a:p>
            <a:pPr marL="299085" marR="42989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Увеличенная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постоянная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210кВт</a:t>
            </a:r>
            <a:endParaRPr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базовых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200кВт),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уменьшения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6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счет</a:t>
            </a:r>
            <a:endParaRPr sz="1400" dirty="0">
              <a:latin typeface="Verdana"/>
              <a:cs typeface="Verdana"/>
            </a:endParaRPr>
          </a:p>
          <a:p>
            <a:pPr marL="299085" marR="110109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</a:t>
            </a:r>
            <a:endParaRPr lang="ru-RU"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7556500" cy="4096047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0967"/>
              </p:ext>
            </p:extLst>
          </p:nvPr>
        </p:nvGraphicFramePr>
        <p:xfrm>
          <a:off x="273050" y="4191297"/>
          <a:ext cx="6934200" cy="6239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Квт/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315,5</a:t>
                      </a:r>
                      <a:r>
                        <a:rPr lang="ru-RU" sz="105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Резервная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275кВт/342,5кВа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3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US" sz="1050" spc="-10">
                          <a:latin typeface="Times New Roman"/>
                          <a:cs typeface="Times New Roman"/>
                        </a:rPr>
                        <a:t>Deepsea 7320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Инженерная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Двигатель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60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345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483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КПа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57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78002"/>
              </p:ext>
            </p:extLst>
          </p:nvPr>
        </p:nvGraphicFramePr>
        <p:xfrm>
          <a:off x="273050" y="126491"/>
          <a:ext cx="6934200" cy="16332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Связь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9465" algn="ctr">
                        <a:lnSpc>
                          <a:spcPts val="1195"/>
                        </a:lnSpc>
                      </a:pPr>
                      <a:r>
                        <a:rPr lang="ru-RU" sz="1050" spc="-3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фазный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575" spc="-22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проводной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32974"/>
              </p:ext>
            </p:extLst>
          </p:nvPr>
        </p:nvGraphicFramePr>
        <p:xfrm>
          <a:off x="273050" y="1847850"/>
          <a:ext cx="6858000" cy="2679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sz="1575" baseline="2645" dirty="0" err="1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00*2160*2210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Рекомендуемое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15570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холостом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ходу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273050" y="4615054"/>
            <a:ext cx="6934200" cy="292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обслуживания.</a:t>
            </a:r>
            <a:endParaRPr sz="12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15"/>
              </a:spcBef>
              <a:buAutoNum type="arabicPeriod"/>
            </a:pPr>
            <a:endParaRPr sz="1200" dirty="0">
              <a:latin typeface="Times New Roman"/>
              <a:cs typeface="Times New Roman"/>
            </a:endParaRPr>
          </a:p>
          <a:p>
            <a:pPr marL="17145" marR="5080" lvl="1" indent="-5080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8415" marR="288925" lvl="1" indent="-6350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18415" algn="l"/>
                <a:tab pos="272415" algn="l"/>
              </a:tabLst>
            </a:pPr>
            <a:r>
              <a:rPr sz="1200" spc="-10" dirty="0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Words>1141</Words>
  <Application>Microsoft Office PowerPoint</Application>
  <PresentationFormat>Произвольный</PresentationFormat>
  <Paragraphs>280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pav</cp:lastModifiedBy>
  <cp:revision>42</cp:revision>
  <dcterms:created xsi:type="dcterms:W3CDTF">2025-09-25T10:34:58Z</dcterms:created>
  <dcterms:modified xsi:type="dcterms:W3CDTF">2025-09-29T14:23:17Z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