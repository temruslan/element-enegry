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62" r:id="rId5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/>
  </p:normalViewPr>
  <p:slideViewPr>
    <p:cSldViewPr>
      <p:cViewPr>
        <p:scale>
          <a:sx n="90" d="100"/>
          <a:sy n="90" d="100"/>
        </p:scale>
        <p:origin x="1930" y="-1891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5655" y="357886"/>
            <a:ext cx="6520815" cy="6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0942"/>
            <a:ext cx="680085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0768"/>
            <a:ext cx="2418080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2766" y="6569075"/>
            <a:ext cx="2324527" cy="39663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-98676" y="1866295"/>
            <a:ext cx="7735394" cy="10708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КОММЕРЧЕСКОЕ</a:t>
            </a:r>
            <a:r>
              <a:rPr lang="ru-RU" sz="1600" b="1" spc="-3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ПРЕДЛОЖЕНИЕ н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а </a:t>
            </a:r>
            <a:b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ГПУ </a:t>
            </a:r>
            <a:r>
              <a:rPr lang="en-US" sz="1600" b="1" spc="-1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/>
              </a:rPr>
              <a:t>Weichai</a:t>
            </a:r>
            <a:r>
              <a:rPr lang="ru-RU" sz="1600" b="1" spc="-10" dirty="0">
                <a:latin typeface="Verdana" panose="020B0604030504040204" pitchFamily="34" charset="0"/>
                <a:ea typeface="Verdana" panose="020B0604030504040204" pitchFamily="34" charset="0"/>
                <a:cs typeface="Microsoft Sans Serif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номинальной 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мощностью</a:t>
            </a:r>
            <a: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400кВт</a:t>
            </a:r>
            <a: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b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открытого</a:t>
            </a:r>
            <a:r>
              <a:rPr lang="ru-RU" sz="1600" b="1" spc="-5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исполнения</a:t>
            </a:r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66675" algn="ctr">
              <a:lnSpc>
                <a:spcPct val="100000"/>
              </a:lnSpc>
              <a:spcBef>
                <a:spcPts val="90"/>
              </a:spcBef>
            </a:pPr>
            <a:r>
              <a:rPr lang="ru-RU" sz="20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2315" y="186093"/>
            <a:ext cx="7661258" cy="7652922"/>
            <a:chOff x="0" y="-1003638"/>
            <a:chExt cx="7661258" cy="6974206"/>
          </a:xfrm>
        </p:grpSpPr>
        <p:sp>
          <p:nvSpPr>
            <p:cNvPr id="7" name="object 7"/>
            <p:cNvSpPr/>
            <p:nvPr/>
          </p:nvSpPr>
          <p:spPr>
            <a:xfrm>
              <a:off x="0" y="1946913"/>
              <a:ext cx="4398010" cy="3643957"/>
            </a:xfrm>
            <a:custGeom>
              <a:avLst/>
              <a:gdLst/>
              <a:ahLst/>
              <a:cxnLst/>
              <a:rect l="l" t="t" r="r" b="b"/>
              <a:pathLst>
                <a:path w="4398010" h="3489960">
                  <a:moveTo>
                    <a:pt x="4398010" y="0"/>
                  </a:moveTo>
                  <a:lnTo>
                    <a:pt x="0" y="0"/>
                  </a:lnTo>
                  <a:lnTo>
                    <a:pt x="0" y="3489578"/>
                  </a:lnTo>
                  <a:lnTo>
                    <a:pt x="4398010" y="3489578"/>
                  </a:lnTo>
                  <a:lnTo>
                    <a:pt x="4398010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1850" y="1605832"/>
              <a:ext cx="3785615" cy="43647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091" y="1525870"/>
              <a:ext cx="3630167" cy="4066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4771" y="-1003638"/>
              <a:ext cx="210311" cy="2072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5250" y="-682616"/>
              <a:ext cx="179831" cy="1767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5251" y="-395849"/>
              <a:ext cx="179831" cy="1798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046" y="2694942"/>
              <a:ext cx="73152" cy="7010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737710" y="247901"/>
            <a:ext cx="2139950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РФ,</a:t>
            </a:r>
            <a:r>
              <a:rPr lang="ru-RU" sz="900" spc="-10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РМЭ,</a:t>
            </a:r>
            <a:r>
              <a:rPr lang="ru-RU" sz="900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Йошкар-Ола, б-р</a:t>
            </a:r>
            <a:r>
              <a:rPr lang="ru-RU" sz="900" spc="-15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Победы,</a:t>
            </a:r>
            <a:r>
              <a:rPr lang="ru-RU" sz="900" spc="-15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д.15</a:t>
            </a:r>
            <a:endParaRPr lang="ru-RU" sz="900" dirty="0">
              <a:latin typeface="+mn-lt"/>
              <a:ea typeface="Segoe UI Emoji" panose="020B0502040204020203" pitchFamily="34" charset="0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50410" y="559047"/>
            <a:ext cx="1175412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900" dirty="0">
                <a:latin typeface="Segoe UI"/>
                <a:cs typeface="Segoe UI"/>
              </a:rPr>
              <a:t>+7(927) 872 98-91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737709" y="836584"/>
            <a:ext cx="1188113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</a:t>
            </a:r>
            <a:r>
              <a:rPr lang="ru-RU"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1</a:t>
            </a: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@elementkb.ru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054" y="3444743"/>
            <a:ext cx="4243882" cy="3123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В</a:t>
            </a:r>
            <a:r>
              <a:rPr sz="14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 dirty="0">
              <a:latin typeface="Verdana"/>
              <a:cs typeface="Verdana"/>
            </a:endParaRPr>
          </a:p>
          <a:p>
            <a:pPr marL="19050" marR="256540">
              <a:lnSpc>
                <a:spcPct val="130000"/>
              </a:lnSpc>
              <a:spcBef>
                <a:spcPts val="695"/>
              </a:spcBef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lang="ru-RU" sz="1000" dirty="0">
              <a:latin typeface="Verdana"/>
              <a:cs typeface="Verdana"/>
            </a:endParaRPr>
          </a:p>
          <a:p>
            <a:pPr marL="19050">
              <a:lnSpc>
                <a:spcPct val="100000"/>
              </a:lnSpc>
              <a:spcBef>
                <a:spcPts val="359"/>
              </a:spcBef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60.000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endParaRPr lang="ru-RU" sz="1000" spc="-10" dirty="0">
              <a:solidFill>
                <a:srgbClr val="E6E6E6"/>
              </a:solidFill>
              <a:latin typeface="Verdana"/>
              <a:cs typeface="Verdana"/>
            </a:endParaRPr>
          </a:p>
          <a:p>
            <a:pPr marL="19050" marR="923925">
              <a:lnSpc>
                <a:spcPct val="130000"/>
              </a:lnSpc>
            </a:pPr>
            <a:endParaRPr lang="ru-RU" sz="1000" dirty="0">
              <a:latin typeface="Verdana"/>
              <a:cs typeface="Verdana"/>
            </a:endParaRPr>
          </a:p>
          <a:p>
            <a:pPr marL="12700" marR="264160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en-US" sz="1000" dirty="0">
                <a:solidFill>
                  <a:srgbClr val="E6E6E6"/>
                </a:solidFill>
                <a:latin typeface="Verdana"/>
                <a:cs typeface="Verdana"/>
              </a:rPr>
              <a:t>6M33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производителя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Китай)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.</a:t>
            </a:r>
            <a:endParaRPr lang="ru-RU" sz="1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lang="ru-RU" sz="1000" dirty="0">
              <a:latin typeface="Verdana"/>
              <a:cs typeface="Verdana"/>
            </a:endParaRPr>
          </a:p>
          <a:p>
            <a:pPr marL="19050" marR="688975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lang="ru-RU"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lang="ru-RU"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95%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b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</a:br>
            <a:endParaRPr lang="ru-RU" sz="1000" dirty="0">
              <a:latin typeface="Verdana"/>
              <a:cs typeface="Verdana"/>
            </a:endParaRPr>
          </a:p>
          <a:p>
            <a:pPr marL="12700" marR="863600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lang="ru-RU"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lang="ru-RU"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lang="ru-RU"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ГПУ.</a:t>
            </a:r>
            <a:endParaRPr lang="ru-RU" sz="1000" dirty="0">
              <a:latin typeface="Verdana"/>
              <a:cs typeface="Verdana"/>
            </a:endParaRPr>
          </a:p>
        </p:txBody>
      </p:sp>
      <p:pic>
        <p:nvPicPr>
          <p:cNvPr id="32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350" y="-1"/>
            <a:ext cx="1289057" cy="1188907"/>
          </a:xfrm>
          <a:prstGeom prst="rect">
            <a:avLst/>
          </a:prstGeom>
        </p:spPr>
      </p:pic>
      <p:sp>
        <p:nvSpPr>
          <p:cNvPr id="33" name="object 17"/>
          <p:cNvSpPr txBox="1"/>
          <p:nvPr/>
        </p:nvSpPr>
        <p:spPr>
          <a:xfrm>
            <a:off x="5237825" y="98718"/>
            <a:ext cx="2237220" cy="95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860" marR="1290955" indent="-10795">
              <a:lnSpc>
                <a:spcPct val="133800"/>
              </a:lnSpc>
              <a:spcBef>
                <a:spcPts val="100"/>
              </a:spcBef>
            </a:pPr>
            <a:r>
              <a:rPr lang="ru-RU" sz="900" spc="5" dirty="0">
                <a:latin typeface="Segoe UI"/>
                <a:cs typeface="Segoe UI"/>
              </a:rPr>
              <a:t>ОО</a:t>
            </a:r>
            <a:r>
              <a:rPr lang="ru-RU" sz="900" dirty="0">
                <a:latin typeface="Segoe UI"/>
                <a:cs typeface="Segoe UI"/>
              </a:rPr>
              <a:t>О</a:t>
            </a:r>
            <a:r>
              <a:rPr lang="ru-RU" sz="900" spc="-15" dirty="0">
                <a:latin typeface="Segoe UI"/>
                <a:cs typeface="Segoe UI"/>
              </a:rPr>
              <a:t> </a:t>
            </a:r>
            <a:r>
              <a:rPr lang="ru-RU" sz="900" dirty="0">
                <a:latin typeface="Segoe UI"/>
                <a:cs typeface="Segoe UI"/>
              </a:rPr>
              <a:t>«Э</a:t>
            </a:r>
            <a:r>
              <a:rPr lang="ru-RU" sz="900" spc="-10" dirty="0">
                <a:latin typeface="Segoe UI"/>
                <a:cs typeface="Segoe UI"/>
              </a:rPr>
              <a:t>Л</a:t>
            </a:r>
            <a:r>
              <a:rPr lang="ru-RU" sz="900" dirty="0">
                <a:latin typeface="Segoe UI"/>
                <a:cs typeface="Segoe UI"/>
              </a:rPr>
              <a:t>Е</a:t>
            </a:r>
            <a:r>
              <a:rPr lang="ru-RU" sz="900" spc="-5" dirty="0">
                <a:latin typeface="Segoe UI"/>
                <a:cs typeface="Segoe UI"/>
              </a:rPr>
              <a:t>М</a:t>
            </a:r>
            <a:r>
              <a:rPr lang="ru-RU" sz="900" dirty="0">
                <a:latin typeface="Segoe UI"/>
                <a:cs typeface="Segoe UI"/>
              </a:rPr>
              <a:t>ЕН</a:t>
            </a:r>
            <a:r>
              <a:rPr lang="ru-RU" sz="900" spc="-10" dirty="0">
                <a:latin typeface="Segoe UI"/>
                <a:cs typeface="Segoe UI"/>
              </a:rPr>
              <a:t>Т</a:t>
            </a:r>
            <a:r>
              <a:rPr lang="ru-RU" sz="900" dirty="0">
                <a:latin typeface="Segoe UI"/>
                <a:cs typeface="Segoe UI"/>
              </a:rPr>
              <a:t>»  </a:t>
            </a:r>
            <a:r>
              <a:rPr lang="ru-RU" sz="900" spc="-5" dirty="0">
                <a:latin typeface="Segoe UI"/>
                <a:cs typeface="Segoe UI"/>
              </a:rPr>
              <a:t>ИНН</a:t>
            </a:r>
            <a:r>
              <a:rPr lang="ru-RU" sz="900" spc="-40" dirty="0">
                <a:latin typeface="Segoe UI"/>
                <a:cs typeface="Segoe UI"/>
              </a:rPr>
              <a:t> </a:t>
            </a:r>
            <a:r>
              <a:rPr lang="ru-RU" sz="900" spc="-10" dirty="0">
                <a:latin typeface="Segoe UI"/>
                <a:cs typeface="Segoe UI"/>
              </a:rPr>
              <a:t>1218002079</a:t>
            </a:r>
            <a:endParaRPr lang="ru-RU" sz="900" dirty="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320"/>
              </a:spcBef>
            </a:pPr>
            <a:r>
              <a:rPr lang="ru-RU" sz="900" spc="-5" dirty="0">
                <a:latin typeface="Segoe UI"/>
                <a:cs typeface="Segoe UI"/>
              </a:rPr>
              <a:t>КПП</a:t>
            </a:r>
            <a:r>
              <a:rPr lang="ru-RU" sz="900" spc="-45" dirty="0">
                <a:latin typeface="Segoe UI"/>
                <a:cs typeface="Segoe UI"/>
              </a:rPr>
              <a:t> </a:t>
            </a:r>
            <a:r>
              <a:rPr lang="ru-RU" sz="900" spc="-10" dirty="0">
                <a:latin typeface="Segoe UI"/>
                <a:cs typeface="Segoe UI"/>
              </a:rPr>
              <a:t>121801001</a:t>
            </a:r>
            <a:endParaRPr lang="ru-RU" sz="900" dirty="0">
              <a:latin typeface="Segoe UI"/>
              <a:cs typeface="Segoe UI"/>
            </a:endParaRPr>
          </a:p>
          <a:p>
            <a:pPr marL="24130">
              <a:lnSpc>
                <a:spcPct val="100000"/>
              </a:lnSpc>
              <a:spcBef>
                <a:spcPts val="370"/>
              </a:spcBef>
            </a:pPr>
            <a:r>
              <a:rPr lang="ru-RU" sz="900" spc="-5" dirty="0">
                <a:latin typeface="Segoe UI"/>
                <a:cs typeface="Segoe UI"/>
              </a:rPr>
              <a:t>р/с</a:t>
            </a:r>
            <a:r>
              <a:rPr lang="ru-RU" sz="90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40702810070010348277</a:t>
            </a:r>
            <a:r>
              <a:rPr lang="ru-RU" sz="900" spc="2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(</a:t>
            </a:r>
            <a:r>
              <a:rPr lang="ru-RU" sz="900" spc="-5" dirty="0" err="1">
                <a:latin typeface="Segoe UI"/>
                <a:cs typeface="Segoe UI"/>
              </a:rPr>
              <a:t>Модульбанк</a:t>
            </a:r>
            <a:r>
              <a:rPr lang="ru-RU" sz="900" spc="-5" dirty="0">
                <a:latin typeface="Segoe UI"/>
                <a:cs typeface="Segoe UI"/>
              </a:rPr>
              <a:t>)</a:t>
            </a:r>
            <a:endParaRPr lang="ru-RU" sz="900" dirty="0">
              <a:latin typeface="Segoe UI"/>
              <a:cs typeface="Segoe UI"/>
            </a:endParaRPr>
          </a:p>
          <a:p>
            <a:pPr marL="24130">
              <a:lnSpc>
                <a:spcPct val="100000"/>
              </a:lnSpc>
              <a:spcBef>
                <a:spcPts val="465"/>
              </a:spcBef>
            </a:pPr>
            <a:r>
              <a:rPr lang="ru-RU" sz="900" dirty="0">
                <a:latin typeface="Segoe UI"/>
                <a:cs typeface="Segoe UI"/>
              </a:rPr>
              <a:t>БИК</a:t>
            </a:r>
            <a:r>
              <a:rPr lang="ru-RU" sz="900" spc="-4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044525092</a:t>
            </a:r>
            <a:endParaRPr lang="ru-RU" sz="900" dirty="0">
              <a:latin typeface="Segoe UI"/>
              <a:cs typeface="Segoe UI"/>
            </a:endParaRPr>
          </a:p>
        </p:txBody>
      </p:sp>
      <p:sp>
        <p:nvSpPr>
          <p:cNvPr id="31" name="object 18"/>
          <p:cNvSpPr txBox="1"/>
          <p:nvPr/>
        </p:nvSpPr>
        <p:spPr>
          <a:xfrm>
            <a:off x="3315653" y="5266267"/>
            <a:ext cx="943080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900" dirty="0"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pic>
        <p:nvPicPr>
          <p:cNvPr id="3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586" y="6206682"/>
            <a:ext cx="73152" cy="76925"/>
          </a:xfrm>
          <a:prstGeom prst="rect">
            <a:avLst/>
          </a:prstGeom>
        </p:spPr>
      </p:pic>
      <p:pic>
        <p:nvPicPr>
          <p:cNvPr id="36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731" y="5382431"/>
            <a:ext cx="73152" cy="76925"/>
          </a:xfrm>
          <a:prstGeom prst="rect">
            <a:avLst/>
          </a:prstGeom>
        </p:spPr>
      </p:pic>
      <p:pic>
        <p:nvPicPr>
          <p:cNvPr id="37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487" y="6814524"/>
            <a:ext cx="73152" cy="76925"/>
          </a:xfrm>
          <a:prstGeom prst="rect">
            <a:avLst/>
          </a:prstGeom>
        </p:spPr>
      </p:pic>
      <p:sp>
        <p:nvSpPr>
          <p:cNvPr id="38" name="object 9"/>
          <p:cNvSpPr txBox="1"/>
          <p:nvPr/>
        </p:nvSpPr>
        <p:spPr>
          <a:xfrm>
            <a:off x="371054" y="10013021"/>
            <a:ext cx="706567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Данное</a:t>
            </a:r>
            <a:r>
              <a:rPr sz="1100" spc="-7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коммерческое</a:t>
            </a:r>
            <a:r>
              <a:rPr sz="1100" spc="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предложение</a:t>
            </a:r>
            <a:r>
              <a:rPr sz="1100" spc="-9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не</a:t>
            </a:r>
            <a:r>
              <a:rPr sz="1100" spc="-6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является</a:t>
            </a:r>
            <a:r>
              <a:rPr sz="1100" spc="-4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(в</a:t>
            </a:r>
            <a:r>
              <a:rPr sz="1100" spc="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соответствии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</a:t>
            </a:r>
            <a:r>
              <a:rPr sz="1100" spc="-2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ст.435</a:t>
            </a:r>
            <a:r>
              <a:rPr sz="1100" spc="-5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ГК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РФ),</a:t>
            </a:r>
            <a:r>
              <a:rPr sz="1100" spc="-3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50" dirty="0">
                <a:solidFill>
                  <a:srgbClr val="46494D"/>
                </a:solidFill>
                <a:latin typeface="Segoe UI"/>
                <a:cs typeface="Segoe UI"/>
              </a:rPr>
              <a:t>и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не</a:t>
            </a:r>
            <a:r>
              <a:rPr sz="1100" spc="-6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влечет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за</a:t>
            </a:r>
            <a:r>
              <a:rPr sz="1100" spc="-3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собой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ООО</a:t>
            </a:r>
            <a:r>
              <a:rPr sz="1100" spc="-6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«ЭЛЕМЕНТ»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по</a:t>
            </a:r>
            <a:r>
              <a:rPr sz="1100" spc="-3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заключению</a:t>
            </a:r>
            <a:r>
              <a:rPr sz="1100" spc="-4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условиях настоящего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предложения</a:t>
            </a:r>
            <a:endParaRPr sz="11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505" y="6447771"/>
            <a:ext cx="2496295" cy="3994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2287" y="8300207"/>
            <a:ext cx="301205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sz="1200" dirty="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631637"/>
              </p:ext>
            </p:extLst>
          </p:nvPr>
        </p:nvGraphicFramePr>
        <p:xfrm>
          <a:off x="227018" y="3796975"/>
          <a:ext cx="7315200" cy="3676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4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Количество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  <a:p>
                      <a:pPr marR="90805"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4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4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4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ru-RU" sz="1400" spc="-25" dirty="0"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ru-RU" sz="1400" spc="-25" dirty="0">
                          <a:latin typeface="Microsoft Sans Serif"/>
                          <a:cs typeface="Microsoft Sans Serif"/>
                        </a:rPr>
                        <a:t>400</a:t>
                      </a:r>
                      <a:endParaRPr lang="ru-RU"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lang="ru-RU" sz="1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5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84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4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4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ru-RU" sz="1400" spc="-25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lang="ru-RU" sz="1400" spc="-25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400" spc="-25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ru-RU" sz="1400" dirty="0">
                          <a:latin typeface="Microsoft Sans Serif"/>
                          <a:cs typeface="Microsoft Sans Serif"/>
                        </a:rPr>
                        <a:t>320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Сумма</a:t>
                      </a:r>
                      <a:endParaRPr sz="14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276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400" spc="-25" dirty="0" err="1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4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14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  <a:p>
                      <a:pPr marL="236538" marR="179705" indent="-150813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400" b="0" spc="-10" dirty="0">
                          <a:latin typeface="Microsoft Sans Serif"/>
                          <a:cs typeface="Microsoft Sans Serif"/>
                        </a:rPr>
                        <a:t>6M33D450E310NG</a:t>
                      </a:r>
                      <a:endParaRPr lang="en-US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0670" algn="r">
                        <a:lnSpc>
                          <a:spcPct val="100000"/>
                        </a:lnSpc>
                      </a:pPr>
                      <a:r>
                        <a:rPr sz="1400" spc="-25" dirty="0" err="1">
                          <a:latin typeface="Microsoft Sans Serif"/>
                          <a:cs typeface="Microsoft Sans Serif"/>
                        </a:rPr>
                        <a:t>Шт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.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522">
                <a:tc>
                  <a:txBody>
                    <a:bodyPr/>
                    <a:lstStyle/>
                    <a:p>
                      <a:pPr marL="50165" marR="1428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lang="ru-RU" sz="1400" b="0" spc="-2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400</a:t>
                      </a:r>
                      <a:r>
                        <a:rPr lang="ru-RU" sz="1400" b="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Квт/380В</a:t>
                      </a:r>
                      <a:r>
                        <a:rPr lang="ru-RU" sz="1400" b="0" spc="3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lang="ru-RU" sz="1400" b="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b="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en-US" sz="1400" b="0" spc="-10" dirty="0">
                          <a:latin typeface="Microsoft Sans Serif"/>
                          <a:cs typeface="Microsoft Sans Serif"/>
                        </a:rPr>
                        <a:t>, </a:t>
                      </a: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lang="ru-RU" sz="1400" b="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b="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7 80</a:t>
                      </a:r>
                      <a:r>
                        <a:rPr lang="ru-RU" sz="14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0 000</a:t>
                      </a:r>
                      <a:endParaRPr sz="14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r>
                        <a:rPr lang="ru-RU" sz="14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</a:t>
                      </a:r>
                      <a:endParaRPr sz="14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7 800 000</a:t>
                      </a:r>
                      <a:endParaRPr lang="ru-RU" sz="14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Microsoft Sans Serif"/>
                          <a:cs typeface="Microsoft Sans Serif"/>
                        </a:rPr>
                        <a:t>Автоматическая система заправки маслом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lang="ru-RU" sz="1400" dirty="0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25844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400" dirty="0">
                          <a:latin typeface="Microsoft Sans Serif"/>
                          <a:cs typeface="Microsoft Sans Serif"/>
                        </a:rPr>
                        <a:t>     1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400" dirty="0">
                          <a:latin typeface="Microsoft Sans Serif"/>
                          <a:cs typeface="Microsoft Sans Serif"/>
                        </a:rPr>
                        <a:t>80 0</a:t>
                      </a:r>
                      <a:r>
                        <a:rPr lang="ru-RU" sz="1400" baseline="0" dirty="0">
                          <a:latin typeface="Microsoft Sans Serif"/>
                          <a:cs typeface="Microsoft Sans Serif"/>
                        </a:rPr>
                        <a:t>00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79411"/>
                  </a:ext>
                </a:extLst>
              </a:tr>
              <a:tr h="789988">
                <a:tc gridSpan="4">
                  <a:txBody>
                    <a:bodyPr/>
                    <a:lstStyle/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90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дней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	</a:t>
                      </a:r>
                      <a:endParaRPr lang="ru-RU" sz="1400" dirty="0">
                        <a:latin typeface="Microsoft Sans Serif"/>
                        <a:cs typeface="Microsoft Sans Serif"/>
                      </a:endParaRPr>
                    </a:p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Итого,</a:t>
                      </a:r>
                      <a:r>
                        <a:rPr sz="14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4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с 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7 880 000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object 8"/>
          <p:cNvSpPr txBox="1"/>
          <p:nvPr/>
        </p:nvSpPr>
        <p:spPr>
          <a:xfrm>
            <a:off x="483862" y="8692210"/>
            <a:ext cx="2071370" cy="286617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70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%	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74A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24" name="object 8"/>
          <p:cNvSpPr txBox="1"/>
          <p:nvPr/>
        </p:nvSpPr>
        <p:spPr>
          <a:xfrm>
            <a:off x="487807" y="9110502"/>
            <a:ext cx="2071370" cy="286617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2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0%	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74A4D"/>
                </a:solidFill>
                <a:latin typeface="Verdana"/>
                <a:cs typeface="Verdana"/>
              </a:rPr>
              <a:t> </a:t>
            </a:r>
            <a:r>
              <a:rPr lang="ru-RU" sz="1200" dirty="0">
                <a:solidFill>
                  <a:srgbClr val="474A4D"/>
                </a:solidFill>
                <a:latin typeface="Verdana"/>
                <a:cs typeface="Verdana"/>
              </a:rPr>
              <a:t>через 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862" y="9540875"/>
            <a:ext cx="6801512" cy="471283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1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0%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lang="ru-RU" sz="1200" dirty="0">
                <a:solidFill>
                  <a:srgbClr val="4D4D4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позднее 3 (Трех) рабочих дней после направления Покупателю уведомления о готовности оборудования к отгрузке.</a:t>
            </a:r>
            <a:endParaRPr sz="1000" dirty="0">
              <a:solidFill>
                <a:srgbClr val="4D4D4D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-1" y="7705109"/>
            <a:ext cx="70686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*Стоимость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самой ГПУ составляет 666 000 юаней по курсу на день оплаты.</a:t>
            </a:r>
            <a:b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</a:b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Все опции полностью российского производства - цены в рублях фиксированы</a:t>
            </a:r>
            <a:endParaRPr lang="ru-RU" sz="1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4F4760-F29E-4FC4-9BAD-6D60580221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62" y="277964"/>
            <a:ext cx="6841375" cy="3428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223440"/>
              </p:ext>
            </p:extLst>
          </p:nvPr>
        </p:nvGraphicFramePr>
        <p:xfrm>
          <a:off x="275129" y="4188812"/>
          <a:ext cx="6930088" cy="6215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966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7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86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041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0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40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Постоянная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3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320Квт/400кВа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15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597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400кВт/500кВа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2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7597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2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597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15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7597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2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7597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00" spc="-20" dirty="0">
                          <a:latin typeface="Times New Roman"/>
                          <a:cs typeface="Times New Roman"/>
                        </a:rPr>
                        <a:t>                                          </a:t>
                      </a:r>
                      <a:r>
                        <a:rPr lang="en-US" sz="1000" spc="-20" dirty="0">
                          <a:latin typeface="Times New Roman"/>
                          <a:cs typeface="Times New Roman"/>
                        </a:rPr>
                        <a:t>80</a:t>
                      </a:r>
                      <a:r>
                        <a:rPr lang="ru-RU" sz="1000" spc="-20" dirty="0">
                          <a:latin typeface="Times New Roman"/>
                          <a:cs typeface="Times New Roman"/>
                        </a:rPr>
                        <a:t>0А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16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632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0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0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5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632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</a:t>
                      </a:r>
                      <a:r>
                        <a:rPr lang="en-US" sz="100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1000" spc="-10" dirty="0">
                          <a:latin typeface="Times New Roman"/>
                          <a:cs typeface="Times New Roman"/>
                        </a:rPr>
                        <a:t>Deepsea 7320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06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823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Цифровой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027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137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Инженерная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00" spc="-10" dirty="0" err="1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6M33D450E310NG</a:t>
                      </a:r>
                      <a:endParaRPr sz="10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062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0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0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0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0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sz="10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×1</a:t>
                      </a:r>
                      <a:r>
                        <a:rPr lang="en-US" sz="1000" spc="-1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5мм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464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sz="100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.6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041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137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80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82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772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3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</a:t>
                      </a:r>
                      <a:r>
                        <a:rPr lang="en-US" sz="10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en-US" sz="1000" spc="-25" dirty="0">
                          <a:latin typeface="Times New Roman"/>
                          <a:cs typeface="Times New Roman"/>
                        </a:rPr>
                        <a:t>6,5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spc="-25" dirty="0">
                          <a:latin typeface="Times New Roman"/>
                          <a:cs typeface="Times New Roman"/>
                        </a:rPr>
                        <a:t>Бар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677778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751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en-US" sz="1100" spc="-10" dirty="0">
                          <a:latin typeface="Times New Roman"/>
                          <a:cs typeface="Times New Roman"/>
                        </a:rPr>
                        <a:t>86,4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en-US" sz="1100" spc="-1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en-US"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5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777F35-CDD3-4C97-84F0-08A132C1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7" y="473075"/>
            <a:ext cx="7528983" cy="294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493867"/>
              </p:ext>
            </p:extLst>
          </p:nvPr>
        </p:nvGraphicFramePr>
        <p:xfrm>
          <a:off x="275129" y="126416"/>
          <a:ext cx="6930087" cy="1632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9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0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14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868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4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3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9465" algn="ctr">
                        <a:lnSpc>
                          <a:spcPts val="1195"/>
                        </a:lnSpc>
                      </a:pPr>
                      <a:r>
                        <a:rPr lang="ru-RU" sz="1000" spc="-3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600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3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600" spc="-22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2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400</a:t>
                      </a:r>
                      <a:r>
                        <a:rPr sz="1000" spc="-10" dirty="0" err="1">
                          <a:latin typeface="Times New Roman"/>
                          <a:cs typeface="Times New Roman"/>
                        </a:rPr>
                        <a:t>кВт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500</a:t>
                      </a:r>
                      <a:r>
                        <a:rPr sz="100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15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600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600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2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6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600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51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600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15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903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06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434482"/>
              </p:ext>
            </p:extLst>
          </p:nvPr>
        </p:nvGraphicFramePr>
        <p:xfrm>
          <a:off x="275129" y="1846755"/>
          <a:ext cx="6853933" cy="2455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2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772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982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077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sz="1600" baseline="2645" dirty="0" err="1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600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aseline="264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lang="ru-RU" sz="1600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600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926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600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600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600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600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82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586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72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0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171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11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 err="1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 err="1">
                          <a:latin typeface="Times New Roman"/>
                          <a:cs typeface="Times New Roman"/>
                        </a:rPr>
                        <a:t>раме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2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3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*1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68</a:t>
                      </a:r>
                      <a:r>
                        <a:rPr lang="ru-RU" sz="11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100" dirty="0">
                          <a:latin typeface="Times New Roman"/>
                          <a:cs typeface="Times New Roman"/>
                        </a:rPr>
                        <a:t>212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мм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1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11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ru-RU" sz="1100" dirty="0">
                          <a:latin typeface="Times New Roman"/>
                          <a:cs typeface="Times New Roman"/>
                        </a:rPr>
                        <a:t>Общая масса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2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255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4700кг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1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49104"/>
                  </a:ext>
                </a:extLst>
              </a:tr>
              <a:tr h="229734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 err="1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 err="1">
                          <a:latin typeface="Times New Roman"/>
                          <a:cs typeface="Times New Roman"/>
                        </a:rPr>
                        <a:t>ко</a:t>
                      </a:r>
                      <a:r>
                        <a:rPr lang="ru-RU" sz="1100" spc="-10" dirty="0" err="1">
                          <a:latin typeface="Times New Roman"/>
                          <a:cs typeface="Times New Roman"/>
                        </a:rPr>
                        <a:t>жуха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5500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210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0*2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320 (мм)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233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820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69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 err="1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 err="1">
                          <a:latin typeface="Times New Roman"/>
                          <a:cs typeface="Times New Roman"/>
                        </a:rPr>
                        <a:t>вводе</a:t>
                      </a: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 мин/макс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2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6-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00 </a:t>
                      </a:r>
                      <a:r>
                        <a:rPr sz="1100" spc="-20" dirty="0" err="1">
                          <a:latin typeface="Times New Roman"/>
                          <a:cs typeface="Times New Roman"/>
                        </a:rPr>
                        <a:t>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2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483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138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19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275129" y="4612317"/>
            <a:ext cx="6930087" cy="2923425"/>
          </a:xfrm>
          <a:prstGeom prst="rect">
            <a:avLst/>
          </a:prstGeom>
        </p:spPr>
        <p:txBody>
          <a:bodyPr vert="horz" wrap="square" lIns="0" tIns="12692" rIns="0" bIns="0" rtlCol="0">
            <a:spAutoFit/>
          </a:bodyPr>
          <a:lstStyle/>
          <a:p>
            <a:pPr marL="283675" indent="-268444">
              <a:spcBef>
                <a:spcPts val="100"/>
              </a:spcBef>
              <a:buFont typeface="Times New Roman"/>
              <a:buAutoNum type="arabicPeriod" startAt="4"/>
              <a:tabLst>
                <a:tab pos="283675" algn="l"/>
              </a:tabLst>
            </a:pPr>
            <a:r>
              <a:rPr sz="1199" b="1" spc="-10" dirty="0">
                <a:latin typeface="Times New Roman"/>
                <a:cs typeface="Times New Roman"/>
              </a:rPr>
              <a:t>ГАРАНТИЙНЫЕ</a:t>
            </a:r>
            <a:r>
              <a:rPr sz="1199" b="1" spc="-5" dirty="0">
                <a:latin typeface="Times New Roman"/>
                <a:cs typeface="Times New Roman"/>
              </a:rPr>
              <a:t> </a:t>
            </a:r>
            <a:r>
              <a:rPr sz="1199" b="1" spc="-10" dirty="0">
                <a:latin typeface="Times New Roman"/>
                <a:cs typeface="Times New Roman"/>
              </a:rPr>
              <a:t>ОБЯЗАТЕЛЬСТВА</a:t>
            </a:r>
            <a:endParaRPr sz="1199" dirty="0">
              <a:latin typeface="Times New Roman"/>
              <a:cs typeface="Times New Roman"/>
            </a:endParaRPr>
          </a:p>
          <a:p>
            <a:pPr>
              <a:spcBef>
                <a:spcPts val="385"/>
              </a:spcBef>
              <a:buFont typeface="Times New Roman"/>
              <a:buAutoNum type="arabicPeriod" startAt="4"/>
            </a:pPr>
            <a:endParaRPr sz="1199" dirty="0">
              <a:latin typeface="Times New Roman"/>
              <a:cs typeface="Times New Roman"/>
            </a:endParaRPr>
          </a:p>
          <a:p>
            <a:pPr marL="258924" marR="244328" lvl="1" indent="-246867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8924" algn="l"/>
              </a:tabLst>
            </a:pPr>
            <a:r>
              <a:rPr sz="1199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199" dirty="0">
                <a:latin typeface="Times New Roman"/>
                <a:cs typeface="Times New Roman"/>
              </a:rPr>
              <a:t> гарантирует </a:t>
            </a:r>
            <a:r>
              <a:rPr sz="1199" dirty="0" err="1">
                <a:latin typeface="Times New Roman"/>
                <a:cs typeface="Times New Roman"/>
              </a:rPr>
              <a:t>соответствие</a:t>
            </a:r>
            <a:r>
              <a:rPr sz="1199" spc="-5" dirty="0">
                <a:latin typeface="Times New Roman"/>
                <a:cs typeface="Times New Roman"/>
              </a:rPr>
              <a:t> </a:t>
            </a:r>
            <a:r>
              <a:rPr lang="ru-RU" sz="1199" spc="-10" dirty="0">
                <a:latin typeface="Times New Roman"/>
                <a:cs typeface="Times New Roman"/>
              </a:rPr>
              <a:t>ГПУ-</a:t>
            </a:r>
            <a:r>
              <a:rPr lang="en-US" sz="1199" spc="-10" dirty="0">
                <a:latin typeface="Times New Roman"/>
                <a:cs typeface="Times New Roman"/>
              </a:rPr>
              <a:t>40</a:t>
            </a:r>
            <a:r>
              <a:rPr lang="ru-RU" sz="1199" spc="-10" dirty="0">
                <a:latin typeface="Times New Roman"/>
                <a:cs typeface="Times New Roman"/>
              </a:rPr>
              <a:t>0</a:t>
            </a:r>
            <a:r>
              <a:rPr sz="1199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199" spc="1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при</a:t>
            </a:r>
            <a:r>
              <a:rPr sz="1199" spc="15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соблюдении</a:t>
            </a:r>
            <a:r>
              <a:rPr sz="1199" spc="1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правил</a:t>
            </a:r>
            <a:r>
              <a:rPr sz="1199" spc="15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транспортирования,</a:t>
            </a:r>
            <a:r>
              <a:rPr sz="1199" dirty="0">
                <a:latin typeface="Times New Roman"/>
                <a:cs typeface="Times New Roman"/>
              </a:rPr>
              <a:t> хранения, </a:t>
            </a:r>
            <a:r>
              <a:rPr sz="1199" spc="-10" dirty="0">
                <a:latin typeface="Times New Roman"/>
                <a:cs typeface="Times New Roman"/>
              </a:rPr>
              <a:t>монтажа, </a:t>
            </a:r>
            <a:r>
              <a:rPr sz="1199" dirty="0">
                <a:latin typeface="Times New Roman"/>
                <a:cs typeface="Times New Roman"/>
              </a:rPr>
              <a:t>эксплуатации</a:t>
            </a:r>
            <a:r>
              <a:rPr sz="1199" spc="-4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и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обслуживания.</a:t>
            </a:r>
            <a:endParaRPr sz="1199" dirty="0">
              <a:latin typeface="Times New Roman"/>
              <a:cs typeface="Times New Roman"/>
            </a:endParaRPr>
          </a:p>
          <a:p>
            <a:pPr lvl="1">
              <a:spcBef>
                <a:spcPts val="715"/>
              </a:spcBef>
              <a:buAutoNum type="arabicPeriod"/>
            </a:pPr>
            <a:endParaRPr sz="1199" dirty="0">
              <a:latin typeface="Times New Roman"/>
              <a:cs typeface="Times New Roman"/>
            </a:endParaRPr>
          </a:p>
          <a:p>
            <a:pPr marL="17135" marR="5077" lvl="1" indent="-5077">
              <a:lnSpc>
                <a:spcPts val="1429"/>
              </a:lnSpc>
              <a:buAutoNum type="arabicPeriod"/>
              <a:tabLst>
                <a:tab pos="17135" algn="l"/>
                <a:tab pos="284309" algn="l"/>
              </a:tabLst>
            </a:pPr>
            <a:r>
              <a:rPr sz="1199" dirty="0">
                <a:latin typeface="Times New Roman"/>
                <a:cs typeface="Times New Roman"/>
              </a:rPr>
              <a:t>Гарантийный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срок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хранения</a:t>
            </a:r>
            <a:r>
              <a:rPr sz="1199" spc="-1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-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12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месяца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со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дня</a:t>
            </a:r>
            <a:r>
              <a:rPr sz="1199" spc="-1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изготовления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до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ввода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spc="-10" dirty="0" err="1">
                <a:latin typeface="Times New Roman"/>
                <a:cs typeface="Times New Roman"/>
              </a:rPr>
              <a:t>эксплуата</a:t>
            </a:r>
            <a:r>
              <a:rPr sz="1199" spc="-20" dirty="0" err="1">
                <a:latin typeface="Times New Roman"/>
                <a:cs typeface="Times New Roman"/>
              </a:rPr>
              <a:t>цию</a:t>
            </a:r>
            <a:r>
              <a:rPr sz="1199" spc="-20" dirty="0">
                <a:latin typeface="Times New Roman"/>
                <a:cs typeface="Times New Roman"/>
              </a:rPr>
              <a:t>.</a:t>
            </a:r>
            <a:endParaRPr sz="1199" dirty="0">
              <a:latin typeface="Times New Roman"/>
              <a:cs typeface="Times New Roman"/>
            </a:endParaRPr>
          </a:p>
          <a:p>
            <a:pPr marL="18404" marR="288752" lvl="1" indent="-6346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18404" algn="l"/>
                <a:tab pos="272252" algn="l"/>
              </a:tabLst>
            </a:pPr>
            <a:r>
              <a:rPr sz="1199" spc="-10" dirty="0">
                <a:latin typeface="Times New Roman"/>
                <a:cs typeface="Times New Roman"/>
              </a:rPr>
              <a:t>Гарантийный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срок</a:t>
            </a:r>
            <a:r>
              <a:rPr sz="1199" spc="-10" dirty="0">
                <a:latin typeface="Times New Roman"/>
                <a:cs typeface="Times New Roman"/>
              </a:rPr>
              <a:t> эксплуатации</a:t>
            </a:r>
            <a:r>
              <a:rPr sz="1199" dirty="0">
                <a:latin typeface="Times New Roman"/>
                <a:cs typeface="Times New Roman"/>
              </a:rPr>
              <a:t> 12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месяца</a:t>
            </a:r>
            <a:r>
              <a:rPr sz="1199" spc="-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со</a:t>
            </a:r>
            <a:r>
              <a:rPr sz="1199" spc="1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дня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ввода</a:t>
            </a:r>
            <a:r>
              <a:rPr sz="1199" spc="-1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</a:t>
            </a:r>
            <a:r>
              <a:rPr sz="1199" spc="-5" dirty="0">
                <a:latin typeface="Times New Roman"/>
                <a:cs typeface="Times New Roman"/>
              </a:rPr>
              <a:t> </a:t>
            </a:r>
            <a:r>
              <a:rPr sz="1199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199" spc="-10" dirty="0">
                <a:latin typeface="Times New Roman"/>
                <a:cs typeface="Times New Roman"/>
              </a:rPr>
              <a:t> или 1500 моточасов, в зависимости от того, что наступит раньше,</a:t>
            </a:r>
            <a:r>
              <a:rPr sz="1199" dirty="0">
                <a:latin typeface="Times New Roman"/>
                <a:cs typeface="Times New Roman"/>
              </a:rPr>
              <a:t> но</a:t>
            </a:r>
            <a:r>
              <a:rPr sz="1199" spc="-15" dirty="0">
                <a:latin typeface="Times New Roman"/>
                <a:cs typeface="Times New Roman"/>
              </a:rPr>
              <a:t> </a:t>
            </a:r>
            <a:r>
              <a:rPr sz="1199" spc="-25" dirty="0">
                <a:latin typeface="Times New Roman"/>
                <a:cs typeface="Times New Roman"/>
              </a:rPr>
              <a:t>не </a:t>
            </a:r>
            <a:r>
              <a:rPr sz="1199" dirty="0" err="1">
                <a:latin typeface="Times New Roman"/>
                <a:cs typeface="Times New Roman"/>
              </a:rPr>
              <a:t>более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lang="ru-RU" sz="1199" spc="-35" dirty="0">
                <a:latin typeface="Times New Roman"/>
                <a:cs typeface="Times New Roman"/>
              </a:rPr>
              <a:t>18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месяцев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 err="1">
                <a:latin typeface="Times New Roman"/>
                <a:cs typeface="Times New Roman"/>
              </a:rPr>
              <a:t>даты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 err="1">
                <a:latin typeface="Times New Roman"/>
                <a:cs typeface="Times New Roman"/>
              </a:rPr>
              <a:t>изготовления</a:t>
            </a:r>
            <a:r>
              <a:rPr sz="1199" spc="-10" dirty="0">
                <a:latin typeface="Times New Roman"/>
                <a:cs typeface="Times New Roman"/>
              </a:rPr>
              <a:t>.</a:t>
            </a:r>
            <a:endParaRPr sz="1199" dirty="0">
              <a:latin typeface="Times New Roman"/>
              <a:cs typeface="Times New Roman"/>
            </a:endParaRPr>
          </a:p>
          <a:p>
            <a:pPr marL="275425" lvl="1" indent="-261463">
              <a:spcBef>
                <a:spcPts val="360"/>
              </a:spcBef>
              <a:buAutoNum type="arabicPeriod"/>
              <a:tabLst>
                <a:tab pos="275425" algn="l"/>
              </a:tabLst>
            </a:pPr>
            <a:r>
              <a:rPr sz="1199" spc="-10" dirty="0">
                <a:latin typeface="Times New Roman"/>
                <a:cs typeface="Times New Roman"/>
              </a:rPr>
              <a:t>Нормативный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срок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spc="-10" dirty="0" err="1">
                <a:latin typeface="Times New Roman"/>
                <a:cs typeface="Times New Roman"/>
              </a:rPr>
              <a:t>службы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lang="ru-RU" sz="1199" spc="-10" dirty="0">
                <a:latin typeface="Times New Roman"/>
                <a:cs typeface="Times New Roman"/>
              </a:rPr>
              <a:t>ГПУ-</a:t>
            </a:r>
            <a:r>
              <a:rPr lang="en-US" sz="1199" spc="-10" dirty="0">
                <a:latin typeface="Times New Roman"/>
                <a:cs typeface="Times New Roman"/>
              </a:rPr>
              <a:t>400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составляет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не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менее: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15</a:t>
            </a:r>
            <a:r>
              <a:rPr sz="1199" spc="-1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лет </a:t>
            </a:r>
            <a:r>
              <a:rPr sz="1199" spc="-50" dirty="0">
                <a:latin typeface="Times New Roman"/>
                <a:cs typeface="Times New Roman"/>
              </a:rPr>
              <a:t>.</a:t>
            </a:r>
            <a:endParaRPr sz="1199" dirty="0">
              <a:latin typeface="Times New Roman"/>
              <a:cs typeface="Times New Roman"/>
            </a:endParaRPr>
          </a:p>
          <a:p>
            <a:pPr marL="258924" marR="128193" lvl="1" indent="-246867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8924" algn="l"/>
              </a:tabLst>
            </a:pPr>
            <a:r>
              <a:rPr sz="1199" dirty="0">
                <a:latin typeface="Times New Roman"/>
                <a:cs typeface="Times New Roman"/>
              </a:rPr>
              <a:t>Гарантия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не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предусматривает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возмещение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материального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ущерба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или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травм,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 err="1">
                <a:latin typeface="Times New Roman"/>
                <a:cs typeface="Times New Roman"/>
              </a:rPr>
              <a:t>связанных</a:t>
            </a:r>
            <a:r>
              <a:rPr sz="1199" spc="-1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с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spc="-10" dirty="0" err="1">
                <a:latin typeface="Times New Roman"/>
                <a:cs typeface="Times New Roman"/>
              </a:rPr>
              <a:t>эксплуатацией</a:t>
            </a:r>
            <a:r>
              <a:rPr sz="1199" spc="-15" dirty="0">
                <a:latin typeface="Times New Roman"/>
                <a:cs typeface="Times New Roman"/>
              </a:rPr>
              <a:t> </a:t>
            </a:r>
            <a:r>
              <a:rPr lang="ru-RU" sz="1199" spc="-10" dirty="0">
                <a:latin typeface="Times New Roman"/>
                <a:cs typeface="Times New Roman"/>
              </a:rPr>
              <a:t>ГПУ-</a:t>
            </a:r>
            <a:r>
              <a:rPr lang="en-US" sz="1199" spc="-10" dirty="0">
                <a:latin typeface="Times New Roman"/>
                <a:cs typeface="Times New Roman"/>
              </a:rPr>
              <a:t>40</a:t>
            </a:r>
            <a:r>
              <a:rPr lang="ru-RU" sz="1199" spc="-10" dirty="0">
                <a:latin typeface="Times New Roman"/>
                <a:cs typeface="Times New Roman"/>
              </a:rPr>
              <a:t>0</a:t>
            </a:r>
            <a:r>
              <a:rPr sz="1199" dirty="0">
                <a:latin typeface="Times New Roman"/>
                <a:cs typeface="Times New Roman"/>
              </a:rPr>
              <a:t>.</a:t>
            </a:r>
            <a:r>
              <a:rPr sz="1199" spc="-1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Гарантийному</a:t>
            </a:r>
            <a:r>
              <a:rPr sz="1199" spc="-4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ремонту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не</a:t>
            </a:r>
            <a:r>
              <a:rPr sz="1199" spc="-20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подлежат </a:t>
            </a:r>
            <a:r>
              <a:rPr sz="1199" dirty="0">
                <a:latin typeface="Times New Roman"/>
                <a:cs typeface="Times New Roman"/>
              </a:rPr>
              <a:t>поломки,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возникшие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по</a:t>
            </a:r>
            <a:r>
              <a:rPr sz="1199" spc="-4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причине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spc="-10" dirty="0">
                <a:latin typeface="Times New Roman"/>
                <a:cs typeface="Times New Roman"/>
              </a:rPr>
              <a:t>неправильного,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монтажа,</a:t>
            </a:r>
            <a:r>
              <a:rPr sz="1199" spc="-25" dirty="0">
                <a:latin typeface="Times New Roman"/>
                <a:cs typeface="Times New Roman"/>
              </a:rPr>
              <a:t> </a:t>
            </a:r>
            <a:r>
              <a:rPr sz="1199" dirty="0" err="1">
                <a:latin typeface="Times New Roman"/>
                <a:cs typeface="Times New Roman"/>
              </a:rPr>
              <a:t>эксплуатации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spc="-25" dirty="0" err="1">
                <a:latin typeface="Times New Roman"/>
                <a:cs typeface="Times New Roman"/>
              </a:rPr>
              <a:t>или</a:t>
            </a:r>
            <a:r>
              <a:rPr lang="ru-RU" sz="1199" spc="-25" dirty="0">
                <a:latin typeface="Times New Roman"/>
                <a:cs typeface="Times New Roman"/>
              </a:rPr>
              <a:t> </a:t>
            </a:r>
            <a:r>
              <a:rPr sz="1199" dirty="0" err="1">
                <a:latin typeface="Times New Roman"/>
                <a:cs typeface="Times New Roman"/>
              </a:rPr>
              <a:t>размещения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lang="ru-RU" sz="1199" spc="-10" dirty="0">
                <a:latin typeface="Times New Roman"/>
                <a:cs typeface="Times New Roman"/>
              </a:rPr>
              <a:t>ГПУ-</a:t>
            </a:r>
            <a:r>
              <a:rPr lang="en-US" sz="1199" spc="-10" dirty="0">
                <a:latin typeface="Times New Roman"/>
                <a:cs typeface="Times New Roman"/>
              </a:rPr>
              <a:t>40</a:t>
            </a:r>
            <a:r>
              <a:rPr lang="ru-RU" sz="1199" spc="-10" dirty="0">
                <a:latin typeface="Times New Roman"/>
                <a:cs typeface="Times New Roman"/>
              </a:rPr>
              <a:t>0</a:t>
            </a:r>
            <a:r>
              <a:rPr sz="1199" spc="-4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в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месте,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непригодном</a:t>
            </a:r>
            <a:r>
              <a:rPr sz="1199" spc="-4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для</a:t>
            </a:r>
            <a:r>
              <a:rPr sz="1199" spc="-30" dirty="0">
                <a:latin typeface="Times New Roman"/>
                <a:cs typeface="Times New Roman"/>
              </a:rPr>
              <a:t> </a:t>
            </a:r>
            <a:r>
              <a:rPr sz="1199" dirty="0">
                <a:latin typeface="Times New Roman"/>
                <a:cs typeface="Times New Roman"/>
              </a:rPr>
              <a:t>эксплуатации</a:t>
            </a:r>
            <a:r>
              <a:rPr sz="1199" spc="-35" dirty="0">
                <a:latin typeface="Times New Roman"/>
                <a:cs typeface="Times New Roman"/>
              </a:rPr>
              <a:t> </a:t>
            </a:r>
            <a:r>
              <a:rPr sz="1199" spc="-50" dirty="0">
                <a:latin typeface="Times New Roman"/>
                <a:cs typeface="Times New Roman"/>
              </a:rPr>
              <a:t>.</a:t>
            </a:r>
            <a:endParaRPr sz="1199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Words>654</Words>
  <Application>Microsoft Office PowerPoint</Application>
  <PresentationFormat>Произвольный</PresentationFormat>
  <Paragraphs>150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Arial</vt:lpstr>
      <vt:lpstr>Calibri</vt:lpstr>
      <vt:lpstr>Cambria Math</vt:lpstr>
      <vt:lpstr>Microsoft Sans Serif</vt:lpstr>
      <vt:lpstr>Roboto</vt:lpstr>
      <vt:lpstr>Segoe UI</vt:lpstr>
      <vt:lpstr>Segoe UI Emoji</vt:lpstr>
      <vt:lpstr>Times New Roman</vt:lpstr>
      <vt:lpstr>Verdana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pav</cp:lastModifiedBy>
  <cp:revision>92</cp:revision>
  <dcterms:created xsi:type="dcterms:W3CDTF">2024-06-21T09:36:14Z</dcterms:created>
  <dcterms:modified xsi:type="dcterms:W3CDTF">2025-09-29T06:49:40Z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2024-06-21T00:00:00Z</vt:filetime>
  </property>
  <property fmtid="{D5CDD505-2E9C-101B-9397-08002B2CF9AE}" pid="5" name="Producer">
    <vt:lpwstr>www.ilovepdf.com</vt:lpwstr>
  </property>
</Properties>
</file>