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7556500" cy="10706100"/>
  <p:notesSz cx="7556500" cy="107061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BB18C549-3DC8-41B5-9190-D2FB0F76C086}">
          <p14:sldIdLst>
            <p14:sldId id="256"/>
          </p14:sldIdLst>
        </p14:section>
        <p14:section name="Раздел без заголовка" id="{1C742C74-E3E6-4A2D-A424-7B5F55AC43F1}">
          <p14:sldIdLst>
            <p14:sldId id="257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2" autoAdjust="0"/>
  </p:normalViewPr>
  <p:slideViewPr>
    <p:cSldViewPr>
      <p:cViewPr varScale="1">
        <p:scale>
          <a:sx n="67" d="100"/>
          <a:sy n="67" d="100"/>
        </p:scale>
        <p:origin x="312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8044"/>
            <a:ext cx="2496312" cy="3994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61132"/>
            <a:ext cx="7556500" cy="7574280"/>
            <a:chOff x="0" y="2961132"/>
            <a:chExt cx="7556500" cy="7574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179" y="6568440"/>
              <a:ext cx="2324099" cy="39669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424428"/>
              <a:ext cx="4395470" cy="3997325"/>
            </a:xfrm>
            <a:custGeom>
              <a:avLst/>
              <a:gdLst/>
              <a:ahLst/>
              <a:cxnLst/>
              <a:rect l="l" t="t" r="r" b="b"/>
              <a:pathLst>
                <a:path w="4395470" h="3997325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999" y="3049524"/>
              <a:ext cx="3745992" cy="47899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9455" y="2961132"/>
              <a:ext cx="3526536" cy="446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244340"/>
              <a:ext cx="73151" cy="77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0" y="1863979"/>
            <a:ext cx="7449439" cy="7636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5" dirty="0" err="1">
                <a:solidFill>
                  <a:srgbClr val="1C2A45"/>
                </a:solidFill>
                <a:latin typeface="Verdana"/>
                <a:cs typeface="Verdana"/>
              </a:rPr>
              <a:t>на</a:t>
            </a:r>
            <a:r>
              <a:rPr lang="ru-RU" sz="1600" b="1" spc="-25" dirty="0">
                <a:solidFill>
                  <a:srgbClr val="1C2A45"/>
                </a:solidFill>
                <a:latin typeface="Verdana"/>
                <a:cs typeface="Verdana"/>
              </a:rPr>
              <a:t> 5-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Weichai</a:t>
            </a:r>
            <a:r>
              <a:rPr sz="1600" b="1" spc="-95" dirty="0"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номинальной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мощность</a:t>
            </a:r>
            <a:r>
              <a:rPr lang="ru-RU" sz="1600" b="1" dirty="0">
                <a:solidFill>
                  <a:srgbClr val="1C2A45"/>
                </a:solidFill>
                <a:latin typeface="Verdana"/>
                <a:cs typeface="Verdana"/>
              </a:rPr>
              <a:t>ю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250кВт </a:t>
            </a:r>
            <a:r>
              <a:rPr lang="ru-RU" sz="1600" b="1" dirty="0">
                <a:solidFill>
                  <a:srgbClr val="1C2A45"/>
                </a:solidFill>
                <a:latin typeface="Verdana"/>
                <a:cs typeface="Verdana"/>
              </a:rPr>
              <a:t>контейнерного</a:t>
            </a: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исполнения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1106" y="229180"/>
            <a:ext cx="133834" cy="1621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3329" y="559646"/>
            <a:ext cx="149860" cy="1625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3329" y="897128"/>
            <a:ext cx="149860" cy="1201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+7(927)</a:t>
            </a:r>
            <a:r>
              <a:rPr sz="900" spc="-2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-3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sales1@elementkb.ru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738" y="3404718"/>
            <a:ext cx="3611245" cy="354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1180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</a:t>
            </a:r>
            <a:endParaRPr sz="10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sz="1000"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36.000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часов.</a:t>
            </a:r>
            <a:r>
              <a:rPr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Без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дерейта.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33%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(против 28%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F1F1F1"/>
                </a:solidFill>
                <a:latin typeface="Microsoft Sans Serif"/>
                <a:cs typeface="Microsoft Sans Serif"/>
              </a:rPr>
              <a:t>WP13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производителя</a:t>
            </a:r>
            <a:r>
              <a:rPr sz="1000" spc="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sz="1000" spc="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точностью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1%,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00">
              <a:latin typeface="Verdana"/>
              <a:cs typeface="Verdana"/>
            </a:endParaRPr>
          </a:p>
          <a:p>
            <a:pPr marL="20320" marR="513715">
              <a:lnSpc>
                <a:spcPct val="13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sz="1000" spc="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93%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разработанный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3507" y="60840"/>
            <a:ext cx="993241" cy="9219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1284605" indent="-10795">
              <a:lnSpc>
                <a:spcPct val="1344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1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6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latin typeface="Segoe UI"/>
                <a:cs typeface="Segoe UI"/>
              </a:rPr>
              <a:t>КПП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40702810070010348277</a:t>
            </a:r>
            <a:r>
              <a:rPr sz="900" spc="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900" spc="-10" dirty="0">
                <a:latin typeface="Segoe UI"/>
                <a:cs typeface="Segoe UI"/>
              </a:rPr>
              <a:t>БИК</a:t>
            </a:r>
            <a:r>
              <a:rPr sz="900" spc="-4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352" y="5219700"/>
            <a:ext cx="81280" cy="1525905"/>
            <a:chOff x="149352" y="5219700"/>
            <a:chExt cx="81280" cy="152590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52" y="6039612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2" y="5219700"/>
              <a:ext cx="7315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6667500"/>
              <a:ext cx="73151" cy="777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Данное</a:t>
            </a:r>
            <a:r>
              <a:rPr sz="1100" spc="-8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коммерческое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предложение</a:t>
            </a:r>
            <a:r>
              <a:rPr sz="1100" spc="-6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является</a:t>
            </a:r>
            <a:r>
              <a:rPr sz="1100" spc="-5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(в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соответствии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ст.435</a:t>
            </a:r>
            <a:r>
              <a:rPr sz="1100" spc="-7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ГК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РФ),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и</a:t>
            </a:r>
            <a:r>
              <a:rPr sz="1100" spc="-10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влечет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собой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ООО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«ЭЛЕМЕНТ»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по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заключению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условиях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настоящего</a:t>
            </a:r>
            <a:r>
              <a:rPr sz="1100" spc="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91198"/>
              </p:ext>
            </p:extLst>
          </p:nvPr>
        </p:nvGraphicFramePr>
        <p:xfrm>
          <a:off x="60324" y="232938"/>
          <a:ext cx="7435851" cy="91290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2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32061480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3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96875" marR="158750" indent="-3098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Количество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972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1250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lang="ru-RU" sz="12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11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680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>
                          <a:latin typeface="Microsoft Sans Serif"/>
                          <a:cs typeface="Microsoft Sans Serif"/>
                        </a:rPr>
                        <a:t>210</a:t>
                      </a:r>
                      <a:br>
                        <a:rPr lang="ru-RU" sz="1200" spc="-45">
                          <a:latin typeface="Microsoft Sans Serif"/>
                          <a:cs typeface="Microsoft Sans Serif"/>
                        </a:rPr>
                      </a:b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200)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1050 </a:t>
                      </a:r>
                      <a:br>
                        <a:rPr lang="ru-RU" sz="1200" spc="-25" dirty="0">
                          <a:latin typeface="Microsoft Sans Serif"/>
                          <a:cs typeface="Microsoft Sans Serif"/>
                        </a:rPr>
                      </a:b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(вместо 1000)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0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Марка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br>
                        <a:rPr lang="ru-RU" sz="120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16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250Квт/380В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ru-RU" sz="1200" spc="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WP13,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1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560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(400 000 юаней)</a:t>
                      </a:r>
                    </a:p>
                  </a:txBody>
                  <a:tcPr marL="0" marR="0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22 800 000</a:t>
                      </a:r>
                    </a:p>
                  </a:txBody>
                  <a:tcPr marL="0" marR="0" marT="1581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45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двигателя 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702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52160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92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323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ч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6053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подогрева охлаждающей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946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03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5554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866339"/>
                  </a:ext>
                </a:extLst>
              </a:tr>
              <a:tr h="405554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84946"/>
                  </a:ext>
                </a:extLst>
              </a:tr>
              <a:tr h="426333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0751"/>
                  </a:ext>
                </a:extLst>
              </a:tr>
              <a:tr h="414869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00770"/>
                  </a:ext>
                </a:extLst>
              </a:tr>
              <a:tr h="348317">
                <a:tc>
                  <a:txBody>
                    <a:bodyPr/>
                    <a:lstStyle/>
                    <a:p>
                      <a:pPr marL="91440" marR="0" lvl="0" indent="0" algn="l" defTabSz="91440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Интеркулер вода-воздух</a:t>
                      </a: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750 000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627588"/>
                  </a:ext>
                </a:extLst>
              </a:tr>
              <a:tr h="414869">
                <a:tc>
                  <a:txBody>
                    <a:bodyPr/>
                    <a:lstStyle/>
                    <a:p>
                      <a:pPr marL="91440" marR="0" lvl="0" indent="0" algn="l" defTabSz="91440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250 000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247550"/>
                  </a:ext>
                </a:extLst>
              </a:tr>
              <a:tr h="405669">
                <a:tc>
                  <a:txBody>
                    <a:bodyPr/>
                    <a:lstStyle/>
                    <a:p>
                      <a:pPr marL="91440" marR="0" lvl="0" indent="0" algn="l" defTabSz="91440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для 5 ГПУ</a:t>
                      </a: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3 000 000</a:t>
                      </a: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3 000 000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296191"/>
                  </a:ext>
                </a:extLst>
              </a:tr>
              <a:tr h="735074">
                <a:tc gridSpan="4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26 800 000</a:t>
                      </a:r>
                    </a:p>
                  </a:txBody>
                  <a:tcPr marL="0" marR="0" marT="12636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6"/>
          <p:cNvSpPr txBox="1"/>
          <p:nvPr/>
        </p:nvSpPr>
        <p:spPr>
          <a:xfrm>
            <a:off x="482282" y="10029452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составляет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400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 </a:t>
            </a:r>
            <a:r>
              <a:rPr sz="1400" spc="-10" dirty="0">
                <a:latin typeface="Microsoft Sans Serif"/>
                <a:cs typeface="Microsoft Sans Serif"/>
              </a:rPr>
              <a:t>курсу</a:t>
            </a:r>
            <a:r>
              <a:rPr sz="1400" dirty="0">
                <a:latin typeface="Microsoft Sans Serif"/>
                <a:cs typeface="Microsoft Sans Serif"/>
              </a:rPr>
              <a:t> на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оплаты.</a:t>
            </a:r>
            <a:endParaRPr sz="1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3AD6763-93BD-4707-B275-B3736A103D56}"/>
              </a:ext>
            </a:extLst>
          </p:cNvPr>
          <p:cNvSpPr txBox="1"/>
          <p:nvPr/>
        </p:nvSpPr>
        <p:spPr>
          <a:xfrm>
            <a:off x="445769" y="9372264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 err="1">
                <a:latin typeface="Microsoft Sans Serif"/>
                <a:cs typeface="Microsoft Sans Serif"/>
              </a:rPr>
              <a:t>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вдвое дешевле стандартной и составляет 250.000 руб. в год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623185"/>
              </p:ext>
            </p:extLst>
          </p:nvPr>
        </p:nvGraphicFramePr>
        <p:xfrm>
          <a:off x="120650" y="171450"/>
          <a:ext cx="7315199" cy="80664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735056822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marL="9144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Возможные опции к ГПУ-250кВт </a:t>
                      </a:r>
                      <a:r>
                        <a:rPr lang="ru-RU" sz="14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Weichai</a:t>
                      </a:r>
                      <a:r>
                        <a:rPr lang="ru-RU" sz="14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:</a:t>
                      </a:r>
                      <a:endParaRPr lang="ru-RU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0202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lang="ru-RU" sz="120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Все ГПУ</a:t>
                      </a:r>
                      <a:br>
                        <a:rPr lang="ru-RU" sz="1200" dirty="0">
                          <a:latin typeface="Microsoft Sans Serif"/>
                          <a:cs typeface="Microsoft Sans Serif"/>
                        </a:rPr>
                      </a:b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Сумма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55977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</a:t>
                      </a:r>
                      <a:r>
                        <a:rPr lang="ru-RU" sz="1200" b="0" dirty="0" err="1">
                          <a:latin typeface="Microsoft Sans Serif"/>
                          <a:cs typeface="Microsoft Sans Serif"/>
                        </a:rPr>
                        <a:t>интеркулера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 и охлаждающей жидкости 250кВт с автоматикой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>
                          <a:latin typeface="Microsoft Sans Serif"/>
                          <a:cs typeface="Microsoft Sans Serif"/>
                        </a:rPr>
                        <a:t>5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9 250 000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43488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250кВт с автоматикой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1 000 000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5 000 000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3064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интеркулера и охлаждающей жидкости 250кВт с автоматикой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4 250 000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4296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Промежуточный охладитель рубашки двигателя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 err="1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долива м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асл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а с баком на 20 л и дополнительным внешним датчиком уровня масла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80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290769"/>
                  </a:ext>
                </a:extLst>
              </a:tr>
              <a:tr h="379534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 контроля уровня охлаждающей жидкости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15847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Шкаф параллельной работы 1250А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4 500 000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353939"/>
                  </a:ext>
                </a:extLst>
              </a:tr>
              <a:tr h="340329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АВР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Delixi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(автоматический ввод резерва) 630A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140 000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37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глушитель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854994"/>
                  </a:ext>
                </a:extLst>
              </a:tr>
              <a:tr h="16007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газа на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9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тепла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8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641023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0990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Кожух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4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4 250 000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111195"/>
                  </a:ext>
                </a:extLst>
              </a:tr>
              <a:tr h="165259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60 воздушных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10 000 000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47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40 водоохлаждаемых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с градирней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3 450 000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5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17 250 000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364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Проектные работы 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2-5% стоимости счета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8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выездные (ПНР)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5%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стоимости счёта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25990"/>
                  </a:ext>
                </a:extLst>
              </a:tr>
              <a:tr h="298597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Строительно-монтажные работы (СМР)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5-10%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сложности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17923"/>
                  </a:ext>
                </a:extLst>
              </a:tr>
              <a:tr h="774335">
                <a:tc gridSpan="3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6">
            <a:extLst>
              <a:ext uri="{FF2B5EF4-FFF2-40B4-BE49-F238E27FC236}">
                <a16:creationId xmlns:a16="http://schemas.microsoft.com/office/drawing/2014/main" id="{3FE3659A-5B0C-BC00-B8F5-F66A3F3F5983}"/>
              </a:ext>
            </a:extLst>
          </p:cNvPr>
          <p:cNvSpPr txBox="1"/>
          <p:nvPr/>
        </p:nvSpPr>
        <p:spPr>
          <a:xfrm>
            <a:off x="402166" y="9163050"/>
            <a:ext cx="688128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</a:t>
            </a:r>
            <a:r>
              <a:rPr sz="1400" dirty="0" err="1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07556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algn="ctr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Verdana"/>
                <a:cs typeface="Verdana"/>
              </a:rPr>
              <a:t>Вы</a:t>
            </a:r>
            <a:r>
              <a:rPr spc="-380" dirty="0">
                <a:latin typeface="Verdana"/>
                <a:cs typeface="Verdana"/>
              </a:rPr>
              <a:t> </a:t>
            </a:r>
            <a:r>
              <a:rPr spc="-135" dirty="0">
                <a:latin typeface="Verdana"/>
                <a:cs typeface="Verdana"/>
              </a:rPr>
              <a:t>нашли</a:t>
            </a:r>
            <a:r>
              <a:rPr spc="-455" dirty="0">
                <a:latin typeface="Verdana"/>
                <a:cs typeface="Verdana"/>
              </a:rPr>
              <a:t> </a:t>
            </a:r>
            <a:r>
              <a:rPr spc="-175" dirty="0" err="1">
                <a:latin typeface="Verdana"/>
                <a:cs typeface="Verdana"/>
              </a:rPr>
              <a:t>правильную</a:t>
            </a:r>
            <a:r>
              <a:rPr spc="-440" dirty="0">
                <a:latin typeface="Verdana"/>
                <a:cs typeface="Verdana"/>
              </a:rPr>
              <a:t> </a:t>
            </a:r>
            <a:r>
              <a:rPr lang="ru-RU" spc="-440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компанию</a:t>
            </a:r>
            <a:r>
              <a:rPr lang="ru-RU" spc="-125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для</a:t>
            </a:r>
            <a:r>
              <a:rPr spc="-434" dirty="0">
                <a:latin typeface="Verdana"/>
                <a:cs typeface="Verdana"/>
              </a:rPr>
              <a:t> </a:t>
            </a:r>
            <a:r>
              <a:rPr lang="ru-RU" spc="-434" dirty="0">
                <a:latin typeface="Verdana"/>
                <a:cs typeface="Verdana"/>
              </a:rPr>
              <a:t> </a:t>
            </a:r>
            <a:r>
              <a:rPr spc="-170" dirty="0" err="1">
                <a:latin typeface="Verdana"/>
                <a:cs typeface="Verdana"/>
              </a:rPr>
              <a:t>покупки</a:t>
            </a:r>
            <a:r>
              <a:rPr lang="ru-RU" spc="-170" dirty="0">
                <a:latin typeface="Verdana"/>
                <a:cs typeface="Verdana"/>
              </a:rPr>
              <a:t> </a:t>
            </a:r>
            <a:r>
              <a:rPr spc="-484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ГПУ!</a:t>
            </a:r>
            <a:endParaRPr dirty="0">
              <a:latin typeface="Verdana"/>
              <a:cs typeface="Verdana"/>
            </a:endParaRPr>
          </a:p>
          <a:p>
            <a:pPr marL="186055" marR="5080" algn="ctr">
              <a:lnSpc>
                <a:spcPct val="100000"/>
              </a:lnSpc>
              <a:spcBef>
                <a:spcPts val="1505"/>
              </a:spcBef>
            </a:pPr>
            <a:r>
              <a:rPr sz="1600" spc="-5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То</a:t>
            </a:r>
            <a:r>
              <a:rPr sz="1600" spc="-4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3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самое</a:t>
            </a:r>
            <a:r>
              <a:rPr lang="ru-RU" sz="16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чувство</a:t>
            </a:r>
            <a:r>
              <a:rPr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когда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ты</a:t>
            </a:r>
            <a:r>
              <a:rPr sz="1600" spc="-4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круче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всех</a:t>
            </a:r>
            <a:r>
              <a:rPr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1600" spc="-3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у</a:t>
            </a:r>
            <a:r>
              <a:rPr sz="1600" spc="-3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тебя</a:t>
            </a:r>
            <a:r>
              <a:rPr lang="ru-RU"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</a:t>
            </a:r>
            <a:r>
              <a:rPr sz="1600" spc="-3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Нами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ё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получится!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1600" dirty="0">
                <a:latin typeface="Verdana"/>
                <a:cs typeface="Verdana"/>
              </a:rPr>
              <a:t>И</a:t>
            </a:r>
            <a:r>
              <a:rPr sz="1600" spc="-375" dirty="0">
                <a:latin typeface="Verdana"/>
                <a:cs typeface="Verdana"/>
              </a:rPr>
              <a:t> </a:t>
            </a:r>
            <a:r>
              <a:rPr sz="1600" spc="-100" dirty="0" err="1">
                <a:latin typeface="Verdana"/>
                <a:cs typeface="Verdana"/>
              </a:rPr>
              <a:t>вот</a:t>
            </a:r>
            <a:r>
              <a:rPr sz="1600" spc="-490" dirty="0">
                <a:latin typeface="Verdana"/>
                <a:cs typeface="Verdana"/>
              </a:rPr>
              <a:t> </a:t>
            </a:r>
            <a:r>
              <a:rPr lang="ru-RU" sz="1600" spc="-490" dirty="0">
                <a:latin typeface="Verdana"/>
                <a:cs typeface="Verdana"/>
              </a:rPr>
              <a:t> </a:t>
            </a:r>
            <a:r>
              <a:rPr sz="1600" spc="-10" dirty="0" err="1">
                <a:latin typeface="Verdana"/>
                <a:cs typeface="Verdana"/>
              </a:rPr>
              <a:t>почему</a:t>
            </a:r>
            <a:r>
              <a:rPr sz="1600" spc="-10" dirty="0">
                <a:latin typeface="Verdana"/>
                <a:cs typeface="Verdana"/>
              </a:rPr>
              <a:t>:</a:t>
            </a:r>
            <a:br>
              <a:rPr lang="ru-RU" sz="1600" dirty="0">
                <a:latin typeface="Verdana"/>
                <a:cs typeface="Verdana"/>
              </a:rPr>
            </a:br>
            <a:endParaRPr sz="2000" dirty="0">
              <a:latin typeface="Verdana"/>
              <a:cs typeface="Verdana"/>
            </a:endParaRPr>
          </a:p>
          <a:p>
            <a:pPr marL="501650" marR="114300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9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российского</a:t>
            </a:r>
            <a:r>
              <a:rPr sz="1600" b="1" spc="-114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600" dirty="0">
              <a:latin typeface="Verdana"/>
              <a:cs typeface="Verdana"/>
            </a:endParaRPr>
          </a:p>
          <a:p>
            <a:pPr marL="522605" indent="-287655">
              <a:lnSpc>
                <a:spcPct val="100000"/>
              </a:lnSpc>
              <a:buFont typeface="Wingdings"/>
              <a:buChar char=""/>
              <a:tabLst>
                <a:tab pos="522605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8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комплектацию</a:t>
            </a:r>
            <a:r>
              <a:rPr sz="1600" spc="-10" dirty="0">
                <a:latin typeface="Microsoft Sans Serif"/>
                <a:cs typeface="Microsoft Sans Serif"/>
              </a:rPr>
              <a:t> 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Arial MT"/>
              <a:cs typeface="Arial MT"/>
            </a:endParaRPr>
          </a:p>
          <a:p>
            <a:pPr marL="296545" marR="375285" indent="-284480">
              <a:lnSpc>
                <a:spcPct val="100000"/>
              </a:lnSpc>
              <a:buAutoNum type="arabicPeriod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250кВт,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площадью, 	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возможностью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выноса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двумя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 dirty="0">
              <a:latin typeface="Verdana"/>
              <a:cs typeface="Verdana"/>
            </a:endParaRPr>
          </a:p>
          <a:p>
            <a:pPr marL="299085" marR="131953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Электрический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насос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охлаждающей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жидкости,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вместо </a:t>
            </a:r>
            <a:r>
              <a:rPr sz="1400" dirty="0">
                <a:latin typeface="Verdana"/>
                <a:cs typeface="Verdana"/>
              </a:rPr>
              <a:t>механической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помпы</a:t>
            </a:r>
            <a:endParaRPr sz="1400" dirty="0">
              <a:latin typeface="Verdana"/>
              <a:cs typeface="Verdana"/>
            </a:endParaRPr>
          </a:p>
          <a:p>
            <a:pPr marL="299085" marR="43751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отсутствие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сокращает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1315" algn="l"/>
              </a:tabLst>
            </a:pPr>
            <a:r>
              <a:rPr sz="1400" spc="-10" dirty="0">
                <a:latin typeface="Verdana"/>
                <a:cs typeface="Verdana"/>
              </a:rPr>
              <a:t>Использование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альтернаторе,</a:t>
            </a:r>
            <a:endParaRPr sz="1400" dirty="0">
              <a:latin typeface="Verdana"/>
              <a:cs typeface="Verdana"/>
            </a:endParaRPr>
          </a:p>
          <a:p>
            <a:pPr marL="299085" marR="42989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позволяющее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добиваться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точности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электроэнергии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в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стандартных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Увеличенная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постоянная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мощность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210кВт</a:t>
            </a:r>
            <a:endParaRPr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(против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базовых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200кВт),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уменьшения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ресурса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6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Работа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перегрева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за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счет</a:t>
            </a:r>
            <a:endParaRPr sz="1400" dirty="0">
              <a:latin typeface="Verdana"/>
              <a:cs typeface="Verdana"/>
            </a:endParaRPr>
          </a:p>
          <a:p>
            <a:pPr marL="299085" marR="110109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электронасоса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производительности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" dirty="0">
                <a:latin typeface="Verdana"/>
                <a:cs typeface="Verdana"/>
              </a:rPr>
              <a:t> вдвое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297180" indent="-284480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7180" algn="l"/>
              </a:tabLst>
            </a:pPr>
            <a:r>
              <a:rPr sz="1400" dirty="0">
                <a:latin typeface="Verdana"/>
                <a:cs typeface="Verdana"/>
              </a:rPr>
              <a:t>Установлены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индивидуальные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температуры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 err="1">
                <a:latin typeface="Verdana"/>
                <a:cs typeface="Verdana"/>
              </a:rPr>
              <a:t>по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цилиндрам</a:t>
            </a:r>
            <a:r>
              <a:rPr lang="en-US" sz="1400" spc="-1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и да</a:t>
            </a:r>
            <a:r>
              <a:rPr lang="ru-RU" sz="1400" dirty="0">
                <a:latin typeface="Verdana"/>
                <a:cs typeface="Verdana"/>
              </a:rPr>
              <a:t>тчик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температуры</a:t>
            </a:r>
            <a:r>
              <a:rPr lang="ru-RU" sz="1400" spc="-4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выхлопных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газов</a:t>
            </a:r>
            <a:r>
              <a:rPr lang="ru-RU" sz="1400" spc="-1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целью</a:t>
            </a:r>
            <a:r>
              <a:rPr lang="ru-RU" sz="1400" spc="-3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остановки</a:t>
            </a:r>
            <a:endParaRPr lang="ru-RU"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ru-RU" sz="1400" dirty="0">
                <a:latin typeface="Verdana"/>
                <a:cs typeface="Verdana"/>
              </a:rPr>
              <a:t>двигателя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случае,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если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некачественно</a:t>
            </a:r>
            <a:r>
              <a:rPr lang="ru-RU" sz="1400" spc="-8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отрегулированы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зазоры</a:t>
            </a: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8915">
              <a:lnSpc>
                <a:spcPct val="100000"/>
              </a:lnSpc>
              <a:spcBef>
                <a:spcPts val="950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lang="ru-RU" sz="1600" b="1" spc="-1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9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60"/>
              </a:spcBef>
              <a:tabLst>
                <a:tab pos="789305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5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94D"/>
                </a:solidFill>
                <a:latin typeface="Verdana"/>
                <a:cs typeface="Verdana"/>
              </a:rPr>
              <a:t>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 marR="50609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Покупателю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уведомления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5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698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E271-9777-4B29-ABD5-3A217D09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7556500" cy="4096047"/>
          </a:xfrm>
          <a:prstGeom prst="rect">
            <a:avLst/>
          </a:prstGeom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70967"/>
              </p:ext>
            </p:extLst>
          </p:nvPr>
        </p:nvGraphicFramePr>
        <p:xfrm>
          <a:off x="273050" y="4191297"/>
          <a:ext cx="6934200" cy="6239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5"/>
                        </a:lnSpc>
                      </a:pP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Квт/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315,5</a:t>
                      </a:r>
                      <a:r>
                        <a:rPr lang="ru-RU" sz="1050" spc="-10" dirty="0" err="1">
                          <a:latin typeface="Times New Roman"/>
                          <a:cs typeface="Times New Roman"/>
                        </a:rPr>
                        <a:t>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Резервная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275кВт/342,5кВа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0">
                          <a:latin typeface="Times New Roman"/>
                          <a:cs typeface="Times New Roman"/>
                        </a:rPr>
                        <a:t>                                          450А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32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US" sz="1050" spc="-10">
                          <a:latin typeface="Times New Roman"/>
                          <a:cs typeface="Times New Roman"/>
                        </a:rPr>
                        <a:t>Deepsea 7320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Цифровой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5420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Инженерная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Двигатель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5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4603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345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483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КПа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265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57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ts val="123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16.5м3/час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холостой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77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78002"/>
              </p:ext>
            </p:extLst>
          </p:nvPr>
        </p:nvGraphicFramePr>
        <p:xfrm>
          <a:off x="273050" y="126491"/>
          <a:ext cx="6934200" cy="16332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Связь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9465" algn="ctr">
                        <a:lnSpc>
                          <a:spcPts val="1195"/>
                        </a:lnSpc>
                      </a:pPr>
                      <a:r>
                        <a:rPr lang="ru-RU" sz="1050" spc="-3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фазный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575" spc="-22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проводной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250кВт/312.5кВА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32974"/>
              </p:ext>
            </p:extLst>
          </p:nvPr>
        </p:nvGraphicFramePr>
        <p:xfrm>
          <a:off x="273050" y="1847850"/>
          <a:ext cx="6858000" cy="2679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sz="1575" baseline="2645" dirty="0" err="1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575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lang="ru-RU" sz="1575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575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раме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0*1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224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(мм)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825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00*2160*2210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Рекомендуемое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15570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холостом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ходу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311150" y="5048250"/>
            <a:ext cx="6934200" cy="26507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686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8384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4"/>
            </a:pPr>
            <a:endParaRPr sz="1200" dirty="0">
              <a:latin typeface="Times New Roman"/>
              <a:cs typeface="Times New Roman"/>
            </a:endParaRPr>
          </a:p>
          <a:p>
            <a:pPr marL="259079" marR="244475" lvl="1" indent="-247015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sz="1200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200" dirty="0">
                <a:latin typeface="Times New Roman"/>
                <a:cs typeface="Times New Roman"/>
              </a:rPr>
              <a:t> гарантирует </a:t>
            </a:r>
            <a:r>
              <a:rPr sz="1200" dirty="0" err="1">
                <a:latin typeface="Times New Roman"/>
                <a:cs typeface="Times New Roman"/>
              </a:rPr>
              <a:t>соответствие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транспортирования,</a:t>
            </a:r>
            <a:r>
              <a:rPr sz="1200" dirty="0">
                <a:latin typeface="Times New Roman"/>
                <a:cs typeface="Times New Roman"/>
              </a:rPr>
              <a:t> хранения, </a:t>
            </a:r>
            <a:r>
              <a:rPr sz="1200" spc="-10" dirty="0">
                <a:latin typeface="Times New Roman"/>
                <a:cs typeface="Times New Roman"/>
              </a:rPr>
              <a:t>монтажа,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обслуживания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7145" marR="5080" lvl="1" indent="-5080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lang="ru-RU" sz="1200" dirty="0">
                <a:latin typeface="Times New Roman"/>
                <a:cs typeface="Times New Roman"/>
              </a:rPr>
              <a:t>   </a:t>
            </a:r>
            <a:r>
              <a:rPr sz="1200" dirty="0" err="1">
                <a:latin typeface="Times New Roman"/>
                <a:cs typeface="Times New Roman"/>
              </a:rPr>
              <a:t>Гарантийный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изготовления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</a:t>
            </a:r>
            <a:r>
              <a:rPr sz="1200" spc="-20" dirty="0" err="1">
                <a:latin typeface="Times New Roman"/>
                <a:cs typeface="Times New Roman"/>
              </a:rPr>
              <a:t>цию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6350" marR="288925" lvl="1" indent="-6350">
              <a:lnSpc>
                <a:spcPct val="123300"/>
              </a:lnSpc>
              <a:spcBef>
                <a:spcPts val="335"/>
              </a:spcBef>
              <a:buAutoNum type="arabicPeriod"/>
              <a:tabLst>
                <a:tab pos="265113" algn="l"/>
                <a:tab pos="271463" algn="l"/>
              </a:tabLst>
            </a:pPr>
            <a:r>
              <a:rPr lang="ru-RU" sz="1200" spc="-10" dirty="0">
                <a:latin typeface="Times New Roman"/>
                <a:cs typeface="Times New Roman"/>
              </a:rPr>
              <a:t>    </a:t>
            </a:r>
            <a:r>
              <a:rPr sz="1200" spc="-10" dirty="0" err="1">
                <a:latin typeface="Times New Roman"/>
                <a:cs typeface="Times New Roman"/>
              </a:rPr>
              <a:t>Гарантийный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10" dirty="0">
                <a:latin typeface="Times New Roman"/>
                <a:cs typeface="Times New Roman"/>
              </a:rPr>
              <a:t> эксплуатации</a:t>
            </a:r>
            <a:r>
              <a:rPr sz="1200" dirty="0">
                <a:latin typeface="Times New Roman"/>
                <a:cs typeface="Times New Roman"/>
              </a:rPr>
              <a:t> 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200" spc="-10" dirty="0">
                <a:latin typeface="Times New Roman"/>
                <a:cs typeface="Times New Roman"/>
              </a:rPr>
              <a:t> или 1500 моточасов, </a:t>
            </a:r>
            <a:br>
              <a:rPr lang="ru-RU" sz="1200" spc="-10" dirty="0">
                <a:latin typeface="Times New Roman"/>
                <a:cs typeface="Times New Roman"/>
              </a:rPr>
            </a:br>
            <a:r>
              <a:rPr lang="ru-RU" sz="1200" spc="-10" dirty="0">
                <a:latin typeface="Times New Roman"/>
                <a:cs typeface="Times New Roman"/>
              </a:rPr>
              <a:t>       в зависимости от того, что наступит раньше,</a:t>
            </a:r>
            <a:r>
              <a:rPr sz="1200" dirty="0">
                <a:latin typeface="Times New Roman"/>
                <a:cs typeface="Times New Roman"/>
              </a:rPr>
              <a:t> но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 </a:t>
            </a:r>
            <a:r>
              <a:rPr sz="1200" dirty="0" err="1">
                <a:latin typeface="Times New Roman"/>
                <a:cs typeface="Times New Roman"/>
              </a:rPr>
              <a:t>более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35" dirty="0">
                <a:latin typeface="Times New Roman"/>
                <a:cs typeface="Times New Roman"/>
              </a:rPr>
              <a:t>18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месяцев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даты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изготовления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5590" lvl="1" indent="-26162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75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Нормативный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службы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составляет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59079" marR="128270" lvl="1" indent="-247015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предусматривает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возмещение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материального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связанных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эксплуатацией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Гарантийному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ремонту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возникшие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причине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неправильного,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 err="1">
                <a:latin typeface="Times New Roman"/>
                <a:cs typeface="Times New Roman"/>
              </a:rPr>
              <a:t>или</a:t>
            </a:r>
            <a:r>
              <a:rPr lang="ru-RU"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размещения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непригодном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для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</TotalTime>
  <Words>1414</Words>
  <Application>Microsoft Office PowerPoint</Application>
  <PresentationFormat>Произвольный</PresentationFormat>
  <Paragraphs>298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manager1</cp:lastModifiedBy>
  <cp:revision>42</cp:revision>
  <dcterms:created xsi:type="dcterms:W3CDTF">2025-09-25T10:34:58Z</dcterms:created>
  <dcterms:modified xsi:type="dcterms:W3CDTF">2025-10-14T11:04:37Z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