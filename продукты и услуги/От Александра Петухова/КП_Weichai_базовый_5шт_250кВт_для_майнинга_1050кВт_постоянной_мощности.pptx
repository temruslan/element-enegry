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7556500" cy="10706100"/>
  <p:notesSz cx="7556500" cy="107061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Раздел по умолчанию" id="{BB18C549-3DC8-41B5-9190-D2FB0F76C086}">
          <p14:sldIdLst>
            <p14:sldId id="256"/>
          </p14:sldIdLst>
        </p14:section>
        <p14:section name="Раздел без заголовка" id="{1C742C74-E3E6-4A2D-A424-7B5F55AC43F1}">
          <p14:sldIdLst>
            <p14:sldId id="257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82" autoAdjust="0"/>
  </p:normalViewPr>
  <p:slideViewPr>
    <p:cSldViewPr>
      <p:cViewPr>
        <p:scale>
          <a:sx n="90" d="100"/>
          <a:sy n="90" d="100"/>
        </p:scale>
        <p:origin x="2580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8891"/>
            <a:ext cx="6423025" cy="22482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95416"/>
            <a:ext cx="5289550" cy="267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62403"/>
            <a:ext cx="3287077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62403"/>
            <a:ext cx="3287077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92679" y="6448044"/>
            <a:ext cx="2496312" cy="39944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62403"/>
            <a:ext cx="6800850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hyperlink" Target="mailto:sales@elementkb.r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961132"/>
            <a:ext cx="7556500" cy="7574280"/>
            <a:chOff x="0" y="2961132"/>
            <a:chExt cx="7556500" cy="7574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3179" y="6568440"/>
              <a:ext cx="2324099" cy="396697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424428"/>
              <a:ext cx="4395470" cy="3997325"/>
            </a:xfrm>
            <a:custGeom>
              <a:avLst/>
              <a:gdLst/>
              <a:ahLst/>
              <a:cxnLst/>
              <a:rect l="l" t="t" r="r" b="b"/>
              <a:pathLst>
                <a:path w="4395470" h="3997325">
                  <a:moveTo>
                    <a:pt x="4395216" y="0"/>
                  </a:moveTo>
                  <a:lnTo>
                    <a:pt x="0" y="0"/>
                  </a:lnTo>
                  <a:lnTo>
                    <a:pt x="0" y="3997071"/>
                  </a:lnTo>
                  <a:lnTo>
                    <a:pt x="4395216" y="3997071"/>
                  </a:lnTo>
                  <a:lnTo>
                    <a:pt x="4395216" y="0"/>
                  </a:lnTo>
                  <a:close/>
                </a:path>
              </a:pathLst>
            </a:custGeom>
            <a:solidFill>
              <a:srgbClr val="1F2A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9999" y="3049524"/>
              <a:ext cx="3745992" cy="47899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9455" y="2961132"/>
              <a:ext cx="3526536" cy="44622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971" y="4244340"/>
              <a:ext cx="73151" cy="777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56971" y="1863979"/>
            <a:ext cx="7292468" cy="1035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КОММЕРЧЕСКОЕ</a:t>
            </a:r>
            <a:r>
              <a:rPr sz="1600" b="1" spc="-13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ПРЕДЛОЖЕНИЕ</a:t>
            </a:r>
            <a:endParaRPr lang="ru-RU" sz="1600" b="1" spc="-10" dirty="0">
              <a:solidFill>
                <a:srgbClr val="1C2A45"/>
              </a:solidFill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25" dirty="0" err="1">
                <a:solidFill>
                  <a:srgbClr val="1C2A45"/>
                </a:solidFill>
                <a:latin typeface="Verdana"/>
                <a:cs typeface="Verdana"/>
              </a:rPr>
              <a:t>на</a:t>
            </a:r>
            <a:r>
              <a:rPr lang="ru-RU" sz="1600" b="1" spc="-25" dirty="0">
                <a:solidFill>
                  <a:srgbClr val="1C2A45"/>
                </a:solidFill>
                <a:latin typeface="Verdana"/>
                <a:cs typeface="Verdana"/>
              </a:rPr>
              <a:t> 5шт.-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ГПУ</a:t>
            </a:r>
            <a:r>
              <a:rPr sz="1600" b="1" spc="-13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Weichai</a:t>
            </a:r>
            <a:r>
              <a:rPr sz="1600" b="1" spc="-95" dirty="0">
                <a:latin typeface="Verdana"/>
                <a:cs typeface="Verdana"/>
              </a:rPr>
              <a:t> </a:t>
            </a: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номинальной</a:t>
            </a:r>
            <a:r>
              <a:rPr sz="1600" b="1" spc="-8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мощностью</a:t>
            </a:r>
            <a:endParaRPr lang="ru-RU" sz="1600" b="1" dirty="0">
              <a:solidFill>
                <a:srgbClr val="1C2A45"/>
              </a:solidFill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2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250кВт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открытого</a:t>
            </a:r>
            <a:r>
              <a:rPr sz="1600" b="1" spc="-12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исполнения</a:t>
            </a:r>
            <a:endParaRPr lang="ru-RU" sz="1600" b="1" spc="-10" dirty="0">
              <a:solidFill>
                <a:srgbClr val="1C2A45"/>
              </a:solidFill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 специально адаптированную для майнинга</a:t>
            </a:r>
            <a:endParaRPr sz="1600" dirty="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11106" y="229180"/>
            <a:ext cx="133834" cy="16219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23329" y="559646"/>
            <a:ext cx="149860" cy="16255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23329" y="897128"/>
            <a:ext cx="149860" cy="12014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763773" y="241554"/>
            <a:ext cx="196151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РФ,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РМЭ,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Йошкар-Ола,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б-р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Победы,</a:t>
            </a:r>
            <a:r>
              <a:rPr sz="900" spc="-40" dirty="0">
                <a:latin typeface="Calibri"/>
                <a:cs typeface="Calibri"/>
              </a:rPr>
              <a:t> </a:t>
            </a:r>
            <a:r>
              <a:rPr sz="900" spc="-20" dirty="0">
                <a:latin typeface="Calibri"/>
                <a:cs typeface="Calibri"/>
              </a:rPr>
              <a:t>д.15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50311" y="557276"/>
            <a:ext cx="96011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Segoe UI"/>
                <a:cs typeface="Segoe UI"/>
              </a:rPr>
              <a:t>+7(927)</a:t>
            </a:r>
            <a:r>
              <a:rPr sz="900" spc="-25" dirty="0">
                <a:latin typeface="Segoe UI"/>
                <a:cs typeface="Segoe UI"/>
              </a:rPr>
              <a:t> </a:t>
            </a:r>
            <a:r>
              <a:rPr sz="900" dirty="0">
                <a:latin typeface="Segoe UI"/>
                <a:cs typeface="Segoe UI"/>
              </a:rPr>
              <a:t>872</a:t>
            </a:r>
            <a:r>
              <a:rPr sz="900" spc="-3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98-</a:t>
            </a:r>
            <a:r>
              <a:rPr sz="900" spc="-25" dirty="0">
                <a:latin typeface="Segoe UI"/>
                <a:cs typeface="Segoe UI"/>
              </a:rPr>
              <a:t>91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37866" y="834897"/>
            <a:ext cx="10750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9"/>
              </a:rPr>
              <a:t>sales1@elementkb.ru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0738" y="3404718"/>
            <a:ext cx="3611245" cy="3542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4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СПЕЦИАЛЬНОЕ</a:t>
            </a:r>
            <a:r>
              <a:rPr sz="1400" b="1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ГПУ</a:t>
            </a:r>
            <a:r>
              <a:rPr sz="1400" b="1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ДЛЯ</a:t>
            </a:r>
            <a:r>
              <a:rPr sz="1400" b="1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РАБОТЫ</a:t>
            </a:r>
            <a:r>
              <a:rPr sz="1400" b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Verdana"/>
                <a:cs typeface="Verdana"/>
              </a:rPr>
              <a:t>В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РЕЖИМЕ</a:t>
            </a:r>
            <a:r>
              <a:rPr sz="1400" b="1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24/7/365</a:t>
            </a:r>
            <a:endParaRPr sz="1400">
              <a:latin typeface="Verdana"/>
              <a:cs typeface="Verdana"/>
            </a:endParaRPr>
          </a:p>
          <a:p>
            <a:pPr marL="20320">
              <a:lnSpc>
                <a:spcPct val="100000"/>
              </a:lnSpc>
              <a:spcBef>
                <a:spcPts val="1180"/>
              </a:spcBef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Ресурсные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газопоршневые</a:t>
            </a:r>
            <a:r>
              <a:rPr sz="1000" spc="-5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установки</a:t>
            </a:r>
            <a:r>
              <a:rPr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sz="1000" spc="-8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выработки</a:t>
            </a:r>
            <a:endParaRPr sz="1000">
              <a:latin typeface="Verdana"/>
              <a:cs typeface="Verdana"/>
            </a:endParaRPr>
          </a:p>
          <a:p>
            <a:pPr marL="20320">
              <a:lnSpc>
                <a:spcPct val="100000"/>
              </a:lnSpc>
              <a:spcBef>
                <a:spcPts val="359"/>
              </a:spcBef>
            </a:pP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электроэнергии</a:t>
            </a:r>
            <a:r>
              <a:rPr sz="1000" spc="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sz="1000" spc="-8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режиме</a:t>
            </a:r>
            <a:r>
              <a:rPr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24/7/365.</a:t>
            </a:r>
            <a:endParaRPr sz="1000">
              <a:latin typeface="Verdana"/>
              <a:cs typeface="Verdana"/>
            </a:endParaRPr>
          </a:p>
          <a:p>
            <a:pPr marL="20320" marR="140970">
              <a:lnSpc>
                <a:spcPct val="114999"/>
              </a:lnSpc>
              <a:spcBef>
                <a:spcPts val="395"/>
              </a:spcBef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Моторесурс</a:t>
            </a:r>
            <a:r>
              <a:rPr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36.000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часов.</a:t>
            </a:r>
            <a:r>
              <a:rPr sz="1000" spc="-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Без</a:t>
            </a:r>
            <a:r>
              <a:rPr sz="1000" spc="-8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перегрева</a:t>
            </a:r>
            <a:r>
              <a:rPr sz="1000" spc="-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и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дерейта.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КПД</a:t>
            </a:r>
            <a:r>
              <a:rPr sz="1000" spc="-5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ГПУ</a:t>
            </a:r>
            <a:r>
              <a:rPr sz="1000" spc="-4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–</a:t>
            </a:r>
            <a:r>
              <a:rPr sz="1000" spc="-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33%</a:t>
            </a:r>
            <a:r>
              <a:rPr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(против 28%</a:t>
            </a:r>
            <a:r>
              <a:rPr sz="1000" spc="-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стандарте).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000">
              <a:latin typeface="Verdana"/>
              <a:cs typeface="Verdana"/>
            </a:endParaRPr>
          </a:p>
          <a:p>
            <a:pPr marL="12700" marR="231140">
              <a:lnSpc>
                <a:spcPct val="130000"/>
              </a:lnSpc>
            </a:pP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Двигатели</a:t>
            </a:r>
            <a:r>
              <a:rPr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WEICHAI</a:t>
            </a:r>
            <a:r>
              <a:rPr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F1F1F1"/>
                </a:solidFill>
                <a:latin typeface="Microsoft Sans Serif"/>
                <a:cs typeface="Microsoft Sans Serif"/>
              </a:rPr>
              <a:t>WP13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,</a:t>
            </a:r>
            <a:r>
              <a:rPr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ведущего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мирового производителя</a:t>
            </a:r>
            <a:r>
              <a:rPr sz="1000" spc="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(премиальный</a:t>
            </a:r>
            <a:r>
              <a:rPr sz="1000" spc="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Китай).</a:t>
            </a:r>
            <a:r>
              <a:rPr sz="1000" spc="-8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</a:t>
            </a:r>
            <a:r>
              <a:rPr sz="1000" spc="-8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точностью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электроэнергии</a:t>
            </a:r>
            <a:r>
              <a:rPr sz="1000" spc="-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1%,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против</a:t>
            </a:r>
            <a:r>
              <a:rPr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10%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sz="1000" spc="-8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стандарте.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000">
              <a:latin typeface="Verdana"/>
              <a:cs typeface="Verdana"/>
            </a:endParaRPr>
          </a:p>
          <a:p>
            <a:pPr marL="20320" marR="513715">
              <a:lnSpc>
                <a:spcPct val="130000"/>
              </a:lnSpc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Альтернатор</a:t>
            </a:r>
            <a:r>
              <a:rPr sz="1000" spc="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Element</a:t>
            </a:r>
            <a:r>
              <a:rPr sz="1000" spc="-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с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КПД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93%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-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специально разработанный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sz="1000" spc="-6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нагруженных</a:t>
            </a:r>
            <a:r>
              <a:rPr sz="1000" spc="-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ГПУ.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Контроллер</a:t>
            </a:r>
            <a:r>
              <a:rPr sz="1000" spc="-6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SmartGen</a:t>
            </a:r>
            <a:r>
              <a:rPr sz="1000" spc="-6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(«умный</a:t>
            </a:r>
            <a:r>
              <a:rPr sz="1000" spc="-8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генератор»)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специально</a:t>
            </a:r>
            <a:r>
              <a:rPr sz="1000" spc="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разработанный</a:t>
            </a:r>
            <a:r>
              <a:rPr sz="1000" spc="-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ГПУ.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73507" y="60840"/>
            <a:ext cx="993241" cy="92196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238369" y="75691"/>
            <a:ext cx="2211070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 marR="1284605" indent="-10795">
              <a:lnSpc>
                <a:spcPct val="134400"/>
              </a:lnSpc>
              <a:spcBef>
                <a:spcPts val="100"/>
              </a:spcBef>
            </a:pPr>
            <a:r>
              <a:rPr sz="900" dirty="0">
                <a:latin typeface="Segoe UI"/>
                <a:cs typeface="Segoe UI"/>
              </a:rPr>
              <a:t>ООО</a:t>
            </a:r>
            <a:r>
              <a:rPr sz="900" spc="-1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«ЭЛЕМЕНТ» </a:t>
            </a:r>
            <a:r>
              <a:rPr sz="900" dirty="0">
                <a:latin typeface="Segoe UI"/>
                <a:cs typeface="Segoe UI"/>
              </a:rPr>
              <a:t>ИНН</a:t>
            </a:r>
            <a:r>
              <a:rPr sz="900" spc="-6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1218002079</a:t>
            </a:r>
            <a:endParaRPr sz="900">
              <a:latin typeface="Segoe UI"/>
              <a:cs typeface="Segoe UI"/>
            </a:endParaRPr>
          </a:p>
          <a:p>
            <a:pPr marL="22860">
              <a:lnSpc>
                <a:spcPct val="100000"/>
              </a:lnSpc>
              <a:spcBef>
                <a:spcPts val="455"/>
              </a:spcBef>
            </a:pPr>
            <a:r>
              <a:rPr sz="900" spc="-10" dirty="0">
                <a:latin typeface="Segoe UI"/>
                <a:cs typeface="Segoe UI"/>
              </a:rPr>
              <a:t>КПП</a:t>
            </a:r>
            <a:r>
              <a:rPr sz="900" spc="-4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121801001</a:t>
            </a:r>
            <a:endParaRPr sz="900">
              <a:latin typeface="Segoe UI"/>
              <a:cs typeface="Segoe UI"/>
            </a:endParaRPr>
          </a:p>
          <a:p>
            <a:pPr marL="24765">
              <a:lnSpc>
                <a:spcPct val="100000"/>
              </a:lnSpc>
              <a:spcBef>
                <a:spcPts val="409"/>
              </a:spcBef>
            </a:pPr>
            <a:r>
              <a:rPr sz="900" dirty="0">
                <a:latin typeface="Segoe UI"/>
                <a:cs typeface="Segoe UI"/>
              </a:rPr>
              <a:t>р/с</a:t>
            </a:r>
            <a:r>
              <a:rPr sz="900" spc="-5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40702810070010348277</a:t>
            </a:r>
            <a:r>
              <a:rPr sz="900" spc="2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(Модульбанк)</a:t>
            </a:r>
            <a:endParaRPr sz="900">
              <a:latin typeface="Segoe UI"/>
              <a:cs typeface="Segoe UI"/>
            </a:endParaRPr>
          </a:p>
          <a:p>
            <a:pPr marL="24765">
              <a:lnSpc>
                <a:spcPct val="100000"/>
              </a:lnSpc>
              <a:spcBef>
                <a:spcPts val="490"/>
              </a:spcBef>
            </a:pPr>
            <a:r>
              <a:rPr sz="900" spc="-10" dirty="0">
                <a:latin typeface="Segoe UI"/>
                <a:cs typeface="Segoe UI"/>
              </a:rPr>
              <a:t>БИК</a:t>
            </a:r>
            <a:r>
              <a:rPr sz="900" spc="-4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044525092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9352" y="5219700"/>
            <a:ext cx="81280" cy="1525905"/>
            <a:chOff x="149352" y="5219700"/>
            <a:chExt cx="81280" cy="152590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352" y="6039612"/>
              <a:ext cx="73152" cy="76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972" y="5219700"/>
              <a:ext cx="73151" cy="762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400" y="6667500"/>
              <a:ext cx="73151" cy="777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70738" y="10010647"/>
            <a:ext cx="67735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Данное</a:t>
            </a:r>
            <a:r>
              <a:rPr sz="1100" spc="-8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коммерческое</a:t>
            </a:r>
            <a:r>
              <a:rPr sz="1100" spc="2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предложение</a:t>
            </a:r>
            <a:r>
              <a:rPr sz="1100" spc="-6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не</a:t>
            </a:r>
            <a:r>
              <a:rPr sz="1100" spc="-5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является</a:t>
            </a:r>
            <a:r>
              <a:rPr sz="1100" spc="-5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офертой</a:t>
            </a:r>
            <a:r>
              <a:rPr sz="1100" spc="-4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(в</a:t>
            </a:r>
            <a:r>
              <a:rPr sz="1100" spc="2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соответствии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со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ст.435</a:t>
            </a:r>
            <a:r>
              <a:rPr sz="1100" spc="-7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ГК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РФ),</a:t>
            </a:r>
            <a:r>
              <a:rPr sz="1100" spc="-2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и</a:t>
            </a:r>
            <a:r>
              <a:rPr sz="1100" spc="-10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не</a:t>
            </a:r>
            <a:r>
              <a:rPr sz="1100" spc="-5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влечет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за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собой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обязательств</a:t>
            </a:r>
            <a:r>
              <a:rPr sz="1100" spc="-7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ООО</a:t>
            </a:r>
            <a:r>
              <a:rPr sz="1100" spc="-7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«ЭЛЕМЕНТ»</a:t>
            </a:r>
            <a:r>
              <a:rPr sz="1100" spc="-4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по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заключению</a:t>
            </a:r>
            <a:r>
              <a:rPr sz="1100" spc="-4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Договора на</a:t>
            </a:r>
            <a:r>
              <a:rPr sz="1100" spc="-4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условиях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0" dirty="0">
                <a:solidFill>
                  <a:srgbClr val="46484D"/>
                </a:solidFill>
                <a:latin typeface="Segoe UI"/>
                <a:cs typeface="Segoe UI"/>
              </a:rPr>
              <a:t>настоящего</a:t>
            </a:r>
            <a:r>
              <a:rPr sz="1100" spc="1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предложения</a:t>
            </a:r>
            <a:endParaRPr sz="11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901743"/>
              </p:ext>
            </p:extLst>
          </p:nvPr>
        </p:nvGraphicFramePr>
        <p:xfrm>
          <a:off x="60324" y="232937"/>
          <a:ext cx="7435851" cy="7845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70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4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32061480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3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0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Все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0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96875" marR="158750" indent="-30988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Количество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51435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Мощность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номинальная,</a:t>
                      </a:r>
                      <a:r>
                        <a:rPr sz="1200" spc="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кВт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250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5244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1250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55244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lang="ru-RU" sz="1200" spc="-5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511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79">
                <a:tc>
                  <a:txBody>
                    <a:bodyPr/>
                    <a:lstStyle/>
                    <a:p>
                      <a:pPr marL="51435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Мощность</a:t>
                      </a: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постоянная,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кВт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210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(вместо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200)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5244" algn="ctr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1050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55244" algn="ctr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3337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Сумма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30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Марка</a:t>
                      </a:r>
                      <a:r>
                        <a:rPr sz="1200" spc="-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двигателя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81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5725" marR="227329" indent="0" algn="ctr">
                        <a:lnSpc>
                          <a:spcPct val="100000"/>
                        </a:lnSpc>
                      </a:pP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Weichai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br>
                        <a:rPr lang="ru-RU" sz="1200" spc="-10" dirty="0">
                          <a:latin typeface="Microsoft Sans Serif"/>
                          <a:cs typeface="Microsoft Sans Serif"/>
                        </a:rPr>
                      </a:b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WP13D317E300NG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85725" marR="227329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Шт.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52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ГПУ-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250Квт/380В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 err="1">
                          <a:latin typeface="Microsoft Sans Serif"/>
                          <a:cs typeface="Microsoft Sans Serif"/>
                        </a:rPr>
                        <a:t>двигатель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Weichai</a:t>
                      </a:r>
                      <a:r>
                        <a:rPr lang="ru-RU" sz="1200" spc="0" baseline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WP13,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генератор</a:t>
                      </a:r>
                      <a:r>
                        <a:rPr sz="12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Element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715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</a:t>
                      </a: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600</a:t>
                      </a:r>
                      <a:r>
                        <a:rPr lang="ru-RU"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(400 000 юаней)</a:t>
                      </a:r>
                    </a:p>
                  </a:txBody>
                  <a:tcPr marL="0" marR="0" marT="952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23 000 000</a:t>
                      </a:r>
                    </a:p>
                  </a:txBody>
                  <a:tcPr marL="0" marR="0" marT="15811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08">
                <a:tc>
                  <a:txBody>
                    <a:bodyPr/>
                    <a:lstStyle/>
                    <a:p>
                      <a:pPr marL="91440">
                        <a:lnSpc>
                          <a:spcPts val="1670"/>
                        </a:lnSpc>
                        <a:spcBef>
                          <a:spcPts val="1130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контроля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температуры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двигателя 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цилиндрам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351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344">
                <a:tc>
                  <a:txBody>
                    <a:bodyPr/>
                    <a:lstStyle/>
                    <a:p>
                      <a:pPr marL="91440" marR="147955">
                        <a:lnSpc>
                          <a:spcPts val="166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контроля температуры выхлопных газов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5240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60133">
                <a:tc>
                  <a:txBody>
                    <a:bodyPr/>
                    <a:lstStyle/>
                    <a:p>
                      <a:pPr marL="91440" marR="5391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Радиатор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охлаждения</a:t>
                      </a:r>
                      <a:r>
                        <a:rPr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вертикальный </a:t>
                      </a:r>
                      <a:r>
                        <a:rPr sz="12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вдвое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большей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площадью,</a:t>
                      </a:r>
                      <a:r>
                        <a:rPr sz="1200" spc="-7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возможностью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выноса</a:t>
                      </a:r>
                      <a:r>
                        <a:rPr sz="1200" spc="-5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и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двумя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электровентиляторами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с частотным управлением по температуре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683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33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105"/>
                        </a:spcBef>
                        <a:tabLst/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3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92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8711">
                <a:tc>
                  <a:txBody>
                    <a:bodyPr/>
                    <a:lstStyle/>
                    <a:p>
                      <a:pPr marL="91440">
                        <a:lnSpc>
                          <a:spcPts val="1670"/>
                        </a:lnSpc>
                        <a:spcBef>
                          <a:spcPts val="1135"/>
                        </a:spcBef>
                      </a:pP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Электрический</a:t>
                      </a:r>
                      <a:r>
                        <a:rPr sz="1200" spc="-114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насос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охлаждающей</a:t>
                      </a:r>
                      <a:r>
                        <a:rPr sz="1200" spc="-7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жидкости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414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11828">
                <a:tc>
                  <a:txBody>
                    <a:bodyPr/>
                    <a:lstStyle/>
                    <a:p>
                      <a:pPr marL="91440" marR="115062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подогрева охлаждающей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жидкости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97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87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Постоянный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магнит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альтернатора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4318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975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Электроподогреватель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масла в картере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14283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Удаленный мониторинг с телефона на русском языке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866339"/>
                  </a:ext>
                </a:extLst>
              </a:tr>
              <a:tr h="414283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Газовая рампа с тремя цифровыми манометрами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584946"/>
                  </a:ext>
                </a:extLst>
              </a:tr>
              <a:tr h="435509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Автоматическая зарядка аккумуляторов от альтернатора без зарядного генератора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520751"/>
                  </a:ext>
                </a:extLst>
              </a:tr>
              <a:tr h="290340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Пуско-наладочные работы на предприятии-изготовителя с видеоотчетом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800770"/>
                  </a:ext>
                </a:extLst>
              </a:tr>
              <a:tr h="750896">
                <a:tc gridSpan="4">
                  <a:txBody>
                    <a:bodyPr/>
                    <a:lstStyle/>
                    <a:p>
                      <a:pPr marL="180975" marR="4138295" indent="0">
                        <a:lnSpc>
                          <a:spcPct val="118000"/>
                        </a:lnSpc>
                        <a:spcBef>
                          <a:spcPts val="1415"/>
                        </a:spcBef>
                      </a:pP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Срок</a:t>
                      </a:r>
                      <a:r>
                        <a:rPr sz="12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 err="1">
                          <a:latin typeface="Microsoft Sans Serif"/>
                          <a:cs typeface="Microsoft Sans Serif"/>
                        </a:rPr>
                        <a:t>поставки</a:t>
                      </a: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: </a:t>
                      </a:r>
                      <a:r>
                        <a:rPr lang="ru-RU" sz="1200" spc="-45" dirty="0">
                          <a:latin typeface="Microsoft Sans Serif"/>
                          <a:cs typeface="Microsoft Sans Serif"/>
                        </a:rPr>
                        <a:t>9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дней</a:t>
                      </a:r>
                      <a:br>
                        <a:rPr lang="ru-RU" sz="1200" spc="-20" dirty="0">
                          <a:latin typeface="Microsoft Sans Serif"/>
                          <a:cs typeface="Microsoft Sans Serif"/>
                        </a:rPr>
                      </a:b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Итого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,</a:t>
                      </a:r>
                      <a:r>
                        <a:rPr sz="12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руб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НДС:</a:t>
                      </a:r>
                      <a:r>
                        <a:rPr lang="ru-RU"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180975" marR="4138295" indent="0">
                        <a:lnSpc>
                          <a:spcPct val="118000"/>
                        </a:lnSpc>
                        <a:spcBef>
                          <a:spcPts val="1415"/>
                        </a:spcBef>
                      </a:pP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970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23 000 000</a:t>
                      </a:r>
                    </a:p>
                  </a:txBody>
                  <a:tcPr marL="0" marR="0" marT="12636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" name="object 6"/>
          <p:cNvSpPr txBox="1"/>
          <p:nvPr/>
        </p:nvSpPr>
        <p:spPr>
          <a:xfrm>
            <a:off x="402167" y="9163050"/>
            <a:ext cx="659193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Microsoft Sans Serif"/>
                <a:cs typeface="Microsoft Sans Serif"/>
              </a:rPr>
              <a:t>*Стоимость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самой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ГПУ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составляет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400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000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юаней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по </a:t>
            </a:r>
            <a:r>
              <a:rPr sz="1400" spc="-10" dirty="0">
                <a:latin typeface="Microsoft Sans Serif"/>
                <a:cs typeface="Microsoft Sans Serif"/>
              </a:rPr>
              <a:t>курсу</a:t>
            </a:r>
            <a:r>
              <a:rPr sz="1400" dirty="0">
                <a:latin typeface="Microsoft Sans Serif"/>
                <a:cs typeface="Microsoft Sans Serif"/>
              </a:rPr>
              <a:t> на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день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оплаты.</a:t>
            </a:r>
            <a:endParaRPr sz="1400" dirty="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Microsoft Sans Serif"/>
                <a:cs typeface="Microsoft Sans Serif"/>
              </a:rPr>
              <a:t>Все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опции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полностью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российского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производства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Arial MT"/>
                <a:cs typeface="Arial MT"/>
              </a:rPr>
              <a:t>-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цены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dirty="0" err="1">
                <a:latin typeface="Microsoft Sans Serif"/>
                <a:cs typeface="Microsoft Sans Serif"/>
              </a:rPr>
              <a:t>рублях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10" dirty="0" err="1">
                <a:latin typeface="Microsoft Sans Serif"/>
                <a:cs typeface="Microsoft Sans Serif"/>
              </a:rPr>
              <a:t>фиксированы</a:t>
            </a: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13AD6763-93BD-4707-B275-B3736A103D56}"/>
              </a:ext>
            </a:extLst>
          </p:cNvPr>
          <p:cNvSpPr txBox="1"/>
          <p:nvPr/>
        </p:nvSpPr>
        <p:spPr>
          <a:xfrm>
            <a:off x="402167" y="8567911"/>
            <a:ext cx="659193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 err="1">
                <a:latin typeface="Microsoft Sans Serif"/>
                <a:cs typeface="Microsoft Sans Serif"/>
              </a:rPr>
              <a:t>Стоимость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lang="ru-RU" sz="1400" dirty="0">
                <a:latin typeface="Microsoft Sans Serif"/>
                <a:cs typeface="Microsoft Sans Serif"/>
              </a:rPr>
              <a:t>технического обслуживания нашей 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ГПУ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lang="ru-RU" sz="1400" dirty="0">
                <a:latin typeface="Microsoft Sans Serif"/>
                <a:cs typeface="Microsoft Sans Serif"/>
              </a:rPr>
              <a:t>вдвое дешевле стандартной и составляет 250.000 руб. в год</a:t>
            </a:r>
            <a:endParaRPr sz="1400" dirty="0">
              <a:latin typeface="Microsoft Sans Serif"/>
              <a:cs typeface="Microsoft Sans Serif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2438665D-5EB0-A13F-A364-2193A15B6099}"/>
              </a:ext>
            </a:extLst>
          </p:cNvPr>
          <p:cNvCxnSpPr/>
          <p:nvPr/>
        </p:nvCxnSpPr>
        <p:spPr>
          <a:xfrm>
            <a:off x="5226050" y="232937"/>
            <a:ext cx="0" cy="10053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993291"/>
              </p:ext>
            </p:extLst>
          </p:nvPr>
        </p:nvGraphicFramePr>
        <p:xfrm>
          <a:off x="120649" y="171450"/>
          <a:ext cx="7315200" cy="84836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9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735056822"/>
                    </a:ext>
                  </a:extLst>
                </a:gridCol>
                <a:gridCol w="1219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 gridSpan="4">
                  <a:txBody>
                    <a:bodyPr/>
                    <a:lstStyle/>
                    <a:p>
                      <a:pPr marL="91440" marR="2413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>
                          <a:latin typeface="Microsoft Sans Serif"/>
                          <a:cs typeface="Microsoft Sans Serif"/>
                        </a:rPr>
                        <a:t>Возможные опции к ГПУ-250кВт </a:t>
                      </a:r>
                      <a:r>
                        <a:rPr lang="ru-RU" sz="14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Weichai</a:t>
                      </a:r>
                      <a:r>
                        <a:rPr lang="ru-RU" sz="14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:</a:t>
                      </a:r>
                      <a:endParaRPr lang="ru-RU" sz="1400" b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920202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 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lang="ru-RU" sz="1200">
                          <a:latin typeface="Microsoft Sans Serif"/>
                          <a:cs typeface="Microsoft Sans Serif"/>
                        </a:rPr>
                        <a:t>Шт.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Все ГПУ</a:t>
                      </a:r>
                      <a:br>
                        <a:rPr lang="ru-RU" sz="1200" dirty="0">
                          <a:latin typeface="Microsoft Sans Serif"/>
                          <a:cs typeface="Microsoft Sans Serif"/>
                        </a:rPr>
                      </a:b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Сумма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55977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Модуль рекуперации тепла выхлопных газов, </a:t>
                      </a:r>
                      <a:r>
                        <a:rPr lang="ru-RU" sz="1200" b="0" dirty="0" err="1">
                          <a:latin typeface="Microsoft Sans Serif"/>
                          <a:cs typeface="Microsoft Sans Serif"/>
                        </a:rPr>
                        <a:t>интеркулера</a:t>
                      </a: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 и охлаждающей жидкости 250кВт с автоматикой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1 850 000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>
                          <a:latin typeface="Microsoft Sans Serif"/>
                          <a:cs typeface="Microsoft Sans Serif"/>
                        </a:rPr>
                        <a:t>5</a:t>
                      </a: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9 250 000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0943488"/>
                  </a:ext>
                </a:extLst>
              </a:tr>
              <a:tr h="110173">
                <a:tc>
                  <a:txBody>
                    <a:bodyPr/>
                    <a:lstStyle/>
                    <a:p>
                      <a:pPr marL="92075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Модуль рекуперации тепла выхлопных газов, 250кВт с автоматикой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1 000 000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5 000 000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030644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pPr marL="92075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Модуль рекуперации тепла интеркулера и охлаждающей жидкости 250кВт с автоматикой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850 000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4 250 000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04296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Интеркулер вода-воздух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750 000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70063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92075" indent="0" algn="l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Промежуточный охладитель рубашки двигателя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150 000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750 000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191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Автоматическая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 err="1">
                          <a:latin typeface="Microsoft Sans Serif"/>
                          <a:cs typeface="Microsoft Sans Serif"/>
                        </a:rPr>
                        <a:t>система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долива м</a:t>
                      </a: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асл</a:t>
                      </a: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а с баком на 20 л и дополнительным внешним датчиком уровня масла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80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400 000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6290769"/>
                  </a:ext>
                </a:extLst>
              </a:tr>
              <a:tr h="379534">
                <a:tc>
                  <a:txBody>
                    <a:bodyPr/>
                    <a:lstStyle/>
                    <a:p>
                      <a:pPr marL="92075" indent="0" algn="l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Датчик контроля уровня охлаждающей жидкости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200 000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5415847"/>
                  </a:ext>
                </a:extLst>
              </a:tr>
              <a:tr h="299616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Шкаф параллельной работы 1250А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900 000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4 500 000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353939"/>
                  </a:ext>
                </a:extLst>
              </a:tr>
              <a:tr h="340329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АВР</a:t>
                      </a:r>
                      <a:r>
                        <a:rPr lang="ru-RU" sz="1200" baseline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Delixi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(автоматический ввод резерва) 630A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140 000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700 000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373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Сверхтихий глушитель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170 000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850 000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854994"/>
                  </a:ext>
                </a:extLst>
              </a:tr>
              <a:tr h="16007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Индивидуальный счетчик газа на ГПУ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70 000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350 000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909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Индивидуальный счетчик тепла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70 000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350 000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588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Сверхтихий вертикальный радиатор охлаждения двигателя с 4 вентиляторами с частотным управлением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6641023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Горизонтальный радиатор с 4 вентиляторами с частотным управлением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0990"/>
                  </a:ext>
                </a:extLst>
              </a:tr>
              <a:tr h="110173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Кожух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погодозащитный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на 1 ГПУ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2 000 000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47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Контейнер типа Север на 1 ГПУ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850 000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4 250 000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6111195"/>
                  </a:ext>
                </a:extLst>
              </a:tr>
              <a:tr h="165259">
                <a:tc>
                  <a:txBody>
                    <a:bodyPr/>
                    <a:lstStyle/>
                    <a:p>
                      <a:pPr marL="91440" marR="2413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Контейнер типа Север на 1 ГПУ и 60 воздушных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асиков</a:t>
                      </a: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2 000 000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10 000 000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3474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Контейнер типа Север на 1 ГПУ и 40 водоохлаждаемых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асиков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с градирней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3 450 000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17 250 000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2364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Проектные работы 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2-5% стоимости счета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785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Пуско-наладочные работы выездные (ПНР)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5%</a:t>
                      </a:r>
                      <a:r>
                        <a:rPr lang="ru-RU" sz="1200" baseline="0" dirty="0">
                          <a:latin typeface="Microsoft Sans Serif"/>
                          <a:cs typeface="Microsoft Sans Serif"/>
                        </a:rPr>
                        <a:t> стоимости счёта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425990"/>
                  </a:ext>
                </a:extLst>
              </a:tr>
              <a:tr h="298597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Строительно-монтажные работы (СМР)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5-10% от</a:t>
                      </a:r>
                      <a:r>
                        <a:rPr lang="ru-RU" sz="1200" baseline="0" dirty="0">
                          <a:latin typeface="Microsoft Sans Serif"/>
                          <a:cs typeface="Microsoft Sans Serif"/>
                        </a:rPr>
                        <a:t> сложности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317923"/>
                  </a:ext>
                </a:extLst>
              </a:tr>
              <a:tr h="774335">
                <a:tc gridSpan="3">
                  <a:txBody>
                    <a:bodyPr/>
                    <a:lstStyle/>
                    <a:p>
                      <a:pPr marL="180975" marR="4138295" indent="0">
                        <a:lnSpc>
                          <a:spcPct val="118000"/>
                        </a:lnSpc>
                        <a:spcBef>
                          <a:spcPts val="1415"/>
                        </a:spcBef>
                      </a:pP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Срок</a:t>
                      </a: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 err="1">
                          <a:latin typeface="Microsoft Sans Serif"/>
                          <a:cs typeface="Microsoft Sans Serif"/>
                        </a:rPr>
                        <a:t>поставки</a:t>
                      </a: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: </a:t>
                      </a:r>
                      <a:r>
                        <a:rPr lang="ru-RU" sz="1200" spc="-45" dirty="0">
                          <a:latin typeface="Microsoft Sans Serif"/>
                          <a:cs typeface="Microsoft Sans Serif"/>
                        </a:rPr>
                        <a:t>9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дней</a:t>
                      </a:r>
                      <a:br>
                        <a:rPr lang="ru-RU" sz="1200" spc="-20" dirty="0">
                          <a:latin typeface="Microsoft Sans Serif"/>
                          <a:cs typeface="Microsoft Sans Serif"/>
                        </a:rPr>
                      </a:b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Итого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,</a:t>
                      </a:r>
                      <a:r>
                        <a:rPr sz="12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руб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НДС: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180975" marR="4138295" indent="0">
                        <a:lnSpc>
                          <a:spcPct val="118000"/>
                        </a:lnSpc>
                        <a:spcBef>
                          <a:spcPts val="1415"/>
                        </a:spcBef>
                      </a:pP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970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" name="object 6">
            <a:extLst>
              <a:ext uri="{FF2B5EF4-FFF2-40B4-BE49-F238E27FC236}">
                <a16:creationId xmlns:a16="http://schemas.microsoft.com/office/drawing/2014/main" id="{3FE3659A-5B0C-BC00-B8F5-F66A3F3F5983}"/>
              </a:ext>
            </a:extLst>
          </p:cNvPr>
          <p:cNvSpPr txBox="1"/>
          <p:nvPr/>
        </p:nvSpPr>
        <p:spPr>
          <a:xfrm>
            <a:off x="402166" y="9163050"/>
            <a:ext cx="6881283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Microsoft Sans Serif"/>
                <a:cs typeface="Microsoft Sans Serif"/>
              </a:rPr>
              <a:t>*</a:t>
            </a:r>
            <a:r>
              <a:rPr sz="1400" dirty="0" err="1">
                <a:latin typeface="Microsoft Sans Serif"/>
                <a:cs typeface="Microsoft Sans Serif"/>
              </a:rPr>
              <a:t>Все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опции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полностью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российского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производства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Arial MT"/>
                <a:cs typeface="Arial MT"/>
              </a:rPr>
              <a:t>-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цены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dirty="0" err="1">
                <a:latin typeface="Microsoft Sans Serif"/>
                <a:cs typeface="Microsoft Sans Serif"/>
              </a:rPr>
              <a:t>рублях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10" dirty="0" err="1">
                <a:latin typeface="Microsoft Sans Serif"/>
                <a:cs typeface="Microsoft Sans Serif"/>
              </a:rPr>
              <a:t>фиксированы</a:t>
            </a:r>
            <a:endParaRPr sz="1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4075561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6600" y="629793"/>
            <a:ext cx="7219900" cy="8012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690" algn="ctr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latin typeface="Verdana"/>
                <a:cs typeface="Verdana"/>
              </a:rPr>
              <a:t>Вы</a:t>
            </a:r>
            <a:r>
              <a:rPr spc="-380" dirty="0">
                <a:latin typeface="Verdana"/>
                <a:cs typeface="Verdana"/>
              </a:rPr>
              <a:t> </a:t>
            </a:r>
            <a:r>
              <a:rPr spc="-135" dirty="0">
                <a:latin typeface="Verdana"/>
                <a:cs typeface="Verdana"/>
              </a:rPr>
              <a:t>нашли</a:t>
            </a:r>
            <a:r>
              <a:rPr spc="-455" dirty="0">
                <a:latin typeface="Verdana"/>
                <a:cs typeface="Verdana"/>
              </a:rPr>
              <a:t> </a:t>
            </a:r>
            <a:r>
              <a:rPr spc="-175" dirty="0" err="1">
                <a:latin typeface="Verdana"/>
                <a:cs typeface="Verdana"/>
              </a:rPr>
              <a:t>правильную</a:t>
            </a:r>
            <a:r>
              <a:rPr spc="-440" dirty="0">
                <a:latin typeface="Verdana"/>
                <a:cs typeface="Verdana"/>
              </a:rPr>
              <a:t> </a:t>
            </a:r>
            <a:r>
              <a:rPr lang="ru-RU" spc="-440" dirty="0">
                <a:latin typeface="Verdana"/>
                <a:cs typeface="Verdana"/>
              </a:rPr>
              <a:t> </a:t>
            </a:r>
            <a:r>
              <a:rPr spc="-125" dirty="0" err="1">
                <a:latin typeface="Verdana"/>
                <a:cs typeface="Verdana"/>
              </a:rPr>
              <a:t>компанию</a:t>
            </a:r>
            <a:r>
              <a:rPr lang="ru-RU" spc="-125" dirty="0">
                <a:latin typeface="Verdana"/>
                <a:cs typeface="Verdana"/>
              </a:rPr>
              <a:t> </a:t>
            </a:r>
            <a:r>
              <a:rPr spc="-125" dirty="0" err="1">
                <a:latin typeface="Verdana"/>
                <a:cs typeface="Verdana"/>
              </a:rPr>
              <a:t>для</a:t>
            </a:r>
            <a:r>
              <a:rPr spc="-434" dirty="0">
                <a:latin typeface="Verdana"/>
                <a:cs typeface="Verdana"/>
              </a:rPr>
              <a:t> </a:t>
            </a:r>
            <a:r>
              <a:rPr lang="ru-RU" spc="-434" dirty="0">
                <a:latin typeface="Verdana"/>
                <a:cs typeface="Verdana"/>
              </a:rPr>
              <a:t> </a:t>
            </a:r>
            <a:r>
              <a:rPr spc="-170" dirty="0" err="1">
                <a:latin typeface="Verdana"/>
                <a:cs typeface="Verdana"/>
              </a:rPr>
              <a:t>покупки</a:t>
            </a:r>
            <a:r>
              <a:rPr lang="ru-RU" spc="-170" dirty="0">
                <a:latin typeface="Verdana"/>
                <a:cs typeface="Verdana"/>
              </a:rPr>
              <a:t> </a:t>
            </a:r>
            <a:r>
              <a:rPr spc="-484" dirty="0">
                <a:latin typeface="Verdana"/>
                <a:cs typeface="Verdana"/>
              </a:rPr>
              <a:t> </a:t>
            </a:r>
            <a:r>
              <a:rPr spc="-20" dirty="0">
                <a:latin typeface="Verdana"/>
                <a:cs typeface="Verdana"/>
              </a:rPr>
              <a:t>ГПУ!</a:t>
            </a:r>
            <a:endParaRPr dirty="0">
              <a:latin typeface="Verdana"/>
              <a:cs typeface="Verdana"/>
            </a:endParaRPr>
          </a:p>
          <a:p>
            <a:pPr marL="186055" marR="5080" algn="ctr">
              <a:lnSpc>
                <a:spcPct val="100000"/>
              </a:lnSpc>
              <a:spcBef>
                <a:spcPts val="1505"/>
              </a:spcBef>
            </a:pPr>
            <a:r>
              <a:rPr sz="1600" spc="-55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То</a:t>
            </a:r>
            <a:r>
              <a:rPr sz="1600" spc="-4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35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самое</a:t>
            </a:r>
            <a:r>
              <a:rPr lang="ru-RU" sz="16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5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чувство</a:t>
            </a:r>
            <a:r>
              <a:rPr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,</a:t>
            </a:r>
            <a:r>
              <a:rPr lang="ru-RU"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когда</a:t>
            </a:r>
            <a:r>
              <a:rPr lang="ru-RU"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ты</a:t>
            </a:r>
            <a:r>
              <a:rPr sz="1600" spc="-4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круче</a:t>
            </a:r>
            <a:r>
              <a:rPr lang="ru-RU"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всех</a:t>
            </a:r>
            <a:r>
              <a:rPr sz="1600" spc="-4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ru-RU" sz="1600" spc="-4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и</a:t>
            </a:r>
            <a:r>
              <a:rPr sz="1600" spc="-3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у</a:t>
            </a:r>
            <a:r>
              <a:rPr sz="1600" spc="-3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тебя</a:t>
            </a:r>
            <a:r>
              <a:rPr lang="ru-RU" sz="16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509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ru-RU" sz="1600" spc="-509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</a:t>
            </a:r>
            <a:r>
              <a:rPr sz="1600" spc="-3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Нами</a:t>
            </a:r>
            <a:r>
              <a:rPr lang="ru-RU" sz="1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вс</a:t>
            </a:r>
            <a:r>
              <a:rPr lang="ru-RU" sz="1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ё</a:t>
            </a:r>
            <a:r>
              <a:rPr sz="1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получится!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405"/>
              </a:spcBef>
            </a:pPr>
            <a:r>
              <a:rPr sz="1600" dirty="0">
                <a:latin typeface="Verdana"/>
                <a:cs typeface="Verdana"/>
              </a:rPr>
              <a:t>И</a:t>
            </a:r>
            <a:r>
              <a:rPr sz="1600" spc="-375" dirty="0">
                <a:latin typeface="Verdana"/>
                <a:cs typeface="Verdana"/>
              </a:rPr>
              <a:t> </a:t>
            </a:r>
            <a:r>
              <a:rPr sz="1600" spc="-100" dirty="0" err="1">
                <a:latin typeface="Verdana"/>
                <a:cs typeface="Verdana"/>
              </a:rPr>
              <a:t>вот</a:t>
            </a:r>
            <a:r>
              <a:rPr sz="1600" spc="-490" dirty="0">
                <a:latin typeface="Verdana"/>
                <a:cs typeface="Verdana"/>
              </a:rPr>
              <a:t> </a:t>
            </a:r>
            <a:r>
              <a:rPr lang="ru-RU" sz="1600" spc="-490" dirty="0">
                <a:latin typeface="Verdana"/>
                <a:cs typeface="Verdana"/>
              </a:rPr>
              <a:t> </a:t>
            </a:r>
            <a:r>
              <a:rPr sz="1600" spc="-10" dirty="0" err="1">
                <a:latin typeface="Verdana"/>
                <a:cs typeface="Verdana"/>
              </a:rPr>
              <a:t>почему</a:t>
            </a:r>
            <a:r>
              <a:rPr sz="1600" spc="-10" dirty="0">
                <a:latin typeface="Verdana"/>
                <a:cs typeface="Verdana"/>
              </a:rPr>
              <a:t>:</a:t>
            </a:r>
            <a:br>
              <a:rPr lang="ru-RU" sz="1600" dirty="0">
                <a:latin typeface="Verdana"/>
                <a:cs typeface="Verdana"/>
              </a:rPr>
            </a:br>
            <a:endParaRPr sz="2000" dirty="0">
              <a:latin typeface="Verdana"/>
              <a:cs typeface="Verdana"/>
            </a:endParaRPr>
          </a:p>
          <a:p>
            <a:pPr marL="501650" marR="114300" algn="ctr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Преимущества</a:t>
            </a:r>
            <a:r>
              <a:rPr sz="1600" b="1" spc="-7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20" dirty="0">
                <a:solidFill>
                  <a:srgbClr val="1C2A45"/>
                </a:solidFill>
                <a:latin typeface="Verdana"/>
                <a:cs typeface="Verdana"/>
              </a:rPr>
              <a:t>газопоршневой</a:t>
            </a:r>
            <a:r>
              <a:rPr sz="1600" b="1" spc="-9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установки</a:t>
            </a:r>
            <a:r>
              <a:rPr sz="1600" b="1" spc="-10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компании Элемент,</a:t>
            </a:r>
            <a:r>
              <a:rPr sz="1600" b="1" spc="-6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специально</a:t>
            </a:r>
            <a:r>
              <a:rPr sz="1600" b="1" spc="-11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разработанной</a:t>
            </a:r>
            <a:r>
              <a:rPr sz="1600" b="1" spc="-5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под</a:t>
            </a:r>
            <a:r>
              <a:rPr sz="1600" b="1" spc="-7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реалии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российского</a:t>
            </a:r>
            <a:r>
              <a:rPr sz="1600" b="1" spc="-114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рынка</a:t>
            </a:r>
            <a:endParaRPr sz="16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600" dirty="0">
              <a:latin typeface="Verdana"/>
              <a:cs typeface="Verdana"/>
            </a:endParaRPr>
          </a:p>
          <a:p>
            <a:pPr marL="522605" indent="-287655">
              <a:lnSpc>
                <a:spcPct val="100000"/>
              </a:lnSpc>
              <a:buFont typeface="Wingdings"/>
              <a:buChar char=""/>
              <a:tabLst>
                <a:tab pos="522605" algn="l"/>
              </a:tabLst>
            </a:pPr>
            <a:r>
              <a:rPr sz="1600" dirty="0">
                <a:solidFill>
                  <a:srgbClr val="0D0D0D"/>
                </a:solidFill>
                <a:latin typeface="Trebuchet MS"/>
                <a:cs typeface="Trebuchet MS"/>
              </a:rPr>
              <a:t>В</a:t>
            </a:r>
            <a:r>
              <a:rPr sz="1600" spc="-80" dirty="0">
                <a:solidFill>
                  <a:srgbClr val="0D0D0D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базовую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комплектацию</a:t>
            </a:r>
            <a:r>
              <a:rPr sz="1600" spc="-10" dirty="0">
                <a:latin typeface="Microsoft Sans Serif"/>
                <a:cs typeface="Microsoft Sans Serif"/>
              </a:rPr>
              <a:t> входят</a:t>
            </a:r>
            <a:r>
              <a:rPr sz="1600" spc="-10" dirty="0">
                <a:latin typeface="Arial MT"/>
                <a:cs typeface="Arial MT"/>
              </a:rPr>
              <a:t>: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600" dirty="0">
              <a:latin typeface="Arial MT"/>
              <a:cs typeface="Arial MT"/>
            </a:endParaRPr>
          </a:p>
          <a:p>
            <a:pPr marL="296545" marR="375285" indent="-284480">
              <a:lnSpc>
                <a:spcPct val="100000"/>
              </a:lnSpc>
              <a:buAutoNum type="arabicPeriod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ГПУ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на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250кВт,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радиатор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охлаждения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вдвое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большей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площадью, 	</a:t>
            </a:r>
            <a:r>
              <a:rPr sz="1400" dirty="0">
                <a:latin typeface="Verdana"/>
                <a:cs typeface="Verdana"/>
              </a:rPr>
              <a:t>с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возможностью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выноса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двумя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электровентиляторами</a:t>
            </a:r>
            <a:endParaRPr sz="1400" dirty="0">
              <a:latin typeface="Verdana"/>
              <a:cs typeface="Verdana"/>
            </a:endParaRPr>
          </a:p>
          <a:p>
            <a:pPr marL="299085" marR="1319530" indent="-28702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299085" algn="l"/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	Электрический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насос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охлаждающей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жидкости,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вместо </a:t>
            </a:r>
            <a:r>
              <a:rPr sz="1400" dirty="0">
                <a:latin typeface="Verdana"/>
                <a:cs typeface="Verdana"/>
              </a:rPr>
              <a:t>механической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помпы</a:t>
            </a:r>
            <a:endParaRPr sz="1400" dirty="0">
              <a:latin typeface="Verdana"/>
              <a:cs typeface="Verdana"/>
            </a:endParaRPr>
          </a:p>
          <a:p>
            <a:pPr marL="299085" marR="437515" indent="-287020">
              <a:lnSpc>
                <a:spcPct val="100000"/>
              </a:lnSpc>
              <a:spcBef>
                <a:spcPts val="1685"/>
              </a:spcBef>
              <a:buAutoNum type="arabicPeriod"/>
              <a:tabLst>
                <a:tab pos="299085" algn="l"/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	Полное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отсутствие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ремней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роликов,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что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сокращает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стоимость обслуживания</a:t>
            </a:r>
            <a:endParaRPr sz="1400" dirty="0">
              <a:latin typeface="Verdana"/>
              <a:cs typeface="Verdana"/>
            </a:endParaRP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361315" algn="l"/>
              </a:tabLst>
            </a:pPr>
            <a:r>
              <a:rPr sz="1400" spc="-10" dirty="0">
                <a:latin typeface="Verdana"/>
                <a:cs typeface="Verdana"/>
              </a:rPr>
              <a:t>Использование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постоянного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магнита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альтернаторе,</a:t>
            </a:r>
            <a:endParaRPr sz="1400" dirty="0">
              <a:latin typeface="Verdana"/>
              <a:cs typeface="Verdana"/>
            </a:endParaRPr>
          </a:p>
          <a:p>
            <a:pPr marL="299085" marR="429895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позволяющее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добиваться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точности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выработки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электроэнергии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в </a:t>
            </a:r>
            <a:r>
              <a:rPr sz="1400" dirty="0">
                <a:latin typeface="Verdana"/>
                <a:cs typeface="Verdana"/>
              </a:rPr>
              <a:t>1%,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против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10%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у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стандартных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моделей</a:t>
            </a:r>
            <a:endParaRPr sz="1400" dirty="0">
              <a:latin typeface="Verdana"/>
              <a:cs typeface="Verdana"/>
            </a:endParaRP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 startAt="5"/>
              <a:tabLst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Увеличенная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постоянная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мощность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–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210кВт</a:t>
            </a:r>
            <a:endParaRPr sz="1400" dirty="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(против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базовых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200кВт),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без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уменьшения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ресурса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двигателя</a:t>
            </a:r>
            <a:endParaRPr sz="1400" dirty="0">
              <a:latin typeface="Verdana"/>
              <a:cs typeface="Verdana"/>
            </a:endParaRP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 startAt="6"/>
              <a:tabLst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Работа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ГПУ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без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перегрева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летний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период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за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счет</a:t>
            </a:r>
            <a:endParaRPr sz="1400" dirty="0">
              <a:latin typeface="Verdana"/>
              <a:cs typeface="Verdana"/>
            </a:endParaRPr>
          </a:p>
          <a:p>
            <a:pPr marL="299085" marR="110109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электронасоса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повышенной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производительности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10" dirty="0">
                <a:latin typeface="Verdana"/>
                <a:cs typeface="Verdana"/>
              </a:rPr>
              <a:t> вдвое </a:t>
            </a:r>
            <a:r>
              <a:rPr sz="1400" dirty="0">
                <a:latin typeface="Verdana"/>
                <a:cs typeface="Verdana"/>
              </a:rPr>
              <a:t>большего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радиатора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охлаждения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двигателя</a:t>
            </a:r>
            <a:endParaRPr sz="1400" dirty="0">
              <a:latin typeface="Verdana"/>
              <a:cs typeface="Verdana"/>
            </a:endParaRPr>
          </a:p>
          <a:p>
            <a:pPr marL="297180" indent="-284480">
              <a:lnSpc>
                <a:spcPct val="100000"/>
              </a:lnSpc>
              <a:spcBef>
                <a:spcPts val="1680"/>
              </a:spcBef>
              <a:buAutoNum type="arabicPeriod" startAt="7"/>
              <a:tabLst>
                <a:tab pos="297180" algn="l"/>
              </a:tabLst>
            </a:pPr>
            <a:r>
              <a:rPr sz="1400" dirty="0">
                <a:latin typeface="Verdana"/>
                <a:cs typeface="Verdana"/>
              </a:rPr>
              <a:t>Установлены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индивидуальные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датчики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температуры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25" dirty="0" err="1">
                <a:latin typeface="Verdana"/>
                <a:cs typeface="Verdana"/>
              </a:rPr>
              <a:t>по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10" dirty="0" err="1">
                <a:latin typeface="Verdana"/>
                <a:cs typeface="Verdana"/>
              </a:rPr>
              <a:t>цилиндрам</a:t>
            </a:r>
            <a:r>
              <a:rPr lang="en-US" sz="1400" spc="-10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и да</a:t>
            </a:r>
            <a:r>
              <a:rPr lang="ru-RU" sz="1400" dirty="0">
                <a:latin typeface="Verdana"/>
                <a:cs typeface="Verdana"/>
              </a:rPr>
              <a:t>тчик</a:t>
            </a:r>
            <a:r>
              <a:rPr lang="ru-RU" sz="1400" spc="-20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температуры</a:t>
            </a:r>
            <a:r>
              <a:rPr lang="ru-RU" sz="1400" spc="-40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выхлопных</a:t>
            </a:r>
            <a:r>
              <a:rPr lang="ru-RU" sz="1400" spc="-6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газов</a:t>
            </a:r>
            <a:r>
              <a:rPr lang="ru-RU" sz="1400" spc="-1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с</a:t>
            </a:r>
            <a:r>
              <a:rPr lang="ru-RU" sz="1400" spc="-2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целью</a:t>
            </a:r>
            <a:r>
              <a:rPr lang="ru-RU" sz="1400" spc="-30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остановки</a:t>
            </a:r>
            <a:endParaRPr lang="ru-RU" sz="1400" dirty="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lang="ru-RU" sz="1400" dirty="0">
                <a:latin typeface="Verdana"/>
                <a:cs typeface="Verdana"/>
              </a:rPr>
              <a:t>двигателя</a:t>
            </a:r>
            <a:r>
              <a:rPr lang="ru-RU" sz="1400" spc="-5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в</a:t>
            </a:r>
            <a:r>
              <a:rPr lang="ru-RU" sz="1400" spc="-2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случае,</a:t>
            </a:r>
            <a:r>
              <a:rPr lang="ru-RU" sz="1400" spc="-5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если</a:t>
            </a:r>
            <a:r>
              <a:rPr lang="ru-RU" sz="1400" spc="-5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некачественно</a:t>
            </a:r>
            <a:r>
              <a:rPr lang="ru-RU" sz="1400" spc="-80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отрегулированы</a:t>
            </a:r>
            <a:r>
              <a:rPr lang="ru-RU" sz="1400" spc="-65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зазоры</a:t>
            </a:r>
            <a:endParaRPr lang="ru-RU" sz="1400" dirty="0">
              <a:latin typeface="Verdana"/>
              <a:cs typeface="Verdana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53079" y="9180520"/>
            <a:ext cx="22961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08915">
              <a:lnSpc>
                <a:spcPct val="100000"/>
              </a:lnSpc>
              <a:spcBef>
                <a:spcPts val="950"/>
              </a:spcBef>
            </a:pP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Условия</a:t>
            </a:r>
            <a:r>
              <a:rPr lang="ru-RU" sz="1600" b="1" spc="-12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оплаты</a:t>
            </a: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584200" y="9512915"/>
            <a:ext cx="2071370" cy="28702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sz="2100" b="1" spc="-37" baseline="-3968" dirty="0">
                <a:solidFill>
                  <a:srgbClr val="1F2A43"/>
                </a:solidFill>
                <a:latin typeface="Verdana"/>
                <a:cs typeface="Verdana"/>
              </a:rPr>
              <a:t>70%</a:t>
            </a:r>
            <a:r>
              <a:rPr sz="2100" b="1" baseline="-3968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6494D"/>
                </a:solidFill>
                <a:latin typeface="Verdana"/>
                <a:cs typeface="Verdana"/>
              </a:rPr>
              <a:t>–</a:t>
            </a:r>
            <a:r>
              <a:rPr sz="1200" spc="-45" dirty="0">
                <a:solidFill>
                  <a:srgbClr val="46494D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6494D"/>
                </a:solidFill>
                <a:latin typeface="Verdana"/>
                <a:cs typeface="Verdana"/>
              </a:rPr>
              <a:t>предоплата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577850" y="9840809"/>
            <a:ext cx="2071370" cy="28702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112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560"/>
              </a:spcBef>
              <a:tabLst>
                <a:tab pos="789305" algn="l"/>
              </a:tabLst>
            </a:pPr>
            <a:r>
              <a:rPr sz="2100" b="1" spc="-37" baseline="-3968" dirty="0">
                <a:solidFill>
                  <a:srgbClr val="1F2A43"/>
                </a:solidFill>
                <a:latin typeface="Verdana"/>
                <a:cs typeface="Verdana"/>
              </a:rPr>
              <a:t>20%</a:t>
            </a:r>
            <a:r>
              <a:rPr sz="2100" b="1" baseline="-3968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6494D"/>
                </a:solidFill>
                <a:latin typeface="Verdana"/>
                <a:cs typeface="Verdana"/>
              </a:rPr>
              <a:t>–</a:t>
            </a:r>
            <a:r>
              <a:rPr sz="1200" spc="-55" dirty="0">
                <a:solidFill>
                  <a:srgbClr val="4649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6494D"/>
                </a:solidFill>
                <a:latin typeface="Verdana"/>
                <a:cs typeface="Verdana"/>
              </a:rPr>
              <a:t>через</a:t>
            </a:r>
            <a:r>
              <a:rPr sz="1200" spc="-25" dirty="0">
                <a:solidFill>
                  <a:srgbClr val="46494D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6494D"/>
                </a:solidFill>
                <a:latin typeface="Verdana"/>
                <a:cs typeface="Verdana"/>
              </a:rPr>
              <a:t>месяц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552450" y="10168703"/>
            <a:ext cx="6802120" cy="47117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8905" marR="506095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sz="2100" b="1" spc="-37" baseline="-3968" dirty="0">
                <a:solidFill>
                  <a:srgbClr val="1F2A43"/>
                </a:solidFill>
                <a:latin typeface="Verdana"/>
                <a:cs typeface="Verdana"/>
              </a:rPr>
              <a:t>10%</a:t>
            </a:r>
            <a:r>
              <a:rPr sz="2100" b="1" baseline="-3968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–</a:t>
            </a:r>
            <a:r>
              <a:rPr sz="1200" spc="-6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не</a:t>
            </a:r>
            <a:r>
              <a:rPr sz="1200" spc="-2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позднее</a:t>
            </a:r>
            <a:r>
              <a:rPr sz="1200" spc="-4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3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(Трех)</a:t>
            </a:r>
            <a:r>
              <a:rPr sz="1200" spc="-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рабочих</a:t>
            </a:r>
            <a:r>
              <a:rPr sz="1200" spc="-1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дней</a:t>
            </a:r>
            <a:r>
              <a:rPr sz="1200" spc="-3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после</a:t>
            </a:r>
            <a:r>
              <a:rPr sz="1200" spc="-3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направления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 Покупателю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уведомления</a:t>
            </a:r>
            <a:r>
              <a:rPr sz="1200" spc="-4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о</a:t>
            </a:r>
            <a:r>
              <a:rPr sz="1200" spc="-5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готовности</a:t>
            </a:r>
            <a:r>
              <a:rPr sz="1200" spc="-5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оборудования</a:t>
            </a:r>
            <a:r>
              <a:rPr sz="1200" spc="-4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к</a:t>
            </a:r>
            <a:r>
              <a:rPr sz="1200" spc="-1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отгрузке.</a:t>
            </a:r>
            <a:endParaRPr sz="12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516980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ACE271-9777-4B29-ABD5-3A217D093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0"/>
            <a:ext cx="7556500" cy="4096047"/>
          </a:xfrm>
          <a:prstGeom prst="rect">
            <a:avLst/>
          </a:prstGeom>
        </p:spPr>
      </p:pic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1F763D7E-56DE-4AB1-9EBB-2CE0AE2FD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70967"/>
              </p:ext>
            </p:extLst>
          </p:nvPr>
        </p:nvGraphicFramePr>
        <p:xfrm>
          <a:off x="273050" y="4191297"/>
          <a:ext cx="6934200" cy="62392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marL="56959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Наименование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показателя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Значение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 gridSpan="2">
                  <a:txBody>
                    <a:bodyPr/>
                    <a:lstStyle/>
                    <a:p>
                      <a:pPr marL="2319655">
                        <a:lnSpc>
                          <a:spcPts val="133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Параметры</a:t>
                      </a: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генераторной</a:t>
                      </a:r>
                      <a:r>
                        <a:rPr sz="12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установки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Модель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l">
                        <a:lnSpc>
                          <a:spcPts val="1180"/>
                        </a:lnSpc>
                      </a:pP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                                         ГПУ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250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9969" algn="l">
                        <a:lnSpc>
                          <a:spcPts val="1185"/>
                        </a:lnSpc>
                      </a:pPr>
                      <a:r>
                        <a:rPr lang="en-US" sz="1050" spc="-10" dirty="0">
                          <a:latin typeface="Times New Roman"/>
                          <a:cs typeface="Times New Roman"/>
                        </a:rPr>
                        <a:t>250</a:t>
                      </a: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Квт/</a:t>
                      </a:r>
                      <a:r>
                        <a:rPr lang="en-US" sz="1050" spc="-10" dirty="0">
                          <a:latin typeface="Times New Roman"/>
                          <a:cs typeface="Times New Roman"/>
                        </a:rPr>
                        <a:t>315,5</a:t>
                      </a:r>
                      <a:r>
                        <a:rPr lang="ru-RU" sz="1050" spc="-10" dirty="0" err="1">
                          <a:latin typeface="Times New Roman"/>
                          <a:cs typeface="Times New Roman"/>
                        </a:rPr>
                        <a:t>кВа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Резервная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9969" algn="l">
                        <a:lnSpc>
                          <a:spcPts val="118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275кВт/342,5кВа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Номинальное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напряжение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                        400В/220В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 частота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                 50 Гц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 скорость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l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          1500 об/мин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Номинальный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ток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spc="-20">
                          <a:latin typeface="Times New Roman"/>
                          <a:cs typeface="Times New Roman"/>
                        </a:rPr>
                        <a:t>                                          450А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323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Фактор</a:t>
                      </a:r>
                      <a:r>
                        <a:rPr sz="10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                                           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,8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Контроллер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7365" algn="l">
                        <a:lnSpc>
                          <a:spcPts val="117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      </a:t>
                      </a:r>
                      <a:r>
                        <a:rPr lang="en-US" sz="1050" spc="-10" dirty="0">
                          <a:latin typeface="Times New Roman"/>
                          <a:cs typeface="Times New Roman"/>
                        </a:rPr>
                        <a:t>Smartgen9420</a:t>
                      </a: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lang="en-US" sz="1050" spc="-10">
                          <a:latin typeface="Times New Roman"/>
                          <a:cs typeface="Times New Roman"/>
                        </a:rPr>
                        <a:t>Deepsea 7320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Регулятор скорости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7715" algn="l">
                        <a:lnSpc>
                          <a:spcPts val="118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Цифровой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5420">
                <a:tc gridSpan="2">
                  <a:txBody>
                    <a:bodyPr/>
                    <a:lstStyle/>
                    <a:p>
                      <a:pPr marL="250825" algn="ctr">
                        <a:lnSpc>
                          <a:spcPts val="134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Параметры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Инженерная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модель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2585">
                        <a:lnSpc>
                          <a:spcPts val="117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Двигатель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Weichai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/WP13D317E300NG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4080" marR="60960" indent="-852169">
                        <a:lnSpc>
                          <a:spcPts val="120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Рядный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, четырехтактный,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электронное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зажигание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,</a:t>
                      </a:r>
                      <a:endParaRPr lang="ru-RU" sz="1050" spc="-10" dirty="0">
                        <a:latin typeface="Times New Roman"/>
                        <a:cs typeface="Times New Roman"/>
                      </a:endParaRPr>
                    </a:p>
                    <a:p>
                      <a:pPr marL="894080" marR="60960" indent="-852169">
                        <a:lnSpc>
                          <a:spcPts val="120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               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водяное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охлаждение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Количество цилиндров и клапанов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180"/>
                        </a:lnSpc>
                      </a:pP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6 цилиндров/24 клапана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Диаметр и ход цилиндра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127×165мм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46990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Объем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3815">
                        <a:lnSpc>
                          <a:spcPts val="116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11.6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л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Метод</a:t>
                      </a:r>
                      <a:r>
                        <a:rPr sz="10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запуска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Электрический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Направление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вращения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коленчатого 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вала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1830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Против часовой стрелки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Метод</a:t>
                      </a:r>
                      <a:r>
                        <a:rPr sz="10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2140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Водяное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принудительного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нагнетания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воздуха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турбонаддувом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промежуточным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охлаждением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46038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Регулятор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скорости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Электронный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Метод смешивания топливной смеси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                  Смеситель типа Вентури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622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2710">
                        <a:lnSpc>
                          <a:spcPts val="1135"/>
                        </a:lnSpc>
                      </a:pPr>
                      <a:r>
                        <a:rPr sz="1000" spc="-20" dirty="0" err="1">
                          <a:latin typeface="Times New Roman"/>
                          <a:cs typeface="Times New Roman"/>
                        </a:rPr>
                        <a:t>Давление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 err="1">
                          <a:latin typeface="Times New Roman"/>
                          <a:cs typeface="Times New Roman"/>
                        </a:rPr>
                        <a:t>масла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                           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345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483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КПа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6047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Номинальный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расход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газа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(м³/ч)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нагрузке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ts val="1265"/>
                        </a:lnSpc>
                        <a:spcBef>
                          <a:spcPts val="34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100%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57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м3/час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76530">
                        <a:lnSpc>
                          <a:spcPts val="124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75%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50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м3/час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ts val="123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50%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40м3/час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84150">
                        <a:lnSpc>
                          <a:spcPts val="126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16.5м3/час</a:t>
                      </a:r>
                      <a:r>
                        <a:rPr sz="11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холостой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ход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077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299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BE0570E1-4FCE-47F4-A2D5-3FAA6E9C0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378002"/>
              </p:ext>
            </p:extLst>
          </p:nvPr>
        </p:nvGraphicFramePr>
        <p:xfrm>
          <a:off x="273050" y="126491"/>
          <a:ext cx="6934200" cy="16332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2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325">
                <a:tc gridSpan="2">
                  <a:txBody>
                    <a:bodyPr/>
                    <a:lstStyle/>
                    <a:p>
                      <a:pPr marL="245745" algn="ctr">
                        <a:lnSpc>
                          <a:spcPts val="1195"/>
                        </a:lnSpc>
                      </a:pPr>
                      <a:r>
                        <a:rPr sz="1000" b="1" spc="-20" dirty="0">
                          <a:latin typeface="Times New Roman"/>
                          <a:cs typeface="Times New Roman"/>
                        </a:rPr>
                        <a:t>Ге</a:t>
                      </a:r>
                      <a:r>
                        <a:rPr sz="10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нератор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43815">
                        <a:lnSpc>
                          <a:spcPts val="1255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Класс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изоляции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80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Класс</a:t>
                      </a:r>
                      <a:r>
                        <a:rPr sz="10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Н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565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Связь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99465" algn="ctr">
                        <a:lnSpc>
                          <a:spcPts val="1195"/>
                        </a:lnSpc>
                      </a:pPr>
                      <a:r>
                        <a:rPr lang="ru-RU" sz="1050" spc="-30" dirty="0">
                          <a:latin typeface="Times New Roman"/>
                          <a:cs typeface="Times New Roman"/>
                        </a:rPr>
                        <a:t>                   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575" spc="-44" baseline="264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фазный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575" spc="-30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575" spc="-22" baseline="264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проводной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Номинальная</a:t>
                      </a:r>
                      <a:r>
                        <a:rPr sz="11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53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250кВт/312.5кВА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Кла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сс</a:t>
                      </a:r>
                      <a:r>
                        <a:rPr sz="1575" spc="-89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з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ащиты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135"/>
                        </a:lnSpc>
                      </a:pP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IP23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185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Режим</a:t>
                      </a:r>
                      <a:r>
                        <a:rPr sz="10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регули</a:t>
                      </a:r>
                      <a:r>
                        <a:rPr sz="1575" spc="-30" baseline="2645" dirty="0">
                          <a:latin typeface="Times New Roman"/>
                          <a:cs typeface="Times New Roman"/>
                        </a:rPr>
                        <a:t>р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ования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 напряжения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14705" algn="l">
                        <a:lnSpc>
                          <a:spcPts val="1205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   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АВР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автоматический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)</a:t>
                      </a:r>
                      <a:endParaRPr sz="1575" baseline="2645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Фактор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80"/>
                        </a:lnSpc>
                      </a:pP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0,8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185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озб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ужд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е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Бесщеточный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98B6974D-E03A-425D-864D-C31BE45EF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832974"/>
              </p:ext>
            </p:extLst>
          </p:nvPr>
        </p:nvGraphicFramePr>
        <p:xfrm>
          <a:off x="273050" y="1847850"/>
          <a:ext cx="6858000" cy="2679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3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4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marL="43815" algn="ctr">
                        <a:lnSpc>
                          <a:spcPts val="1160"/>
                        </a:lnSpc>
                      </a:pPr>
                      <a:r>
                        <a:rPr sz="1000" b="1" dirty="0">
                          <a:latin typeface="Times New Roman"/>
                          <a:cs typeface="Times New Roman"/>
                        </a:rPr>
                        <a:t>Обща</a:t>
                      </a:r>
                      <a:r>
                        <a:rPr sz="10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dirty="0">
                          <a:latin typeface="Times New Roman"/>
                          <a:cs typeface="Times New Roman"/>
                        </a:rPr>
                        <a:t>я</a:t>
                      </a:r>
                      <a:r>
                        <a:rPr sz="1000" b="1" spc="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информация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104"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Допустимая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окружающей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среды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985">
                        <a:lnSpc>
                          <a:spcPts val="1230"/>
                        </a:lnSpc>
                      </a:pPr>
                      <a:r>
                        <a:rPr sz="1575" baseline="2645" dirty="0" err="1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575" spc="-75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lang="ru-RU" sz="1575" baseline="2645" dirty="0">
                          <a:latin typeface="Times New Roman"/>
                          <a:cs typeface="Times New Roman"/>
                        </a:rPr>
                        <a:t>25</a:t>
                      </a:r>
                      <a:r>
                        <a:rPr sz="1575" spc="-67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Cambria Math"/>
                          <a:cs typeface="Cambria Math"/>
                        </a:rPr>
                        <a:t>℃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.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уммарный</a:t>
                      </a:r>
                      <a:r>
                        <a:rPr sz="1575" spc="-60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КП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Д</a:t>
                      </a:r>
                      <a:r>
                        <a:rPr sz="10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sz="1575" spc="-37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номинальной</a:t>
                      </a:r>
                      <a:r>
                        <a:rPr sz="1575" spc="-82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575" baseline="2645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5104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80%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КПД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15" baseline="2525" dirty="0">
                          <a:latin typeface="Times New Roman"/>
                          <a:cs typeface="Times New Roman"/>
                        </a:rPr>
                        <a:t>электрическая</a:t>
                      </a:r>
                      <a:endParaRPr sz="1650" baseline="2525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954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lang="ru-RU" sz="1100" spc="-25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%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Внешние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габариты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раме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9494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Общая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масса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Д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Ш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В:</a:t>
                      </a:r>
                      <a:r>
                        <a:rPr sz="1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65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0*1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000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224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(мм)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R="825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2275кг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870"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Внешние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габариты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контейнера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072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Д*Ш*В</a:t>
                      </a:r>
                      <a:r>
                        <a:rPr sz="1100" spc="16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00*2160*2210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79"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Общая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масса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контейнере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4350кг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Рекомендуемое давление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газа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вводе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100" spc="-20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5кПа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115570">
                        <a:lnSpc>
                          <a:spcPts val="124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Номинальное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давление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газа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холостом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ходу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46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ru-RU" sz="1100" spc="-20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5кПа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164465">
                        <a:lnSpc>
                          <a:spcPts val="121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Макс.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выхлопных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газов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ts val="130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600</a:t>
                      </a:r>
                      <a:r>
                        <a:rPr sz="1100" spc="-10" dirty="0">
                          <a:latin typeface="Cambria Math"/>
                          <a:cs typeface="Cambria Math"/>
                        </a:rPr>
                        <a:t>℃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±25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146050">
                        <a:lnSpc>
                          <a:spcPts val="127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Точка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ввода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газа,</a:t>
                      </a:r>
                      <a:r>
                        <a:rPr sz="11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диаметр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DN50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>
            <a:extLst>
              <a:ext uri="{FF2B5EF4-FFF2-40B4-BE49-F238E27FC236}">
                <a16:creationId xmlns:a16="http://schemas.microsoft.com/office/drawing/2014/main" id="{C5AA7B4C-274F-41CB-9C8A-23965B6A6B11}"/>
              </a:ext>
            </a:extLst>
          </p:cNvPr>
          <p:cNvSpPr txBox="1"/>
          <p:nvPr/>
        </p:nvSpPr>
        <p:spPr>
          <a:xfrm>
            <a:off x="311150" y="5048250"/>
            <a:ext cx="6934200" cy="26507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6860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 startAt="4"/>
              <a:tabLst>
                <a:tab pos="28384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ГАРАНТИЙНЫЕ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ОБЯЗАТЕЛЬСТВА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Times New Roman"/>
              <a:buAutoNum type="arabicPeriod" startAt="4"/>
            </a:pPr>
            <a:endParaRPr sz="1200" dirty="0">
              <a:latin typeface="Times New Roman"/>
              <a:cs typeface="Times New Roman"/>
            </a:endParaRPr>
          </a:p>
          <a:p>
            <a:pPr marL="259079" marR="244475" lvl="1" indent="-247015" algn="just">
              <a:lnSpc>
                <a:spcPct val="123800"/>
              </a:lnSpc>
              <a:spcBef>
                <a:spcPts val="5"/>
              </a:spcBef>
              <a:buAutoNum type="arabicPeriod"/>
              <a:tabLst>
                <a:tab pos="259079" algn="l"/>
              </a:tabLst>
            </a:pPr>
            <a:r>
              <a:rPr sz="1200" spc="-10" dirty="0">
                <a:latin typeface="Times New Roman"/>
                <a:cs typeface="Times New Roman"/>
              </a:rPr>
              <a:t>Предприятие-изготовитель</a:t>
            </a:r>
            <a:r>
              <a:rPr sz="1200" dirty="0">
                <a:latin typeface="Times New Roman"/>
                <a:cs typeface="Times New Roman"/>
              </a:rPr>
              <a:t> гарантирует </a:t>
            </a:r>
            <a:r>
              <a:rPr sz="1200" dirty="0" err="1">
                <a:latin typeface="Times New Roman"/>
                <a:cs typeface="Times New Roman"/>
              </a:rPr>
              <a:t>соответствие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spc="-10" dirty="0">
                <a:latin typeface="Times New Roman"/>
                <a:cs typeface="Times New Roman"/>
              </a:rPr>
              <a:t> нормативной документации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при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соблюдении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правил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транспортирования,</a:t>
            </a:r>
            <a:r>
              <a:rPr sz="1200" dirty="0">
                <a:latin typeface="Times New Roman"/>
                <a:cs typeface="Times New Roman"/>
              </a:rPr>
              <a:t> хранения, </a:t>
            </a:r>
            <a:r>
              <a:rPr sz="1200" spc="-10" dirty="0">
                <a:latin typeface="Times New Roman"/>
                <a:cs typeface="Times New Roman"/>
              </a:rPr>
              <a:t>монтажа, </a:t>
            </a:r>
            <a:r>
              <a:rPr sz="1200" dirty="0">
                <a:latin typeface="Times New Roman"/>
                <a:cs typeface="Times New Roman"/>
              </a:rPr>
              <a:t>эксплуатации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обслуживания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17145" marR="5080" lvl="1" indent="-5080">
              <a:lnSpc>
                <a:spcPts val="1430"/>
              </a:lnSpc>
              <a:buAutoNum type="arabicPeriod"/>
              <a:tabLst>
                <a:tab pos="17145" algn="l"/>
                <a:tab pos="284480" algn="l"/>
              </a:tabLst>
            </a:pPr>
            <a:r>
              <a:rPr lang="ru-RU" sz="1200" dirty="0">
                <a:latin typeface="Times New Roman"/>
                <a:cs typeface="Times New Roman"/>
              </a:rPr>
              <a:t>   </a:t>
            </a:r>
            <a:r>
              <a:rPr sz="1200" dirty="0" err="1">
                <a:latin typeface="Times New Roman"/>
                <a:cs typeface="Times New Roman"/>
              </a:rPr>
              <a:t>Гарантийный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хранения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12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месяца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со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дня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изготовления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до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ввода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эксплуата</a:t>
            </a:r>
            <a:r>
              <a:rPr sz="1200" spc="-20" dirty="0" err="1">
                <a:latin typeface="Times New Roman"/>
                <a:cs typeface="Times New Roman"/>
              </a:rPr>
              <a:t>цию</a:t>
            </a:r>
            <a:r>
              <a:rPr sz="1200" spc="-2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6350" marR="288925" lvl="1" indent="-6350">
              <a:lnSpc>
                <a:spcPct val="123300"/>
              </a:lnSpc>
              <a:spcBef>
                <a:spcPts val="335"/>
              </a:spcBef>
              <a:buAutoNum type="arabicPeriod"/>
              <a:tabLst>
                <a:tab pos="265113" algn="l"/>
                <a:tab pos="271463" algn="l"/>
              </a:tabLst>
            </a:pPr>
            <a:r>
              <a:rPr lang="ru-RU" sz="1200" spc="-10" dirty="0">
                <a:latin typeface="Times New Roman"/>
                <a:cs typeface="Times New Roman"/>
              </a:rPr>
              <a:t>    </a:t>
            </a:r>
            <a:r>
              <a:rPr sz="1200" spc="-10" dirty="0" err="1">
                <a:latin typeface="Times New Roman"/>
                <a:cs typeface="Times New Roman"/>
              </a:rPr>
              <a:t>Гарантийный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10" dirty="0">
                <a:latin typeface="Times New Roman"/>
                <a:cs typeface="Times New Roman"/>
              </a:rPr>
              <a:t> эксплуатации</a:t>
            </a:r>
            <a:r>
              <a:rPr sz="1200" dirty="0">
                <a:latin typeface="Times New Roman"/>
                <a:cs typeface="Times New Roman"/>
              </a:rPr>
              <a:t> 12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месяца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со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дня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ввода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эксплуатацию</a:t>
            </a:r>
            <a:r>
              <a:rPr lang="ru-RU" sz="1200" spc="-10" dirty="0">
                <a:latin typeface="Times New Roman"/>
                <a:cs typeface="Times New Roman"/>
              </a:rPr>
              <a:t> или 1500 моточасов, </a:t>
            </a:r>
            <a:br>
              <a:rPr lang="ru-RU" sz="1200" spc="-10" dirty="0">
                <a:latin typeface="Times New Roman"/>
                <a:cs typeface="Times New Roman"/>
              </a:rPr>
            </a:br>
            <a:r>
              <a:rPr lang="ru-RU" sz="1200" spc="-10" dirty="0">
                <a:latin typeface="Times New Roman"/>
                <a:cs typeface="Times New Roman"/>
              </a:rPr>
              <a:t>       в зависимости от того, что наступит раньше,</a:t>
            </a:r>
            <a:r>
              <a:rPr sz="1200" dirty="0">
                <a:latin typeface="Times New Roman"/>
                <a:cs typeface="Times New Roman"/>
              </a:rPr>
              <a:t> но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не </a:t>
            </a:r>
            <a:r>
              <a:rPr sz="1200" dirty="0" err="1">
                <a:latin typeface="Times New Roman"/>
                <a:cs typeface="Times New Roman"/>
              </a:rPr>
              <a:t>более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ru-RU" sz="1200" spc="-35" dirty="0">
                <a:latin typeface="Times New Roman"/>
                <a:cs typeface="Times New Roman"/>
              </a:rPr>
              <a:t>18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месяцев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даты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изготовления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275590" lvl="1" indent="-261620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275590" algn="l"/>
              </a:tabLst>
            </a:pPr>
            <a:r>
              <a:rPr sz="1200" spc="-10" dirty="0">
                <a:latin typeface="Times New Roman"/>
                <a:cs typeface="Times New Roman"/>
              </a:rPr>
              <a:t>Нормативный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службы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составляет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менее: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15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лет </a:t>
            </a:r>
            <a:r>
              <a:rPr sz="1200" spc="-5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259079" marR="128270" lvl="1" indent="-247015">
              <a:lnSpc>
                <a:spcPct val="113700"/>
              </a:lnSpc>
              <a:spcBef>
                <a:spcPts val="225"/>
              </a:spcBef>
              <a:buAutoNum type="arabicPeriod"/>
              <a:tabLst>
                <a:tab pos="259079" algn="l"/>
              </a:tabLst>
            </a:pPr>
            <a:r>
              <a:rPr sz="1200" dirty="0">
                <a:latin typeface="Times New Roman"/>
                <a:cs typeface="Times New Roman"/>
              </a:rPr>
              <a:t>Гарантия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предусматривает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возмещение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материального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ущерба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или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травм,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связанных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эксплуатацией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Гарантийному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ремонту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подлежат </a:t>
            </a:r>
            <a:r>
              <a:rPr sz="1200" dirty="0">
                <a:latin typeface="Times New Roman"/>
                <a:cs typeface="Times New Roman"/>
              </a:rPr>
              <a:t>поломки,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возникшие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по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причине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неправильного,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монтажа,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эксплуатации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 err="1">
                <a:latin typeface="Times New Roman"/>
                <a:cs typeface="Times New Roman"/>
              </a:rPr>
              <a:t>или</a:t>
            </a:r>
            <a:r>
              <a:rPr lang="ru-RU" sz="1200" spc="-25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размещения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месте,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непригодном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для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эксплуатации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6518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567</TotalTime>
  <Words>1391</Words>
  <Application>Microsoft Office PowerPoint</Application>
  <PresentationFormat>Произвольный</PresentationFormat>
  <Paragraphs>296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6" baseType="lpstr">
      <vt:lpstr>Arial MT</vt:lpstr>
      <vt:lpstr>Calibri</vt:lpstr>
      <vt:lpstr>Cambria Math</vt:lpstr>
      <vt:lpstr>Microsoft Sans Serif</vt:lpstr>
      <vt:lpstr>Segoe UI</vt:lpstr>
      <vt:lpstr>Times New Roman</vt:lpstr>
      <vt:lpstr>Trebuchet MS</vt:lpstr>
      <vt:lpstr>Verdana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pav</dc:creator>
  <cp:lastModifiedBy>manager1</cp:lastModifiedBy>
  <cp:revision>41</cp:revision>
  <dcterms:created xsi:type="dcterms:W3CDTF">2025-09-25T10:34:58Z</dcterms:created>
  <dcterms:modified xsi:type="dcterms:W3CDTF">2025-10-02T07:38:42Z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2025-09-25T00:00:00Z</vt:filetime>
  </property>
  <property fmtid="{D5CDD505-2E9C-101B-9397-08002B2CF9AE}" pid="5" name="Producer">
    <vt:lpwstr>Microsoft® PowerPoint® 2019</vt:lpwstr>
  </property>
</Properties>
</file>