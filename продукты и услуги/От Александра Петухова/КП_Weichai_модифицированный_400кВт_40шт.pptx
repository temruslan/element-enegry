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9" r:id="rId4"/>
    <p:sldId id="268" r:id="rId5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 autoAdjust="0"/>
    <p:restoredTop sz="94660"/>
  </p:normalViewPr>
  <p:slideViewPr>
    <p:cSldViewPr>
      <p:cViewPr>
        <p:scale>
          <a:sx n="100" d="100"/>
          <a:sy n="100" d="100"/>
        </p:scale>
        <p:origin x="1524" y="-2526"/>
      </p:cViewPr>
      <p:guideLst>
        <p:guide orient="horz" pos="2880"/>
        <p:guide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6922"/>
            <a:ext cx="6423025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1860"/>
            <a:ext cx="528955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0942"/>
            <a:ext cx="3287077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0942"/>
            <a:ext cx="3287077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5655" y="357886"/>
            <a:ext cx="6520815" cy="62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0942"/>
            <a:ext cx="680085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50768"/>
            <a:ext cx="2418080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0768"/>
            <a:ext cx="173799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0768"/>
            <a:ext cx="173799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mailto:sales@elementkb.ru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2766" y="6569075"/>
            <a:ext cx="2324527" cy="39663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-98676" y="1866295"/>
            <a:ext cx="7735394" cy="13170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spcBef>
                <a:spcPts val="95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КОММЕРЧЕСКОЕ</a:t>
            </a:r>
            <a:r>
              <a:rPr lang="ru-RU" sz="1600" b="1" spc="-35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ПРЕДЛОЖЕНИЕ н</a:t>
            </a:r>
            <a: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а </a:t>
            </a:r>
            <a:b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</a:br>
            <a: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ГПУ </a:t>
            </a:r>
            <a:r>
              <a:rPr lang="en-US" sz="1600" b="1" spc="-1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/>
              </a:rPr>
              <a:t>Weichai</a:t>
            </a:r>
            <a:r>
              <a:rPr lang="ru-RU" sz="1600" b="1" spc="-10" dirty="0">
                <a:latin typeface="Verdana" panose="020B0604030504040204" pitchFamily="34" charset="0"/>
                <a:ea typeface="Verdana" panose="020B0604030504040204" pitchFamily="34" charset="0"/>
                <a:cs typeface="Microsoft Sans Serif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номинальной </a:t>
            </a:r>
            <a: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мощностью</a:t>
            </a:r>
            <a:r>
              <a:rPr lang="ru-RU" sz="1600" b="1" spc="-45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400кВт</a:t>
            </a:r>
            <a:r>
              <a:rPr lang="ru-RU" sz="1600" b="1" spc="-45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br>
              <a:rPr lang="ru-RU" sz="1600" b="1" spc="-45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</a:br>
            <a:r>
              <a:rPr lang="ru-RU" sz="1600" b="1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открытого</a:t>
            </a:r>
            <a:r>
              <a:rPr lang="ru-RU" sz="1600" b="1" spc="-55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исполнения </a:t>
            </a: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специально адаптированную для майнинга в максимальной конфигурации</a:t>
            </a:r>
            <a:endParaRPr lang="ru-RU" sz="1600" b="1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66675" algn="ctr">
              <a:lnSpc>
                <a:spcPct val="100000"/>
              </a:lnSpc>
              <a:spcBef>
                <a:spcPts val="90"/>
              </a:spcBef>
            </a:pPr>
            <a:r>
              <a:rPr lang="ru-RU" sz="2000" b="1" spc="-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endParaRPr sz="1300" dirty="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2315" y="186093"/>
            <a:ext cx="7661258" cy="7652922"/>
            <a:chOff x="0" y="-1003638"/>
            <a:chExt cx="7661258" cy="6974206"/>
          </a:xfrm>
        </p:grpSpPr>
        <p:sp>
          <p:nvSpPr>
            <p:cNvPr id="7" name="object 7"/>
            <p:cNvSpPr/>
            <p:nvPr/>
          </p:nvSpPr>
          <p:spPr>
            <a:xfrm>
              <a:off x="0" y="1946913"/>
              <a:ext cx="4398010" cy="3643957"/>
            </a:xfrm>
            <a:custGeom>
              <a:avLst/>
              <a:gdLst/>
              <a:ahLst/>
              <a:cxnLst/>
              <a:rect l="l" t="t" r="r" b="b"/>
              <a:pathLst>
                <a:path w="4398010" h="3489960">
                  <a:moveTo>
                    <a:pt x="4398010" y="0"/>
                  </a:moveTo>
                  <a:lnTo>
                    <a:pt x="0" y="0"/>
                  </a:lnTo>
                  <a:lnTo>
                    <a:pt x="0" y="3489578"/>
                  </a:lnTo>
                  <a:lnTo>
                    <a:pt x="4398010" y="3489578"/>
                  </a:lnTo>
                  <a:lnTo>
                    <a:pt x="4398010" y="0"/>
                  </a:lnTo>
                  <a:close/>
                </a:path>
              </a:pathLst>
            </a:custGeom>
            <a:solidFill>
              <a:srgbClr val="1F2A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1850" y="1605832"/>
              <a:ext cx="3785615" cy="43647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1091" y="1525870"/>
              <a:ext cx="3630167" cy="40660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4771" y="-1003638"/>
              <a:ext cx="210311" cy="2072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5250" y="-682616"/>
              <a:ext cx="179831" cy="17678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05251" y="-395849"/>
              <a:ext cx="179831" cy="1798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9046" y="2694942"/>
              <a:ext cx="73152" cy="7010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737710" y="247901"/>
            <a:ext cx="2139950" cy="15260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lang="ru-RU" sz="900" spc="-5" dirty="0">
                <a:latin typeface="+mn-lt"/>
                <a:ea typeface="Segoe UI Emoji" panose="020B0502040204020203" pitchFamily="34" charset="0"/>
                <a:cs typeface="Segoe UI"/>
              </a:rPr>
              <a:t>РФ,</a:t>
            </a:r>
            <a:r>
              <a:rPr lang="ru-RU" sz="900" spc="-10" dirty="0">
                <a:latin typeface="+mn-lt"/>
                <a:ea typeface="Segoe UI Emoji" panose="020B0502040204020203" pitchFamily="34" charset="0"/>
                <a:cs typeface="Segoe UI"/>
              </a:rPr>
              <a:t> </a:t>
            </a:r>
            <a:r>
              <a:rPr lang="ru-RU" sz="900" spc="-5" dirty="0">
                <a:latin typeface="+mn-lt"/>
                <a:ea typeface="Segoe UI Emoji" panose="020B0502040204020203" pitchFamily="34" charset="0"/>
                <a:cs typeface="Segoe UI"/>
              </a:rPr>
              <a:t>РМЭ,</a:t>
            </a:r>
            <a:r>
              <a:rPr lang="ru-RU" sz="900" dirty="0">
                <a:latin typeface="+mn-lt"/>
                <a:ea typeface="Segoe UI Emoji" panose="020B0502040204020203" pitchFamily="34" charset="0"/>
                <a:cs typeface="Segoe UI"/>
              </a:rPr>
              <a:t> </a:t>
            </a:r>
            <a:r>
              <a:rPr lang="ru-RU" sz="900" spc="-5" dirty="0">
                <a:latin typeface="+mn-lt"/>
                <a:ea typeface="Segoe UI Emoji" panose="020B0502040204020203" pitchFamily="34" charset="0"/>
                <a:cs typeface="Segoe UI"/>
              </a:rPr>
              <a:t>Йошкар-Ола, б-р</a:t>
            </a:r>
            <a:r>
              <a:rPr lang="ru-RU" sz="900" spc="-15" dirty="0">
                <a:latin typeface="+mn-lt"/>
                <a:ea typeface="Segoe UI Emoji" panose="020B0502040204020203" pitchFamily="34" charset="0"/>
                <a:cs typeface="Segoe UI"/>
              </a:rPr>
              <a:t> </a:t>
            </a:r>
            <a:r>
              <a:rPr lang="ru-RU" sz="900" spc="-5" dirty="0">
                <a:latin typeface="+mn-lt"/>
                <a:ea typeface="Segoe UI Emoji" panose="020B0502040204020203" pitchFamily="34" charset="0"/>
                <a:cs typeface="Segoe UI"/>
              </a:rPr>
              <a:t>Победы,</a:t>
            </a:r>
            <a:r>
              <a:rPr lang="ru-RU" sz="900" spc="-15" dirty="0">
                <a:latin typeface="+mn-lt"/>
                <a:ea typeface="Segoe UI Emoji" panose="020B0502040204020203" pitchFamily="34" charset="0"/>
                <a:cs typeface="Segoe UI"/>
              </a:rPr>
              <a:t> </a:t>
            </a:r>
            <a:r>
              <a:rPr lang="ru-RU" sz="900" spc="-5" dirty="0">
                <a:latin typeface="+mn-lt"/>
                <a:ea typeface="Segoe UI Emoji" panose="020B0502040204020203" pitchFamily="34" charset="0"/>
                <a:cs typeface="Segoe UI"/>
              </a:rPr>
              <a:t>д.15</a:t>
            </a:r>
            <a:endParaRPr lang="ru-RU" sz="900" dirty="0">
              <a:latin typeface="+mn-lt"/>
              <a:ea typeface="Segoe UI Emoji" panose="020B0502040204020203" pitchFamily="34" charset="0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50410" y="559047"/>
            <a:ext cx="1175412" cy="15260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900" dirty="0">
                <a:latin typeface="Segoe UI"/>
                <a:cs typeface="Segoe UI"/>
              </a:rPr>
              <a:t>+7(9</a:t>
            </a:r>
            <a:r>
              <a:rPr lang="en-US" sz="900" dirty="0">
                <a:latin typeface="Segoe UI"/>
                <a:cs typeface="Segoe UI"/>
              </a:rPr>
              <a:t>17) 703-17-20</a:t>
            </a:r>
            <a:endParaRPr lang="ru-RU" sz="900" dirty="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37709" y="836584"/>
            <a:ext cx="1188113" cy="15260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sales</a:t>
            </a:r>
            <a:r>
              <a:rPr lang="ru-RU"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1</a:t>
            </a: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@elementkb.ru</a:t>
            </a:r>
            <a:endParaRPr sz="900" dirty="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1054" y="3444743"/>
            <a:ext cx="4243882" cy="3746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5900">
              <a:lnSpc>
                <a:spcPct val="1414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СПЕЦИАЛЬНОЕ</a:t>
            </a:r>
            <a:r>
              <a:rPr sz="14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ГПУ</a:t>
            </a:r>
            <a:r>
              <a:rPr sz="14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ДЛЯ</a:t>
            </a:r>
            <a:r>
              <a:rPr sz="1400" b="1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РАБОТЫ</a:t>
            </a:r>
            <a:r>
              <a:rPr sz="1400" b="1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В</a:t>
            </a:r>
            <a:r>
              <a:rPr sz="1400" b="1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РЕЖИМЕ</a:t>
            </a:r>
            <a:r>
              <a:rPr sz="14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24/7/365</a:t>
            </a:r>
            <a:endParaRPr sz="1400" dirty="0">
              <a:latin typeface="Verdana"/>
              <a:cs typeface="Verdana"/>
            </a:endParaRPr>
          </a:p>
          <a:p>
            <a:pPr marL="19050" marR="256540">
              <a:lnSpc>
                <a:spcPct val="130000"/>
              </a:lnSpc>
              <a:spcBef>
                <a:spcPts val="695"/>
              </a:spcBef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Ресурсные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 err="1">
                <a:solidFill>
                  <a:srgbClr val="E6E6E6"/>
                </a:solidFill>
                <a:latin typeface="Verdana"/>
                <a:cs typeface="Verdana"/>
              </a:rPr>
              <a:t>газопоршневые</a:t>
            </a:r>
            <a:r>
              <a:rPr lang="ru-RU"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установки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lang="ru-RU" sz="1000" spc="-6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выработки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электроэнергии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lang="ru-RU"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режиме</a:t>
            </a:r>
            <a:r>
              <a:rPr lang="ru-RU"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24/7/365.</a:t>
            </a:r>
            <a:endParaRPr lang="ru-RU" sz="1000" dirty="0">
              <a:latin typeface="Verdana"/>
              <a:cs typeface="Verdana"/>
            </a:endParaRPr>
          </a:p>
          <a:p>
            <a:pPr marL="19050">
              <a:lnSpc>
                <a:spcPct val="100000"/>
              </a:lnSpc>
              <a:spcBef>
                <a:spcPts val="359"/>
              </a:spcBef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Моторесурс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60.000</a:t>
            </a:r>
            <a:r>
              <a:rPr lang="ru-RU"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часов. Без</a:t>
            </a:r>
            <a:r>
              <a:rPr lang="ru-RU"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перегрева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и</a:t>
            </a:r>
            <a:r>
              <a:rPr lang="ru-RU" sz="1000" spc="-6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 err="1">
                <a:solidFill>
                  <a:srgbClr val="E6E6E6"/>
                </a:solidFill>
                <a:latin typeface="Verdana"/>
                <a:cs typeface="Verdana"/>
              </a:rPr>
              <a:t>дерейта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.</a:t>
            </a:r>
            <a:endParaRPr lang="ru-RU" sz="1000" dirty="0">
              <a:latin typeface="Verdana"/>
              <a:cs typeface="Verdana"/>
            </a:endParaRPr>
          </a:p>
          <a:p>
            <a:pPr marL="19050" marR="923925">
              <a:lnSpc>
                <a:spcPct val="130000"/>
              </a:lnSpc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ГПУ</a:t>
            </a:r>
            <a:r>
              <a:rPr lang="ru-RU"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–</a:t>
            </a:r>
            <a:r>
              <a:rPr lang="ru-RU"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36%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(против 31%</a:t>
            </a:r>
            <a:r>
              <a:rPr lang="ru-RU"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стандарте). </a:t>
            </a:r>
            <a:b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</a:b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Дополнительная</a:t>
            </a:r>
            <a:r>
              <a:rPr lang="ru-RU"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система</a:t>
            </a:r>
            <a:r>
              <a:rPr lang="ru-RU"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антидетонации.</a:t>
            </a:r>
          </a:p>
          <a:p>
            <a:pPr marL="19050" marR="923925">
              <a:lnSpc>
                <a:spcPct val="130000"/>
              </a:lnSpc>
            </a:pPr>
            <a:endParaRPr lang="ru-RU" sz="1000" dirty="0">
              <a:latin typeface="Verdana"/>
              <a:cs typeface="Verdana"/>
            </a:endParaRPr>
          </a:p>
          <a:p>
            <a:pPr marL="12700" marR="264160">
              <a:lnSpc>
                <a:spcPct val="130000"/>
              </a:lnSpc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Двигатели</a:t>
            </a:r>
            <a:r>
              <a:rPr lang="ru-RU"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WEICHAI</a:t>
            </a:r>
            <a:r>
              <a:rPr lang="ru-RU"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en-US" sz="1000" dirty="0">
                <a:solidFill>
                  <a:srgbClr val="E6E6E6"/>
                </a:solidFill>
                <a:latin typeface="Verdana"/>
                <a:cs typeface="Verdana"/>
              </a:rPr>
              <a:t>6M33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,</a:t>
            </a:r>
            <a:r>
              <a:rPr lang="ru-RU"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ведущего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мирового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производителя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(премиальный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Китай).</a:t>
            </a:r>
            <a:r>
              <a:rPr lang="ru-RU" sz="1000" spc="-80" dirty="0">
                <a:solidFill>
                  <a:srgbClr val="E6E6E6"/>
                </a:solidFill>
                <a:latin typeface="Verdana"/>
                <a:cs typeface="Verdana"/>
              </a:rPr>
              <a:t> Без вибрации.</a:t>
            </a:r>
            <a:br>
              <a:rPr lang="ru-RU" sz="1000" spc="-80" dirty="0">
                <a:solidFill>
                  <a:srgbClr val="E6E6E6"/>
                </a:solidFill>
                <a:latin typeface="Verdana"/>
                <a:cs typeface="Verdana"/>
              </a:rPr>
            </a:br>
            <a:r>
              <a:rPr lang="ru-RU" sz="1000" spc="-8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 т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очностью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электроэнергии 1%,</a:t>
            </a:r>
            <a:r>
              <a:rPr lang="ru-RU"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против</a:t>
            </a:r>
            <a:r>
              <a:rPr lang="ru-RU"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10%</a:t>
            </a:r>
            <a:r>
              <a:rPr lang="ru-RU"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lang="ru-RU"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стандарте.</a:t>
            </a:r>
            <a:endParaRPr lang="ru-RU" sz="1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lang="ru-RU" sz="1000" dirty="0">
              <a:latin typeface="Verdana"/>
              <a:cs typeface="Verdana"/>
            </a:endParaRPr>
          </a:p>
          <a:p>
            <a:pPr marL="19050" marR="688975">
              <a:lnSpc>
                <a:spcPct val="130000"/>
              </a:lnSpc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Альтернатор</a:t>
            </a:r>
            <a:r>
              <a:rPr lang="ru-RU"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 err="1">
                <a:solidFill>
                  <a:srgbClr val="E6E6E6"/>
                </a:solidFill>
                <a:latin typeface="Verdana"/>
                <a:cs typeface="Verdana"/>
              </a:rPr>
              <a:t>Element</a:t>
            </a:r>
            <a:r>
              <a:rPr lang="ru-RU" sz="1000" spc="-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lang="ru-RU"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lang="ru-RU"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9</a:t>
            </a:r>
            <a:r>
              <a:rPr lang="en-US" sz="1000" dirty="0">
                <a:solidFill>
                  <a:srgbClr val="E6E6E6"/>
                </a:solidFill>
                <a:latin typeface="Verdana"/>
                <a:cs typeface="Verdana"/>
              </a:rPr>
              <a:t>5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%</a:t>
            </a:r>
            <a:r>
              <a:rPr lang="ru-RU"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-</a:t>
            </a:r>
            <a:r>
              <a:rPr lang="ru-RU"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специально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разработанный</a:t>
            </a:r>
            <a:r>
              <a:rPr lang="ru-RU"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lang="ru-RU"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нагруженных</a:t>
            </a:r>
            <a:r>
              <a:rPr lang="ru-RU"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b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</a:br>
            <a:endParaRPr lang="ru-RU" sz="1000" dirty="0">
              <a:latin typeface="Verdana"/>
              <a:cs typeface="Verdana"/>
            </a:endParaRPr>
          </a:p>
          <a:p>
            <a:pPr marL="12700" marR="863600">
              <a:lnSpc>
                <a:spcPct val="130000"/>
              </a:lnSpc>
            </a:pP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Контроллер</a:t>
            </a:r>
            <a:r>
              <a:rPr lang="ru-RU"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 err="1">
                <a:solidFill>
                  <a:srgbClr val="E6E6E6"/>
                </a:solidFill>
                <a:latin typeface="Verdana"/>
                <a:cs typeface="Verdana"/>
              </a:rPr>
              <a:t>SmartGen</a:t>
            </a:r>
            <a:r>
              <a:rPr lang="ru-RU"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(«умный</a:t>
            </a:r>
            <a:r>
              <a:rPr lang="ru-RU"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генератор»)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специально</a:t>
            </a:r>
            <a:r>
              <a:rPr lang="ru-RU"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spc="-10" dirty="0">
                <a:solidFill>
                  <a:srgbClr val="E6E6E6"/>
                </a:solidFill>
                <a:latin typeface="Verdana"/>
                <a:cs typeface="Verdana"/>
              </a:rPr>
              <a:t>разработанный</a:t>
            </a:r>
            <a:r>
              <a:rPr lang="ru-RU"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lang="ru-RU"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lang="ru-RU" sz="1000" spc="-20" dirty="0">
                <a:solidFill>
                  <a:srgbClr val="E6E6E6"/>
                </a:solidFill>
                <a:latin typeface="Verdana"/>
                <a:cs typeface="Verdana"/>
              </a:rPr>
              <a:t> ГПУ.</a:t>
            </a:r>
            <a:endParaRPr lang="ru-RU" sz="1000" dirty="0">
              <a:latin typeface="Verdana"/>
              <a:cs typeface="Verdana"/>
            </a:endParaRPr>
          </a:p>
        </p:txBody>
      </p:sp>
      <p:pic>
        <p:nvPicPr>
          <p:cNvPr id="32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9350" y="-1"/>
            <a:ext cx="1289057" cy="1188907"/>
          </a:xfrm>
          <a:prstGeom prst="rect">
            <a:avLst/>
          </a:prstGeom>
        </p:spPr>
      </p:pic>
      <p:sp>
        <p:nvSpPr>
          <p:cNvPr id="33" name="object 17"/>
          <p:cNvSpPr txBox="1"/>
          <p:nvPr/>
        </p:nvSpPr>
        <p:spPr>
          <a:xfrm>
            <a:off x="5237825" y="98718"/>
            <a:ext cx="2237220" cy="95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2860" marR="1290955" indent="-10795">
              <a:lnSpc>
                <a:spcPct val="133800"/>
              </a:lnSpc>
              <a:spcBef>
                <a:spcPts val="100"/>
              </a:spcBef>
            </a:pPr>
            <a:r>
              <a:rPr lang="ru-RU" sz="900" spc="5" dirty="0">
                <a:latin typeface="Segoe UI"/>
                <a:cs typeface="Segoe UI"/>
              </a:rPr>
              <a:t>ОО</a:t>
            </a:r>
            <a:r>
              <a:rPr lang="ru-RU" sz="900" dirty="0">
                <a:latin typeface="Segoe UI"/>
                <a:cs typeface="Segoe UI"/>
              </a:rPr>
              <a:t>О</a:t>
            </a:r>
            <a:r>
              <a:rPr lang="ru-RU" sz="900" spc="-15" dirty="0">
                <a:latin typeface="Segoe UI"/>
                <a:cs typeface="Segoe UI"/>
              </a:rPr>
              <a:t> </a:t>
            </a:r>
            <a:r>
              <a:rPr lang="ru-RU" sz="900" dirty="0">
                <a:latin typeface="Segoe UI"/>
                <a:cs typeface="Segoe UI"/>
              </a:rPr>
              <a:t>«Э</a:t>
            </a:r>
            <a:r>
              <a:rPr lang="ru-RU" sz="900" spc="-10" dirty="0">
                <a:latin typeface="Segoe UI"/>
                <a:cs typeface="Segoe UI"/>
              </a:rPr>
              <a:t>Л</a:t>
            </a:r>
            <a:r>
              <a:rPr lang="ru-RU" sz="900" dirty="0">
                <a:latin typeface="Segoe UI"/>
                <a:cs typeface="Segoe UI"/>
              </a:rPr>
              <a:t>Е</a:t>
            </a:r>
            <a:r>
              <a:rPr lang="ru-RU" sz="900" spc="-5" dirty="0">
                <a:latin typeface="Segoe UI"/>
                <a:cs typeface="Segoe UI"/>
              </a:rPr>
              <a:t>М</a:t>
            </a:r>
            <a:r>
              <a:rPr lang="ru-RU" sz="900" dirty="0">
                <a:latin typeface="Segoe UI"/>
                <a:cs typeface="Segoe UI"/>
              </a:rPr>
              <a:t>ЕН</a:t>
            </a:r>
            <a:r>
              <a:rPr lang="ru-RU" sz="900" spc="-10" dirty="0">
                <a:latin typeface="Segoe UI"/>
                <a:cs typeface="Segoe UI"/>
              </a:rPr>
              <a:t>Т</a:t>
            </a:r>
            <a:r>
              <a:rPr lang="ru-RU" sz="900" dirty="0">
                <a:latin typeface="Segoe UI"/>
                <a:cs typeface="Segoe UI"/>
              </a:rPr>
              <a:t>»  </a:t>
            </a:r>
            <a:r>
              <a:rPr lang="ru-RU" sz="900" spc="-5" dirty="0">
                <a:latin typeface="Segoe UI"/>
                <a:cs typeface="Segoe UI"/>
              </a:rPr>
              <a:t>ИНН</a:t>
            </a:r>
            <a:r>
              <a:rPr lang="ru-RU" sz="900" spc="-40" dirty="0">
                <a:latin typeface="Segoe UI"/>
                <a:cs typeface="Segoe UI"/>
              </a:rPr>
              <a:t> </a:t>
            </a:r>
            <a:r>
              <a:rPr lang="ru-RU" sz="900" spc="-10" dirty="0">
                <a:latin typeface="Segoe UI"/>
                <a:cs typeface="Segoe UI"/>
              </a:rPr>
              <a:t>1218002079</a:t>
            </a:r>
            <a:endParaRPr lang="ru-RU" sz="900" dirty="0">
              <a:latin typeface="Segoe UI"/>
              <a:cs typeface="Segoe UI"/>
            </a:endParaRPr>
          </a:p>
          <a:p>
            <a:pPr marL="22860">
              <a:lnSpc>
                <a:spcPct val="100000"/>
              </a:lnSpc>
              <a:spcBef>
                <a:spcPts val="320"/>
              </a:spcBef>
            </a:pPr>
            <a:r>
              <a:rPr lang="ru-RU" sz="900" spc="-5" dirty="0">
                <a:latin typeface="Segoe UI"/>
                <a:cs typeface="Segoe UI"/>
              </a:rPr>
              <a:t>КПП</a:t>
            </a:r>
            <a:r>
              <a:rPr lang="ru-RU" sz="900" spc="-45" dirty="0">
                <a:latin typeface="Segoe UI"/>
                <a:cs typeface="Segoe UI"/>
              </a:rPr>
              <a:t> </a:t>
            </a:r>
            <a:r>
              <a:rPr lang="ru-RU" sz="900" spc="-10" dirty="0">
                <a:latin typeface="Segoe UI"/>
                <a:cs typeface="Segoe UI"/>
              </a:rPr>
              <a:t>121801001</a:t>
            </a:r>
            <a:endParaRPr lang="ru-RU" sz="900" dirty="0">
              <a:latin typeface="Segoe UI"/>
              <a:cs typeface="Segoe UI"/>
            </a:endParaRPr>
          </a:p>
          <a:p>
            <a:pPr marL="24130">
              <a:lnSpc>
                <a:spcPct val="100000"/>
              </a:lnSpc>
              <a:spcBef>
                <a:spcPts val="370"/>
              </a:spcBef>
            </a:pPr>
            <a:r>
              <a:rPr lang="ru-RU" sz="900" spc="-5" dirty="0">
                <a:latin typeface="Segoe UI"/>
                <a:cs typeface="Segoe UI"/>
              </a:rPr>
              <a:t>р/с</a:t>
            </a:r>
            <a:r>
              <a:rPr lang="ru-RU" sz="900" dirty="0">
                <a:latin typeface="Segoe UI"/>
                <a:cs typeface="Segoe UI"/>
              </a:rPr>
              <a:t> </a:t>
            </a:r>
            <a:r>
              <a:rPr lang="ru-RU" sz="900" spc="-5" dirty="0">
                <a:latin typeface="Segoe UI"/>
                <a:cs typeface="Segoe UI"/>
              </a:rPr>
              <a:t>40702810070010348277</a:t>
            </a:r>
            <a:r>
              <a:rPr lang="ru-RU" sz="900" spc="20" dirty="0">
                <a:latin typeface="Segoe UI"/>
                <a:cs typeface="Segoe UI"/>
              </a:rPr>
              <a:t> </a:t>
            </a:r>
            <a:r>
              <a:rPr lang="ru-RU" sz="900" spc="-5" dirty="0">
                <a:latin typeface="Segoe UI"/>
                <a:cs typeface="Segoe UI"/>
              </a:rPr>
              <a:t>(</a:t>
            </a:r>
            <a:r>
              <a:rPr lang="ru-RU" sz="900" spc="-5" dirty="0" err="1">
                <a:latin typeface="Segoe UI"/>
                <a:cs typeface="Segoe UI"/>
              </a:rPr>
              <a:t>Модульбанк</a:t>
            </a:r>
            <a:r>
              <a:rPr lang="ru-RU" sz="900" spc="-5" dirty="0">
                <a:latin typeface="Segoe UI"/>
                <a:cs typeface="Segoe UI"/>
              </a:rPr>
              <a:t>)</a:t>
            </a:r>
            <a:endParaRPr lang="ru-RU" sz="900" dirty="0">
              <a:latin typeface="Segoe UI"/>
              <a:cs typeface="Segoe UI"/>
            </a:endParaRPr>
          </a:p>
          <a:p>
            <a:pPr marL="24130">
              <a:lnSpc>
                <a:spcPct val="100000"/>
              </a:lnSpc>
              <a:spcBef>
                <a:spcPts val="465"/>
              </a:spcBef>
            </a:pPr>
            <a:r>
              <a:rPr lang="ru-RU" sz="900" dirty="0">
                <a:latin typeface="Segoe UI"/>
                <a:cs typeface="Segoe UI"/>
              </a:rPr>
              <a:t>БИК</a:t>
            </a:r>
            <a:r>
              <a:rPr lang="ru-RU" sz="900" spc="-40" dirty="0">
                <a:latin typeface="Segoe UI"/>
                <a:cs typeface="Segoe UI"/>
              </a:rPr>
              <a:t> </a:t>
            </a:r>
            <a:r>
              <a:rPr lang="ru-RU" sz="900" spc="-5" dirty="0">
                <a:latin typeface="Segoe UI"/>
                <a:cs typeface="Segoe UI"/>
              </a:rPr>
              <a:t>044525092</a:t>
            </a:r>
            <a:endParaRPr lang="ru-RU" sz="900" dirty="0">
              <a:latin typeface="Segoe UI"/>
              <a:cs typeface="Segoe UI"/>
            </a:endParaRPr>
          </a:p>
        </p:txBody>
      </p:sp>
      <p:sp>
        <p:nvSpPr>
          <p:cNvPr id="31" name="object 18"/>
          <p:cNvSpPr txBox="1"/>
          <p:nvPr/>
        </p:nvSpPr>
        <p:spPr>
          <a:xfrm>
            <a:off x="3315653" y="5266267"/>
            <a:ext cx="943080" cy="15260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ru-RU" sz="900" dirty="0">
                <a:latin typeface="Segoe UI"/>
                <a:cs typeface="Segoe UI"/>
              </a:rPr>
              <a:t> </a:t>
            </a:r>
            <a:endParaRPr sz="900" dirty="0">
              <a:latin typeface="Segoe UI"/>
              <a:cs typeface="Segoe UI"/>
            </a:endParaRPr>
          </a:p>
        </p:txBody>
      </p:sp>
      <p:pic>
        <p:nvPicPr>
          <p:cNvPr id="3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0586" y="6206682"/>
            <a:ext cx="73152" cy="76925"/>
          </a:xfrm>
          <a:prstGeom prst="rect">
            <a:avLst/>
          </a:prstGeom>
        </p:spPr>
      </p:pic>
      <p:pic>
        <p:nvPicPr>
          <p:cNvPr id="36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6731" y="5382431"/>
            <a:ext cx="73152" cy="76925"/>
          </a:xfrm>
          <a:prstGeom prst="rect">
            <a:avLst/>
          </a:prstGeom>
        </p:spPr>
      </p:pic>
      <p:pic>
        <p:nvPicPr>
          <p:cNvPr id="37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1487" y="6814524"/>
            <a:ext cx="73152" cy="76925"/>
          </a:xfrm>
          <a:prstGeom prst="rect">
            <a:avLst/>
          </a:prstGeom>
        </p:spPr>
      </p:pic>
      <p:sp>
        <p:nvSpPr>
          <p:cNvPr id="38" name="object 9"/>
          <p:cNvSpPr txBox="1"/>
          <p:nvPr/>
        </p:nvSpPr>
        <p:spPr>
          <a:xfrm>
            <a:off x="371054" y="10013021"/>
            <a:ext cx="7065671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Данное</a:t>
            </a:r>
            <a:r>
              <a:rPr sz="1100" spc="-7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коммерческое</a:t>
            </a:r>
            <a:r>
              <a:rPr sz="1100" spc="1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предложение</a:t>
            </a:r>
            <a:r>
              <a:rPr sz="1100" spc="-9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не</a:t>
            </a:r>
            <a:r>
              <a:rPr sz="1100" spc="-6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является</a:t>
            </a:r>
            <a:r>
              <a:rPr sz="1100" spc="-4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офертой</a:t>
            </a:r>
            <a:r>
              <a:rPr sz="1100" spc="-4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(в</a:t>
            </a:r>
            <a:r>
              <a:rPr sz="1100" spc="1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соответствии</a:t>
            </a:r>
            <a:r>
              <a:rPr sz="1100" spc="-1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со</a:t>
            </a:r>
            <a:r>
              <a:rPr sz="1100" spc="-2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ст.435</a:t>
            </a:r>
            <a:r>
              <a:rPr sz="1100" spc="-5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ГК</a:t>
            </a:r>
            <a:r>
              <a:rPr sz="1100" spc="-1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РФ),</a:t>
            </a:r>
            <a:r>
              <a:rPr sz="1100" spc="-3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spc="-50" dirty="0">
                <a:solidFill>
                  <a:srgbClr val="46494D"/>
                </a:solidFill>
                <a:latin typeface="Segoe UI"/>
                <a:cs typeface="Segoe UI"/>
              </a:rPr>
              <a:t>и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не</a:t>
            </a:r>
            <a:r>
              <a:rPr sz="1100" spc="-6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влечет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за</a:t>
            </a:r>
            <a:r>
              <a:rPr sz="1100" spc="-3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собой</a:t>
            </a:r>
            <a:r>
              <a:rPr sz="1100" spc="-1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обязательств</a:t>
            </a:r>
            <a:r>
              <a:rPr sz="1100" spc="-7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ООО</a:t>
            </a:r>
            <a:r>
              <a:rPr sz="1100" spc="-65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«ЭЛЕМЕНТ»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по</a:t>
            </a:r>
            <a:r>
              <a:rPr sz="1100" spc="-3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заключению</a:t>
            </a:r>
            <a:r>
              <a:rPr sz="1100" spc="-4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Договора на</a:t>
            </a:r>
            <a:r>
              <a:rPr sz="1100" spc="-4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условиях настоящего</a:t>
            </a:r>
            <a:r>
              <a:rPr sz="1100" dirty="0">
                <a:solidFill>
                  <a:srgbClr val="4649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94D"/>
                </a:solidFill>
                <a:latin typeface="Segoe UI"/>
                <a:cs typeface="Segoe UI"/>
              </a:rPr>
              <a:t>предложения</a:t>
            </a:r>
            <a:endParaRPr sz="11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505" y="6447771"/>
            <a:ext cx="2496295" cy="3994760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384619"/>
              </p:ext>
            </p:extLst>
          </p:nvPr>
        </p:nvGraphicFramePr>
        <p:xfrm>
          <a:off x="120650" y="105642"/>
          <a:ext cx="7315200" cy="88161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8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Все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191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Количество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R="90805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844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номинальная,</a:t>
                      </a:r>
                      <a:r>
                        <a:rPr sz="12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40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n-US" sz="1200" spc="-25" dirty="0">
                          <a:latin typeface="Microsoft Sans Serif"/>
                          <a:cs typeface="Microsoft Sans Serif"/>
                        </a:rPr>
                        <a:t>400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lang="en-US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557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844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постоянная,</a:t>
                      </a:r>
                      <a:r>
                        <a:rPr sz="12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350</a:t>
                      </a:r>
                      <a:r>
                        <a:rPr lang="ru-RU" sz="1200" spc="-25" baseline="0" dirty="0">
                          <a:latin typeface="Microsoft Sans Serif"/>
                          <a:cs typeface="Microsoft Sans Serif"/>
                        </a:rPr>
                        <a:t> (вместо 320)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350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Сумма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276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Марка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двигателя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  <a:p>
                      <a:pPr marL="236538" marR="179705" indent="-150813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sz="1200" b="0" spc="-10" dirty="0">
                          <a:latin typeface="Microsoft Sans Serif"/>
                          <a:cs typeface="Microsoft Sans Serif"/>
                        </a:rPr>
                        <a:t>6M33D450E310NG</a:t>
                      </a:r>
                      <a:endParaRPr lang="en-US" sz="1200" b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 marR="280670" indent="-85725" algn="r">
                        <a:lnSpc>
                          <a:spcPct val="100000"/>
                        </a:lnSpc>
                      </a:pP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Шт.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1522">
                <a:tc>
                  <a:txBody>
                    <a:bodyPr/>
                    <a:lstStyle/>
                    <a:p>
                      <a:pPr marL="50165" marR="1428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lang="ru-RU" sz="1200" b="0" spc="-25" dirty="0">
                          <a:latin typeface="Microsoft Sans Serif"/>
                          <a:cs typeface="Microsoft Sans Serif"/>
                        </a:rPr>
                        <a:t>ГПУ-</a:t>
                      </a: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400</a:t>
                      </a:r>
                      <a:r>
                        <a:rPr lang="ru-RU" sz="1200" b="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Квт/380В</a:t>
                      </a:r>
                      <a:r>
                        <a:rPr lang="ru-RU" sz="1200" b="0" spc="3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двигатель</a:t>
                      </a:r>
                      <a:r>
                        <a:rPr lang="ru-RU" sz="1200" b="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200" b="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lang="en-US" sz="1200" b="0" spc="-10" dirty="0">
                          <a:latin typeface="Microsoft Sans Serif"/>
                          <a:cs typeface="Microsoft Sans Serif"/>
                        </a:rPr>
                        <a:t>, </a:t>
                      </a:r>
                      <a:br>
                        <a:rPr lang="ru-RU" sz="1200" b="0" spc="-10" dirty="0">
                          <a:latin typeface="Microsoft Sans Serif"/>
                          <a:cs typeface="Microsoft Sans Serif"/>
                        </a:rPr>
                      </a:b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генератор</a:t>
                      </a:r>
                      <a:r>
                        <a:rPr lang="ru-RU" sz="1200" b="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n-US" sz="1200" b="0" dirty="0">
                          <a:latin typeface="Microsoft Sans Serif"/>
                          <a:cs typeface="Microsoft Sans Serif"/>
                        </a:rPr>
                        <a:t>Element</a:t>
                      </a:r>
                      <a:endParaRPr lang="ru-RU" sz="1200" b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9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b="0" i="0" dirty="0">
                          <a:solidFill>
                            <a:schemeClr val="tx1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10 000 000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b="0" i="0" dirty="0">
                          <a:solidFill>
                            <a:schemeClr val="tx1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10 000 000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9525" marR="9525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608">
                <a:tc>
                  <a:txBody>
                    <a:bodyPr/>
                    <a:lstStyle/>
                    <a:p>
                      <a:pPr marL="91440" marR="0" lvl="0" indent="0" defTabSz="914400" eaLnBrk="1" fontAlgn="auto" latinLnBrk="0" hangingPunct="1">
                        <a:lnSpc>
                          <a:spcPts val="1670"/>
                        </a:lnSpc>
                        <a:spcBef>
                          <a:spcPts val="113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температуры двигателя 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цилиндрам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35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2234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 marR="147955">
                        <a:lnSpc>
                          <a:spcPts val="166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температуры выхлопных газов</a:t>
                      </a:r>
                    </a:p>
                  </a:txBody>
                  <a:tcPr marL="0" marR="0" marT="15240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199645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91440" marR="5391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Радиатор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охлаждения</a:t>
                      </a:r>
                      <a:r>
                        <a:rPr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вертикальный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вдвое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большей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площадью,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возможностью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выноса</a:t>
                      </a:r>
                      <a:r>
                        <a:rPr sz="1200" spc="-5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en-US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4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электровентиляторами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с частотным управлением по температуре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683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3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738144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91440" marR="5391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антидетонации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683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33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516295"/>
                  </a:ext>
                </a:extLst>
              </a:tr>
              <a:tr h="220059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5"/>
                        </a:spcBef>
                      </a:pP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Электрический</a:t>
                      </a:r>
                      <a:r>
                        <a:rPr sz="1200" spc="-114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насос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414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7020"/>
                  </a:ext>
                </a:extLst>
              </a:tr>
              <a:tr h="220059">
                <a:tc>
                  <a:txBody>
                    <a:bodyPr/>
                    <a:lstStyle/>
                    <a:p>
                      <a:pPr marL="91440" marR="0" lvl="0" indent="0" algn="l" defTabSz="914400" eaLnBrk="1" fontAlgn="auto" latinLnBrk="0" hangingPunct="1">
                        <a:lnSpc>
                          <a:spcPts val="1670"/>
                        </a:lnSpc>
                        <a:spcBef>
                          <a:spcPts val="113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Двухопорный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антивибрационный альтернатор с системой контроля температуры обмоток и диагностики  ресурса подшипников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414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45234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 marR="11506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Электроподогреватель</a:t>
                      </a:r>
                      <a:r>
                        <a:rPr lang="ru-RU" sz="1200" spc="-10" baseline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 и масла в картере двигателя для запуска ГПУ после остановки в холодный период времени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97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1285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Постоянный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магнит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альтернатора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с точностью регулировки параметров 1%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4318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8526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Удаленный мониторинг с телефона на русском языке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1440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Газовая рампа с тремя цифровыми манометрами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5396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на предприятии-изготовителя с видеоотчетом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182563" algn="l"/>
                        </a:tabLst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219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0101350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106305" y="9617075"/>
            <a:ext cx="70686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*Стоимость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Roboto"/>
              </a:rPr>
              <a:t> 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самой ГПУ составляет 860 000 юаней по курсу на день оплаты.</a:t>
            </a:r>
            <a:b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</a:br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Все опции полностью российского производства - цены в рублях фиксированы</a:t>
            </a:r>
            <a:endParaRPr lang="ru-RU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403519"/>
              </p:ext>
            </p:extLst>
          </p:nvPr>
        </p:nvGraphicFramePr>
        <p:xfrm>
          <a:off x="120650" y="625475"/>
          <a:ext cx="7315199" cy="3887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7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601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Интеркулер вода-воздух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700638"/>
                  </a:ext>
                </a:extLst>
              </a:tr>
              <a:tr h="4328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Автоматическая</a:t>
                      </a:r>
                      <a:r>
                        <a:rPr lang="ru-RU"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система</a:t>
                      </a:r>
                      <a:r>
                        <a:rPr lang="ru-RU"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10" dirty="0" err="1">
                          <a:latin typeface="Microsoft Sans Serif"/>
                          <a:cs typeface="Microsoft Sans Serif"/>
                        </a:rPr>
                        <a:t>долива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масла с баком на 20 л и дополнительным внешним цифровым датчиком уровня масла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0" marR="0" marT="1409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290769"/>
                  </a:ext>
                </a:extLst>
              </a:tr>
              <a:tr h="390836">
                <a:tc>
                  <a:txBody>
                    <a:bodyPr/>
                    <a:lstStyle/>
                    <a:p>
                      <a:pPr marL="92075" indent="0"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Цифровая система контроля уровня охлаждающей жидкости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415847"/>
                  </a:ext>
                </a:extLst>
              </a:tr>
              <a:tr h="35845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Индивидуальный счетчик газа на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b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</a:b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09544"/>
                  </a:ext>
                </a:extLst>
              </a:tr>
              <a:tr h="123921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Итого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шт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400 000 000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425990"/>
                  </a:ext>
                </a:extLst>
              </a:tr>
              <a:tr h="12392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Проектные работы 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1% от стоимости счета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318921"/>
                  </a:ext>
                </a:extLst>
              </a:tr>
              <a:tr h="123921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выездные (ПНР)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1% от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стоимости счёта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745426"/>
                  </a:ext>
                </a:extLst>
              </a:tr>
              <a:tr h="331574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Строительно-монтажные работы (СМР)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1-3% от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сложности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317923"/>
                  </a:ext>
                </a:extLst>
              </a:tr>
              <a:tr h="797394">
                <a:tc gridSpan="2">
                  <a:txBody>
                    <a:bodyPr/>
                    <a:lstStyle/>
                    <a:p>
                      <a:pPr marL="91440" marR="67564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4344670" algn="l"/>
                        </a:tabLst>
                      </a:pP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Срок</a:t>
                      </a:r>
                      <a:r>
                        <a:rPr lang="ru-RU"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20" dirty="0">
                          <a:latin typeface="Microsoft Sans Serif"/>
                          <a:cs typeface="Microsoft Sans Serif"/>
                        </a:rPr>
                        <a:t>поставки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90-100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20" dirty="0">
                          <a:latin typeface="Microsoft Sans Serif"/>
                          <a:cs typeface="Microsoft Sans Serif"/>
                        </a:rPr>
                        <a:t>дней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	</a:t>
                      </a:r>
                    </a:p>
                    <a:p>
                      <a:pPr marL="91440" marR="67564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4344670" algn="l"/>
                        </a:tabLst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Итого,</a:t>
                      </a:r>
                      <a:r>
                        <a:rPr lang="ru-RU" sz="1200" spc="-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руб</a:t>
                      </a:r>
                      <a:r>
                        <a:rPr lang="ru-RU"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50" dirty="0">
                          <a:latin typeface="Microsoft Sans Serif"/>
                          <a:cs typeface="Microsoft Sans Serif"/>
                        </a:rPr>
                        <a:t>с </a:t>
                      </a:r>
                      <a:r>
                        <a:rPr lang="ru-RU" sz="1200" spc="-40" dirty="0">
                          <a:latin typeface="Microsoft Sans Serif"/>
                          <a:cs typeface="Microsoft Sans Serif"/>
                        </a:rPr>
                        <a:t>НДС: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  <a:p>
                      <a:endParaRPr lang="ru-RU" dirty="0"/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400 000 000</a:t>
                      </a:r>
                    </a:p>
                  </a:txBody>
                  <a:tcPr marL="0" marR="0" marT="12636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43902" y="9540875"/>
            <a:ext cx="70686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*Стоимость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Roboto"/>
              </a:rPr>
              <a:t> 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самой ГПУ составляет 860 </a:t>
            </a:r>
            <a:r>
              <a:rPr lang="ru-RU" sz="1400" dirty="0">
                <a:solidFill>
                  <a:srgbClr val="000000"/>
                </a:solidFill>
                <a:latin typeface="Roboto"/>
              </a:rPr>
              <a:t>00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0 юаней по курсу на день оплаты.</a:t>
            </a:r>
            <a:b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</a:br>
            <a:r>
              <a:rPr lang="ru-RU" sz="1400" b="0" i="0" dirty="0">
                <a:solidFill>
                  <a:srgbClr val="000000"/>
                </a:solidFill>
                <a:effectLst/>
                <a:latin typeface="Roboto"/>
              </a:rPr>
              <a:t>Все опции полностью российского производства - цены в рублях фиксированы</a:t>
            </a:r>
            <a:endParaRPr lang="ru-RU" sz="14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95B8C66-20AD-472B-819B-C861EA70D4F7}"/>
              </a:ext>
            </a:extLst>
          </p:cNvPr>
          <p:cNvSpPr/>
          <p:nvPr/>
        </p:nvSpPr>
        <p:spPr>
          <a:xfrm>
            <a:off x="577850" y="4749711"/>
            <a:ext cx="6324600" cy="1767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sz="1800" spc="-10" dirty="0">
                <a:latin typeface="Microsoft Sans Serif"/>
                <a:cs typeface="Microsoft Sans Serif"/>
              </a:rPr>
              <a:t>Стоимость</a:t>
            </a:r>
            <a:r>
              <a:rPr lang="ru-RU" sz="1800" spc="-45" dirty="0">
                <a:latin typeface="Microsoft Sans Serif"/>
                <a:cs typeface="Microsoft Sans Serif"/>
              </a:rPr>
              <a:t> </a:t>
            </a:r>
            <a:r>
              <a:rPr lang="ru-RU" sz="1800" dirty="0">
                <a:latin typeface="Microsoft Sans Serif"/>
                <a:cs typeface="Microsoft Sans Serif"/>
              </a:rPr>
              <a:t>технического обслуживания нашей </a:t>
            </a:r>
            <a:r>
              <a:rPr lang="ru-RU" sz="1800" spc="-10" dirty="0">
                <a:latin typeface="Microsoft Sans Serif"/>
                <a:cs typeface="Microsoft Sans Serif"/>
              </a:rPr>
              <a:t> </a:t>
            </a:r>
            <a:r>
              <a:rPr lang="ru-RU" sz="1800" dirty="0">
                <a:latin typeface="Microsoft Sans Serif"/>
                <a:cs typeface="Microsoft Sans Serif"/>
              </a:rPr>
              <a:t>ГПУ</a:t>
            </a:r>
            <a:r>
              <a:rPr lang="ru-RU" sz="1800" spc="-5" dirty="0">
                <a:latin typeface="Microsoft Sans Serif"/>
                <a:cs typeface="Microsoft Sans Serif"/>
              </a:rPr>
              <a:t> </a:t>
            </a:r>
            <a:r>
              <a:rPr lang="ru-RU" sz="1800" dirty="0">
                <a:latin typeface="Microsoft Sans Serif"/>
                <a:cs typeface="Microsoft Sans Serif"/>
              </a:rPr>
              <a:t>вдвое дешевле стандартной и составляет 400.000 руб. в год за счет правильной комплектации. 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dirty="0">
                <a:latin typeface="Microsoft Sans Serif"/>
                <a:cs typeface="Microsoft Sans Serif"/>
              </a:rPr>
              <a:t>*При прочих равных с</a:t>
            </a:r>
            <a:r>
              <a:rPr lang="ru-RU" sz="1800" dirty="0">
                <a:latin typeface="Microsoft Sans Serif"/>
                <a:cs typeface="Microsoft Sans Serif"/>
              </a:rPr>
              <a:t>тоимость обслуживания зависит от хим. </a:t>
            </a:r>
            <a:r>
              <a:rPr lang="ru-RU" dirty="0">
                <a:latin typeface="Microsoft Sans Serif"/>
                <a:cs typeface="Microsoft Sans Serif"/>
              </a:rPr>
              <a:t>с</a:t>
            </a:r>
            <a:r>
              <a:rPr lang="ru-RU" sz="1800" dirty="0">
                <a:latin typeface="Microsoft Sans Serif"/>
                <a:cs typeface="Microsoft Sans Serif"/>
              </a:rPr>
              <a:t>остава газа и параметров климатической среды эксплуатации</a:t>
            </a:r>
          </a:p>
        </p:txBody>
      </p:sp>
    </p:spTree>
    <p:extLst>
      <p:ext uri="{BB962C8B-B14F-4D97-AF65-F5344CB8AC3E}">
        <p14:creationId xmlns:p14="http://schemas.microsoft.com/office/powerpoint/2010/main" val="4025281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505" y="6447771"/>
            <a:ext cx="2496295" cy="39947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9250" y="244475"/>
            <a:ext cx="7086600" cy="8341386"/>
          </a:xfrm>
          <a:prstGeom prst="rect">
            <a:avLst/>
          </a:prstGeom>
        </p:spPr>
        <p:txBody>
          <a:bodyPr vert="horz" wrap="square" lIns="0" tIns="71755" rIns="0" bIns="0" rtlCol="0" anchor="ctr">
            <a:spAutoFit/>
          </a:bodyPr>
          <a:lstStyle/>
          <a:p>
            <a:pPr marL="180975" marR="544830" algn="ctr">
              <a:spcBef>
                <a:spcPts val="565"/>
              </a:spcBef>
            </a:pPr>
            <a:r>
              <a:rPr sz="2000" spc="-110" dirty="0">
                <a:latin typeface="Verdana"/>
                <a:cs typeface="Verdana"/>
              </a:rPr>
              <a:t>Вы</a:t>
            </a:r>
            <a:r>
              <a:rPr sz="2000" spc="-325" dirty="0">
                <a:latin typeface="Verdana"/>
                <a:cs typeface="Verdana"/>
              </a:rPr>
              <a:t> </a:t>
            </a:r>
            <a:r>
              <a:rPr sz="2000" spc="-155" dirty="0">
                <a:latin typeface="Verdana"/>
                <a:cs typeface="Verdana"/>
              </a:rPr>
              <a:t>нашли</a:t>
            </a:r>
            <a:r>
              <a:rPr sz="2000" spc="-325" dirty="0">
                <a:latin typeface="Verdana"/>
                <a:cs typeface="Verdana"/>
              </a:rPr>
              <a:t> </a:t>
            </a:r>
            <a:r>
              <a:rPr sz="2000" spc="-175" dirty="0">
                <a:latin typeface="Verdana"/>
                <a:cs typeface="Verdana"/>
              </a:rPr>
              <a:t>правильную</a:t>
            </a:r>
            <a:r>
              <a:rPr sz="2000" spc="-335" dirty="0">
                <a:latin typeface="Verdana"/>
                <a:cs typeface="Verdana"/>
              </a:rPr>
              <a:t> </a:t>
            </a:r>
            <a:r>
              <a:rPr sz="2000" spc="-170" dirty="0">
                <a:latin typeface="Verdana"/>
                <a:cs typeface="Verdana"/>
              </a:rPr>
              <a:t>компанию</a:t>
            </a:r>
            <a:r>
              <a:rPr sz="2000" spc="-330" dirty="0">
                <a:latin typeface="Verdana"/>
                <a:cs typeface="Verdana"/>
              </a:rPr>
              <a:t> </a:t>
            </a:r>
            <a:r>
              <a:rPr sz="2000" spc="-120" dirty="0" err="1">
                <a:latin typeface="Verdana"/>
                <a:cs typeface="Verdana"/>
              </a:rPr>
              <a:t>для</a:t>
            </a:r>
            <a:r>
              <a:rPr sz="2000" spc="-330" dirty="0">
                <a:latin typeface="Verdana"/>
                <a:cs typeface="Verdana"/>
              </a:rPr>
              <a:t> </a:t>
            </a:r>
            <a:r>
              <a:rPr sz="2000" spc="-180" dirty="0">
                <a:latin typeface="Verdana"/>
                <a:cs typeface="Verdana"/>
              </a:rPr>
              <a:t>п</a:t>
            </a:r>
            <a:r>
              <a:rPr lang="ru-RU" sz="2000" spc="-180" dirty="0" err="1">
                <a:latin typeface="Verdana"/>
                <a:cs typeface="Verdana"/>
              </a:rPr>
              <a:t>окупки</a:t>
            </a:r>
            <a:r>
              <a:rPr sz="2000" spc="-3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ГПУ</a:t>
            </a:r>
            <a:r>
              <a:rPr sz="2000" spc="-60" dirty="0">
                <a:latin typeface="Verdana"/>
                <a:cs typeface="Verdana"/>
              </a:rPr>
              <a:t>!</a:t>
            </a:r>
            <a:endParaRPr sz="2000" dirty="0">
              <a:latin typeface="Verdana"/>
              <a:cs typeface="Verdana"/>
            </a:endParaRPr>
          </a:p>
          <a:p>
            <a:pPr marR="196215" algn="ctr">
              <a:spcBef>
                <a:spcPts val="1455"/>
              </a:spcBef>
            </a:pPr>
            <a:r>
              <a:rPr sz="2000" spc="-105" dirty="0">
                <a:latin typeface="Verdana"/>
                <a:cs typeface="Verdana"/>
              </a:rPr>
              <a:t>То</a:t>
            </a:r>
            <a:r>
              <a:rPr sz="2000" spc="-350" dirty="0">
                <a:latin typeface="Verdana"/>
                <a:cs typeface="Verdana"/>
              </a:rPr>
              <a:t> </a:t>
            </a:r>
            <a:r>
              <a:rPr sz="2000" spc="-155" dirty="0">
                <a:latin typeface="Verdana"/>
                <a:cs typeface="Verdana"/>
              </a:rPr>
              <a:t>самое</a:t>
            </a:r>
            <a:r>
              <a:rPr sz="2000" spc="-345" dirty="0">
                <a:latin typeface="Verdana"/>
                <a:cs typeface="Verdana"/>
              </a:rPr>
              <a:t> </a:t>
            </a:r>
            <a:r>
              <a:rPr sz="2000" spc="-170" dirty="0">
                <a:latin typeface="Verdana"/>
                <a:cs typeface="Verdana"/>
              </a:rPr>
              <a:t>чувство,</a:t>
            </a:r>
            <a:r>
              <a:rPr sz="2000" spc="-345" dirty="0">
                <a:latin typeface="Verdana"/>
                <a:cs typeface="Verdana"/>
              </a:rPr>
              <a:t> </a:t>
            </a:r>
            <a:r>
              <a:rPr sz="2000" spc="-155" dirty="0">
                <a:latin typeface="Verdana"/>
                <a:cs typeface="Verdana"/>
              </a:rPr>
              <a:t>когда</a:t>
            </a:r>
            <a:r>
              <a:rPr sz="2000" spc="-370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ты</a:t>
            </a:r>
            <a:r>
              <a:rPr sz="2000" spc="-345" dirty="0">
                <a:latin typeface="Verdana"/>
                <a:cs typeface="Verdana"/>
              </a:rPr>
              <a:t> </a:t>
            </a:r>
            <a:r>
              <a:rPr sz="2000" spc="-160" dirty="0">
                <a:latin typeface="Verdana"/>
                <a:cs typeface="Verdana"/>
              </a:rPr>
              <a:t>круче</a:t>
            </a:r>
            <a:r>
              <a:rPr sz="2000" spc="-345" dirty="0">
                <a:latin typeface="Verdana"/>
                <a:cs typeface="Verdana"/>
              </a:rPr>
              <a:t> </a:t>
            </a:r>
            <a:r>
              <a:rPr sz="2000" spc="-150" dirty="0">
                <a:latin typeface="Verdana"/>
                <a:cs typeface="Verdana"/>
              </a:rPr>
              <a:t>всех</a:t>
            </a:r>
            <a:r>
              <a:rPr sz="2000" spc="-3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и</a:t>
            </a:r>
            <a:r>
              <a:rPr sz="2000" spc="-3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у</a:t>
            </a:r>
            <a:r>
              <a:rPr sz="2000" spc="-335" dirty="0">
                <a:latin typeface="Verdana"/>
                <a:cs typeface="Verdana"/>
              </a:rPr>
              <a:t> </a:t>
            </a:r>
            <a:r>
              <a:rPr sz="2000" spc="-135" dirty="0">
                <a:latin typeface="Verdana"/>
                <a:cs typeface="Verdana"/>
              </a:rPr>
              <a:t>тебя</a:t>
            </a:r>
            <a:r>
              <a:rPr sz="2000" spc="-3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с</a:t>
            </a:r>
            <a:r>
              <a:rPr sz="2000" spc="-340" dirty="0">
                <a:latin typeface="Verdana"/>
                <a:cs typeface="Verdana"/>
              </a:rPr>
              <a:t> </a:t>
            </a:r>
            <a:r>
              <a:rPr sz="2000" spc="-145" dirty="0">
                <a:latin typeface="Verdana"/>
                <a:cs typeface="Verdana"/>
              </a:rPr>
              <a:t>Нами</a:t>
            </a:r>
            <a:r>
              <a:rPr sz="2000" spc="-36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все</a:t>
            </a:r>
            <a:endParaRPr sz="2000" dirty="0">
              <a:latin typeface="Verdana"/>
              <a:cs typeface="Verdana"/>
            </a:endParaRPr>
          </a:p>
          <a:p>
            <a:pPr marR="212725" algn="ctr"/>
            <a:r>
              <a:rPr sz="2000" spc="-75" dirty="0">
                <a:latin typeface="Verdana"/>
                <a:cs typeface="Verdana"/>
              </a:rPr>
              <a:t>получится!</a:t>
            </a:r>
            <a:endParaRPr sz="2000" dirty="0">
              <a:latin typeface="Verdana"/>
              <a:cs typeface="Verdana"/>
            </a:endParaRPr>
          </a:p>
          <a:p>
            <a:pPr marR="210820" algn="ctr">
              <a:spcBef>
                <a:spcPts val="1445"/>
              </a:spcBef>
            </a:pPr>
            <a:r>
              <a:rPr sz="2000" dirty="0">
                <a:latin typeface="Verdana"/>
                <a:cs typeface="Verdana"/>
              </a:rPr>
              <a:t>И</a:t>
            </a:r>
            <a:r>
              <a:rPr sz="2000" spc="-380" dirty="0">
                <a:latin typeface="Verdana"/>
                <a:cs typeface="Verdana"/>
              </a:rPr>
              <a:t> </a:t>
            </a:r>
            <a:r>
              <a:rPr sz="2000" spc="-130" dirty="0">
                <a:latin typeface="Verdana"/>
                <a:cs typeface="Verdana"/>
              </a:rPr>
              <a:t>вот</a:t>
            </a:r>
            <a:r>
              <a:rPr sz="2000" spc="-3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почему:</a:t>
            </a:r>
            <a:endParaRPr sz="2000" dirty="0">
              <a:latin typeface="Verdana"/>
              <a:cs typeface="Verdana"/>
            </a:endParaRPr>
          </a:p>
          <a:p>
            <a:pPr>
              <a:spcBef>
                <a:spcPts val="1530"/>
              </a:spcBef>
            </a:pPr>
            <a:endParaRPr sz="2000" dirty="0">
              <a:latin typeface="Verdana"/>
              <a:cs typeface="Verdana"/>
            </a:endParaRPr>
          </a:p>
          <a:p>
            <a:pPr marL="12700" algn="ctr">
              <a:spcBef>
                <a:spcPts val="5"/>
              </a:spcBef>
            </a:pP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Преимущества</a:t>
            </a:r>
            <a:r>
              <a:rPr sz="1600" b="1" spc="-5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газопоршневой</a:t>
            </a:r>
            <a:r>
              <a:rPr sz="1600" b="1" spc="-6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установки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компании</a:t>
            </a:r>
            <a:r>
              <a:rPr sz="1600" b="1" spc="-7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Э</a:t>
            </a: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ЛЕМЕНТ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,</a:t>
            </a: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специально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разработанной</a:t>
            </a:r>
            <a:r>
              <a:rPr sz="1600" b="1" spc="-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lang="ru-RU" sz="1600" b="1" dirty="0">
                <a:solidFill>
                  <a:srgbClr val="1C2A45"/>
                </a:solidFill>
                <a:latin typeface="Verdana"/>
                <a:cs typeface="Verdana"/>
              </a:rPr>
              <a:t>под реалии российского рынка</a:t>
            </a:r>
            <a:endParaRPr sz="1600" dirty="0">
              <a:latin typeface="Verdana"/>
              <a:cs typeface="Verdana"/>
            </a:endParaRPr>
          </a:p>
          <a:p>
            <a:pPr>
              <a:spcBef>
                <a:spcPts val="395"/>
              </a:spcBef>
            </a:pPr>
            <a:endParaRPr lang="ru-RU" sz="1600" dirty="0">
              <a:latin typeface="Verdana"/>
              <a:cs typeface="Verdana"/>
            </a:endParaRPr>
          </a:p>
          <a:p>
            <a:pPr>
              <a:spcBef>
                <a:spcPts val="395"/>
              </a:spcBef>
            </a:pPr>
            <a:endParaRPr sz="1600" dirty="0">
              <a:latin typeface="Verdana"/>
              <a:cs typeface="Verdana"/>
            </a:endParaRPr>
          </a:p>
          <a:p>
            <a:pPr marL="509905" marR="696595" indent="-287020">
              <a:buFont typeface="Wingdings"/>
              <a:buChar char=""/>
              <a:tabLst>
                <a:tab pos="509905" algn="l"/>
              </a:tabLst>
            </a:pPr>
            <a:r>
              <a:rPr lang="ru-RU" sz="1600" dirty="0">
                <a:solidFill>
                  <a:srgbClr val="0D0D0D"/>
                </a:solidFill>
                <a:latin typeface="Trebuchet MS"/>
                <a:cs typeface="Trebuchet MS"/>
              </a:rPr>
              <a:t>В</a:t>
            </a:r>
            <a:r>
              <a:rPr lang="ru-RU" sz="1600" dirty="0"/>
              <a:t> базовую комплектацию входят:</a:t>
            </a:r>
          </a:p>
          <a:p>
            <a:pPr marL="285750" marR="696595" indent="-285750">
              <a:buFont typeface="Wingdings"/>
              <a:buChar char=""/>
              <a:tabLst>
                <a:tab pos="177800" algn="l"/>
              </a:tabLst>
            </a:pPr>
            <a:endParaRPr lang="ru-RU" sz="1600" dirty="0"/>
          </a:p>
          <a:p>
            <a:pPr marL="285750" marR="696595" indent="-285750">
              <a:buAutoNum type="arabicPeriod"/>
              <a:tabLst>
                <a:tab pos="177800" algn="l"/>
              </a:tabLs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ГПУ на 400кВт, радиатор охлаждения вдвое большей площадью, с возможностью выноса и четырьмя электровентиляторами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</a:br>
            <a:endParaRPr lang="ru-RU" sz="1400" dirty="0">
              <a:latin typeface="Verdana" panose="020B0604030504040204" pitchFamily="34" charset="0"/>
              <a:ea typeface="Verdana" panose="020B0604030504040204" pitchFamily="34" charset="0"/>
              <a:cs typeface="Microsoft Sans Serif" panose="020B0604020202020204" pitchFamily="34" charset="0"/>
            </a:endParaRPr>
          </a:p>
          <a:p>
            <a:pPr marL="285750" marR="696595" indent="-285750">
              <a:buAutoNum type="arabicPeriod"/>
              <a:tabLst>
                <a:tab pos="177800" algn="l"/>
              </a:tabLs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Электрический насос охлаждающей жидкости, вместо механической помпы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</a:br>
            <a:endParaRPr lang="ru-RU" sz="1400" dirty="0">
              <a:latin typeface="Verdana" panose="020B0604030504040204" pitchFamily="34" charset="0"/>
              <a:ea typeface="Verdana" panose="020B0604030504040204" pitchFamily="34" charset="0"/>
              <a:cs typeface="Microsoft Sans Serif" panose="020B0604020202020204" pitchFamily="34" charset="0"/>
            </a:endParaRPr>
          </a:p>
          <a:p>
            <a:pPr marL="285750" marR="696595" indent="-285750">
              <a:buAutoNum type="arabicPeriod"/>
              <a:tabLst>
                <a:tab pos="177800" algn="l"/>
              </a:tabLs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Полное отсутствие ремней и роликов, что сокращает стоимость обслуживания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</a:br>
            <a:endParaRPr lang="ru-RU" sz="1400" dirty="0">
              <a:latin typeface="Verdana" panose="020B0604030504040204" pitchFamily="34" charset="0"/>
              <a:ea typeface="Verdana" panose="020B0604030504040204" pitchFamily="34" charset="0"/>
              <a:cs typeface="Microsoft Sans Serif" panose="020B0604020202020204" pitchFamily="34" charset="0"/>
            </a:endParaRPr>
          </a:p>
          <a:p>
            <a:pPr marL="285750" marR="696595" indent="-285750">
              <a:buAutoNum type="arabicPeriod"/>
              <a:tabLst>
                <a:tab pos="177800" algn="l"/>
              </a:tabLs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Использование постоянного магнита в альтернаторе, позволяющее добиваться точности выработки электроэнергии в 1%, против 10% у стандартных моделей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</a:br>
            <a:endParaRPr lang="ru-RU" sz="1400" dirty="0">
              <a:latin typeface="Verdana" panose="020B0604030504040204" pitchFamily="34" charset="0"/>
              <a:ea typeface="Verdana" panose="020B0604030504040204" pitchFamily="34" charset="0"/>
              <a:cs typeface="Microsoft Sans Serif" panose="020B0604020202020204" pitchFamily="34" charset="0"/>
            </a:endParaRPr>
          </a:p>
          <a:p>
            <a:pPr marL="285750" marR="696595" indent="-285750">
              <a:buAutoNum type="arabicPeriod"/>
              <a:tabLst>
                <a:tab pos="177800" algn="l"/>
              </a:tabLs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Увеличенная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постоянная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мощность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– </a:t>
            </a: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35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0кВт 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</a:b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(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против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базовых</a:t>
            </a: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32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0кВт),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без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уменьшения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ресурса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двигателя</a:t>
            </a:r>
            <a:b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</a:br>
            <a:endParaRPr lang="ru-RU" sz="1400" dirty="0">
              <a:latin typeface="Verdana" panose="020B0604030504040204" pitchFamily="34" charset="0"/>
              <a:ea typeface="Verdana" panose="020B0604030504040204" pitchFamily="34" charset="0"/>
              <a:cs typeface="Microsoft Sans Serif" panose="020B0604020202020204" pitchFamily="34" charset="0"/>
            </a:endParaRPr>
          </a:p>
          <a:p>
            <a:pPr marL="285750" marR="696595" indent="-285750">
              <a:buAutoNum type="arabicPeriod"/>
              <a:tabLst>
                <a:tab pos="177800" algn="l"/>
              </a:tabLst>
            </a:pP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Работа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ГПУ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без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перегрева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в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летний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период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за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счет</a:t>
            </a:r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электронасоса повышенной производительности 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и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вдвое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большего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радиатора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охлаждения</a:t>
            </a:r>
            <a:r>
              <a:rPr sz="1400" dirty="0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 </a:t>
            </a:r>
            <a:r>
              <a:rPr sz="1400" dirty="0" err="1">
                <a:latin typeface="Verdana" panose="020B0604030504040204" pitchFamily="34" charset="0"/>
                <a:ea typeface="Verdana" panose="020B0604030504040204" pitchFamily="34" charset="0"/>
                <a:cs typeface="Microsoft Sans Serif" panose="020B0604020202020204" pitchFamily="34" charset="0"/>
              </a:rPr>
              <a:t>двигателя</a:t>
            </a:r>
            <a:endParaRPr sz="1400" dirty="0">
              <a:latin typeface="Verdana" panose="020B0604030504040204" pitchFamily="34" charset="0"/>
              <a:ea typeface="Verdana" panose="020B0604030504040204" pitchFamily="34" charset="0"/>
              <a:cs typeface="Microsoft Sans Serif" panose="020B0604020202020204" pitchFamily="34" charset="0"/>
            </a:endParaRPr>
          </a:p>
          <a:p>
            <a:pPr marL="222885">
              <a:spcBef>
                <a:spcPts val="5"/>
              </a:spcBef>
              <a:tabLst>
                <a:tab pos="509270" algn="l"/>
              </a:tabLst>
            </a:pP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4" name="object 5"/>
          <p:cNvSpPr txBox="1"/>
          <p:nvPr/>
        </p:nvSpPr>
        <p:spPr>
          <a:xfrm>
            <a:off x="628593" y="9027526"/>
            <a:ext cx="3012059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Условия</a:t>
            </a:r>
            <a:r>
              <a:rPr sz="1600" b="1" spc="-8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оплаты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5" name="object 8"/>
          <p:cNvSpPr txBox="1"/>
          <p:nvPr/>
        </p:nvSpPr>
        <p:spPr>
          <a:xfrm>
            <a:off x="634943" y="9394660"/>
            <a:ext cx="2071370" cy="286617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lang="ru-RU"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70</a:t>
            </a:r>
            <a:r>
              <a:rPr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%	</a:t>
            </a:r>
            <a:r>
              <a:rPr sz="1200" dirty="0">
                <a:solidFill>
                  <a:srgbClr val="474A4D"/>
                </a:solidFill>
                <a:latin typeface="Verdana"/>
                <a:cs typeface="Verdana"/>
              </a:rPr>
              <a:t>–</a:t>
            </a:r>
            <a:r>
              <a:rPr sz="1200" spc="-50" dirty="0">
                <a:solidFill>
                  <a:srgbClr val="474A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74A4D"/>
                </a:solidFill>
                <a:latin typeface="Verdana"/>
                <a:cs typeface="Verdana"/>
              </a:rPr>
              <a:t>предоплата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6" name="object 8"/>
          <p:cNvSpPr txBox="1"/>
          <p:nvPr/>
        </p:nvSpPr>
        <p:spPr>
          <a:xfrm>
            <a:off x="628593" y="9766192"/>
            <a:ext cx="2071370" cy="286617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lang="ru-RU"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2</a:t>
            </a:r>
            <a:r>
              <a:rPr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0%	</a:t>
            </a:r>
            <a:r>
              <a:rPr sz="1200" dirty="0">
                <a:solidFill>
                  <a:srgbClr val="474A4D"/>
                </a:solidFill>
                <a:latin typeface="Verdana"/>
                <a:cs typeface="Verdana"/>
              </a:rPr>
              <a:t>–</a:t>
            </a:r>
            <a:r>
              <a:rPr sz="1200" spc="-50" dirty="0">
                <a:solidFill>
                  <a:srgbClr val="474A4D"/>
                </a:solidFill>
                <a:latin typeface="Verdana"/>
                <a:cs typeface="Verdana"/>
              </a:rPr>
              <a:t> </a:t>
            </a:r>
            <a:r>
              <a:rPr lang="ru-RU" sz="1200" dirty="0">
                <a:solidFill>
                  <a:srgbClr val="474A4D"/>
                </a:solidFill>
                <a:latin typeface="Verdana"/>
                <a:cs typeface="Verdana"/>
              </a:rPr>
              <a:t>через месяц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634943" y="10159615"/>
            <a:ext cx="6801512" cy="471283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lang="ru-RU"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1</a:t>
            </a:r>
            <a:r>
              <a:rPr sz="2100" b="1" baseline="-5952" dirty="0">
                <a:solidFill>
                  <a:srgbClr val="1F2A43"/>
                </a:solidFill>
                <a:latin typeface="Verdana"/>
                <a:cs typeface="Verdana"/>
              </a:rPr>
              <a:t>0%	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–</a:t>
            </a:r>
            <a:r>
              <a:rPr sz="1200" spc="-5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lang="ru-RU" sz="1200" dirty="0">
                <a:solidFill>
                  <a:srgbClr val="4D4D4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 позднее 3 (Трех) рабочих дней после направления Покупателю уведомления о готовности оборудования к отгрузке.</a:t>
            </a:r>
            <a:endParaRPr sz="1000" dirty="0">
              <a:solidFill>
                <a:srgbClr val="4D4D4D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1404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679</TotalTime>
  <Words>550</Words>
  <Application>Microsoft Office PowerPoint</Application>
  <PresentationFormat>Произвольный</PresentationFormat>
  <Paragraphs>124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5" baseType="lpstr">
      <vt:lpstr>Arial</vt:lpstr>
      <vt:lpstr>Calibri</vt:lpstr>
      <vt:lpstr>Microsoft Sans Serif</vt:lpstr>
      <vt:lpstr>Roboto</vt:lpstr>
      <vt:lpstr>Segoe UI</vt:lpstr>
      <vt:lpstr>Segoe UI Emoji</vt:lpstr>
      <vt:lpstr>Times New Roman</vt:lpstr>
      <vt:lpstr>Trebuchet MS</vt:lpstr>
      <vt:lpstr>Verdana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pav</dc:creator>
  <cp:lastModifiedBy>pav</cp:lastModifiedBy>
  <cp:revision>95</cp:revision>
  <dcterms:created xsi:type="dcterms:W3CDTF">2024-06-21T09:36:14Z</dcterms:created>
  <dcterms:modified xsi:type="dcterms:W3CDTF">2025-10-03T05:32:20Z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2024-06-21T00:00:00Z</vt:filetime>
  </property>
  <property fmtid="{D5CDD505-2E9C-101B-9397-08002B2CF9AE}" pid="5" name="Producer">
    <vt:lpwstr>www.ilovepdf.com</vt:lpwstr>
  </property>
</Properties>
</file>