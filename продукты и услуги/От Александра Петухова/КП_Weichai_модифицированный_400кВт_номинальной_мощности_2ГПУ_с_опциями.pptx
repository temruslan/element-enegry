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68" r:id="rId5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/>
  </p:normalViewPr>
  <p:slideViewPr>
    <p:cSldViewPr>
      <p:cViewPr>
        <p:scale>
          <a:sx n="70" d="100"/>
          <a:sy n="70" d="100"/>
        </p:scale>
        <p:origin x="2406" y="-402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5655" y="357886"/>
            <a:ext cx="6520815" cy="6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0942"/>
            <a:ext cx="680085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0768"/>
            <a:ext cx="2418080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2766" y="6569075"/>
            <a:ext cx="2324527" cy="39663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-98676" y="1866295"/>
            <a:ext cx="7735394" cy="10708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КОММЕРЧЕСКОЕ</a:t>
            </a:r>
            <a:r>
              <a:rPr lang="ru-RU" sz="1600" b="1" spc="-3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ПРЕДЛОЖЕНИЕ н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а </a:t>
            </a:r>
            <a:b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2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ГПУ </a:t>
            </a:r>
            <a:r>
              <a:rPr lang="en-US" sz="1600" b="1" spc="-1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/>
              </a:rPr>
              <a:t>Weichai</a:t>
            </a:r>
            <a:r>
              <a:rPr lang="ru-RU" sz="1600" b="1" spc="-10" dirty="0">
                <a:latin typeface="Verdana" panose="020B0604030504040204" pitchFamily="34" charset="0"/>
                <a:ea typeface="Verdana" panose="020B0604030504040204" pitchFamily="34" charset="0"/>
                <a:cs typeface="Microsoft Sans Serif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номинальной 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мощностью</a:t>
            </a:r>
            <a: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400кВт</a:t>
            </a:r>
            <a: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b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открытого</a:t>
            </a:r>
            <a:r>
              <a:rPr lang="ru-RU" sz="1600" b="1" spc="-5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исполнения</a:t>
            </a:r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66675" algn="ctr">
              <a:lnSpc>
                <a:spcPct val="100000"/>
              </a:lnSpc>
              <a:spcBef>
                <a:spcPts val="90"/>
              </a:spcBef>
            </a:pPr>
            <a:r>
              <a:rPr lang="ru-RU" sz="20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2315" y="186093"/>
            <a:ext cx="7661258" cy="7652922"/>
            <a:chOff x="0" y="-1003638"/>
            <a:chExt cx="7661258" cy="6974206"/>
          </a:xfrm>
        </p:grpSpPr>
        <p:sp>
          <p:nvSpPr>
            <p:cNvPr id="7" name="object 7"/>
            <p:cNvSpPr/>
            <p:nvPr/>
          </p:nvSpPr>
          <p:spPr>
            <a:xfrm>
              <a:off x="0" y="1946913"/>
              <a:ext cx="4398010" cy="3643957"/>
            </a:xfrm>
            <a:custGeom>
              <a:avLst/>
              <a:gdLst/>
              <a:ahLst/>
              <a:cxnLst/>
              <a:rect l="l" t="t" r="r" b="b"/>
              <a:pathLst>
                <a:path w="4398010" h="3489960">
                  <a:moveTo>
                    <a:pt x="4398010" y="0"/>
                  </a:moveTo>
                  <a:lnTo>
                    <a:pt x="0" y="0"/>
                  </a:lnTo>
                  <a:lnTo>
                    <a:pt x="0" y="3489578"/>
                  </a:lnTo>
                  <a:lnTo>
                    <a:pt x="4398010" y="3489578"/>
                  </a:lnTo>
                  <a:lnTo>
                    <a:pt x="4398010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1850" y="1605832"/>
              <a:ext cx="3785615" cy="43647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091" y="1525870"/>
              <a:ext cx="3630167" cy="4066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4771" y="-1003638"/>
              <a:ext cx="210311" cy="2072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5250" y="-682616"/>
              <a:ext cx="179831" cy="1767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5251" y="-395849"/>
              <a:ext cx="179831" cy="1798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046" y="2694942"/>
              <a:ext cx="73152" cy="7010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737710" y="247901"/>
            <a:ext cx="2139950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РФ,</a:t>
            </a:r>
            <a:r>
              <a:rPr lang="ru-RU" sz="900" spc="-10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РМЭ,</a:t>
            </a:r>
            <a:r>
              <a:rPr lang="ru-RU" sz="900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Йошкар-Ола, б-р</a:t>
            </a:r>
            <a:r>
              <a:rPr lang="ru-RU" sz="900" spc="-15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Победы,</a:t>
            </a:r>
            <a:r>
              <a:rPr lang="ru-RU" sz="900" spc="-15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д.15</a:t>
            </a:r>
            <a:endParaRPr lang="ru-RU" sz="900" dirty="0">
              <a:latin typeface="+mn-lt"/>
              <a:ea typeface="Segoe UI Emoji" panose="020B0502040204020203" pitchFamily="34" charset="0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50410" y="559047"/>
            <a:ext cx="1175412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900" dirty="0">
                <a:latin typeface="Segoe UI"/>
                <a:cs typeface="Segoe UI"/>
              </a:rPr>
              <a:t>+7(927) 872 98-91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737709" y="836584"/>
            <a:ext cx="1188113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</a:t>
            </a:r>
            <a:r>
              <a:rPr lang="ru-RU"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1</a:t>
            </a: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@elementkb.ru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054" y="3444743"/>
            <a:ext cx="4243882" cy="3746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В</a:t>
            </a:r>
            <a:r>
              <a:rPr sz="14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 dirty="0">
              <a:latin typeface="Verdana"/>
              <a:cs typeface="Verdana"/>
            </a:endParaRPr>
          </a:p>
          <a:p>
            <a:pPr marL="19050" marR="256540">
              <a:lnSpc>
                <a:spcPct val="130000"/>
              </a:lnSpc>
              <a:spcBef>
                <a:spcPts val="695"/>
              </a:spcBef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lang="ru-RU" sz="1000" dirty="0">
              <a:latin typeface="Verdana"/>
              <a:cs typeface="Verdana"/>
            </a:endParaRPr>
          </a:p>
          <a:p>
            <a:pPr marL="19050">
              <a:lnSpc>
                <a:spcPct val="100000"/>
              </a:lnSpc>
              <a:spcBef>
                <a:spcPts val="359"/>
              </a:spcBef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60.000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часов. Без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lang="ru-RU"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 err="1">
                <a:solidFill>
                  <a:srgbClr val="E6E6E6"/>
                </a:solidFill>
                <a:latin typeface="Verdana"/>
                <a:cs typeface="Verdana"/>
              </a:rPr>
              <a:t>дерейта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.</a:t>
            </a:r>
            <a:endParaRPr lang="ru-RU" sz="1000" dirty="0">
              <a:latin typeface="Verdana"/>
              <a:cs typeface="Verdana"/>
            </a:endParaRPr>
          </a:p>
          <a:p>
            <a:pPr marL="19050" marR="923925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lang="ru-RU"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36%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(против 31%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 </a:t>
            </a:r>
            <a:b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</a:b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Дополнительная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система</a:t>
            </a:r>
            <a:r>
              <a:rPr lang="ru-RU"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антидетонации.</a:t>
            </a:r>
          </a:p>
          <a:p>
            <a:pPr marL="19050" marR="923925">
              <a:lnSpc>
                <a:spcPct val="130000"/>
              </a:lnSpc>
            </a:pPr>
            <a:endParaRPr lang="ru-RU" sz="1000" dirty="0">
              <a:latin typeface="Verdana"/>
              <a:cs typeface="Verdana"/>
            </a:endParaRPr>
          </a:p>
          <a:p>
            <a:pPr marL="12700" marR="264160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en-US" sz="1000" dirty="0">
                <a:solidFill>
                  <a:srgbClr val="E6E6E6"/>
                </a:solidFill>
                <a:latin typeface="Verdana"/>
                <a:cs typeface="Verdana"/>
              </a:rPr>
              <a:t>6M33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производителя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lang="ru-RU" sz="1000" spc="-80" dirty="0">
                <a:solidFill>
                  <a:srgbClr val="E6E6E6"/>
                </a:solidFill>
                <a:latin typeface="Verdana"/>
                <a:cs typeface="Verdana"/>
              </a:rPr>
              <a:t> Без вибрации.</a:t>
            </a:r>
            <a:br>
              <a:rPr lang="ru-RU" sz="1000" spc="-80" dirty="0">
                <a:solidFill>
                  <a:srgbClr val="E6E6E6"/>
                </a:solidFill>
                <a:latin typeface="Verdana"/>
                <a:cs typeface="Verdana"/>
              </a:rPr>
            </a:br>
            <a:r>
              <a:rPr lang="ru-RU" sz="1000" spc="-8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т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очностью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 1%,</a:t>
            </a:r>
            <a:r>
              <a:rPr lang="ru-RU"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lang="ru-RU" sz="1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lang="ru-RU" sz="1000" dirty="0">
              <a:latin typeface="Verdana"/>
              <a:cs typeface="Verdana"/>
            </a:endParaRPr>
          </a:p>
          <a:p>
            <a:pPr marL="19050" marR="688975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lang="ru-RU"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lang="ru-RU"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b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</a:br>
            <a:endParaRPr lang="ru-RU" sz="1000" dirty="0">
              <a:latin typeface="Verdana"/>
              <a:cs typeface="Verdana"/>
            </a:endParaRPr>
          </a:p>
          <a:p>
            <a:pPr marL="12700" marR="863600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lang="ru-RU"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lang="ru-RU"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lang="ru-RU"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ГПУ.</a:t>
            </a:r>
            <a:endParaRPr lang="ru-RU" sz="1000" dirty="0">
              <a:latin typeface="Verdana"/>
              <a:cs typeface="Verdana"/>
            </a:endParaRPr>
          </a:p>
        </p:txBody>
      </p:sp>
      <p:pic>
        <p:nvPicPr>
          <p:cNvPr id="32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350" y="-1"/>
            <a:ext cx="1289057" cy="1188907"/>
          </a:xfrm>
          <a:prstGeom prst="rect">
            <a:avLst/>
          </a:prstGeom>
        </p:spPr>
      </p:pic>
      <p:sp>
        <p:nvSpPr>
          <p:cNvPr id="33" name="object 17"/>
          <p:cNvSpPr txBox="1"/>
          <p:nvPr/>
        </p:nvSpPr>
        <p:spPr>
          <a:xfrm>
            <a:off x="5237825" y="98718"/>
            <a:ext cx="2237220" cy="95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860" marR="1290955" indent="-10795">
              <a:lnSpc>
                <a:spcPct val="133800"/>
              </a:lnSpc>
              <a:spcBef>
                <a:spcPts val="100"/>
              </a:spcBef>
            </a:pPr>
            <a:r>
              <a:rPr lang="ru-RU" sz="900" spc="5" dirty="0">
                <a:latin typeface="Segoe UI"/>
                <a:cs typeface="Segoe UI"/>
              </a:rPr>
              <a:t>ОО</a:t>
            </a:r>
            <a:r>
              <a:rPr lang="ru-RU" sz="900" dirty="0">
                <a:latin typeface="Segoe UI"/>
                <a:cs typeface="Segoe UI"/>
              </a:rPr>
              <a:t>О</a:t>
            </a:r>
            <a:r>
              <a:rPr lang="ru-RU" sz="900" spc="-15" dirty="0">
                <a:latin typeface="Segoe UI"/>
                <a:cs typeface="Segoe UI"/>
              </a:rPr>
              <a:t> </a:t>
            </a:r>
            <a:r>
              <a:rPr lang="ru-RU" sz="900" dirty="0">
                <a:latin typeface="Segoe UI"/>
                <a:cs typeface="Segoe UI"/>
              </a:rPr>
              <a:t>«Э</a:t>
            </a:r>
            <a:r>
              <a:rPr lang="ru-RU" sz="900" spc="-10" dirty="0">
                <a:latin typeface="Segoe UI"/>
                <a:cs typeface="Segoe UI"/>
              </a:rPr>
              <a:t>Л</a:t>
            </a:r>
            <a:r>
              <a:rPr lang="ru-RU" sz="900" dirty="0">
                <a:latin typeface="Segoe UI"/>
                <a:cs typeface="Segoe UI"/>
              </a:rPr>
              <a:t>Е</a:t>
            </a:r>
            <a:r>
              <a:rPr lang="ru-RU" sz="900" spc="-5" dirty="0">
                <a:latin typeface="Segoe UI"/>
                <a:cs typeface="Segoe UI"/>
              </a:rPr>
              <a:t>М</a:t>
            </a:r>
            <a:r>
              <a:rPr lang="ru-RU" sz="900" dirty="0">
                <a:latin typeface="Segoe UI"/>
                <a:cs typeface="Segoe UI"/>
              </a:rPr>
              <a:t>ЕН</a:t>
            </a:r>
            <a:r>
              <a:rPr lang="ru-RU" sz="900" spc="-10" dirty="0">
                <a:latin typeface="Segoe UI"/>
                <a:cs typeface="Segoe UI"/>
              </a:rPr>
              <a:t>Т</a:t>
            </a:r>
            <a:r>
              <a:rPr lang="ru-RU" sz="900" dirty="0">
                <a:latin typeface="Segoe UI"/>
                <a:cs typeface="Segoe UI"/>
              </a:rPr>
              <a:t>»  </a:t>
            </a:r>
            <a:r>
              <a:rPr lang="ru-RU" sz="900" spc="-5" dirty="0">
                <a:latin typeface="Segoe UI"/>
                <a:cs typeface="Segoe UI"/>
              </a:rPr>
              <a:t>ИНН</a:t>
            </a:r>
            <a:r>
              <a:rPr lang="ru-RU" sz="900" spc="-40" dirty="0">
                <a:latin typeface="Segoe UI"/>
                <a:cs typeface="Segoe UI"/>
              </a:rPr>
              <a:t> </a:t>
            </a:r>
            <a:r>
              <a:rPr lang="ru-RU" sz="900" spc="-10" dirty="0">
                <a:latin typeface="Segoe UI"/>
                <a:cs typeface="Segoe UI"/>
              </a:rPr>
              <a:t>1218002079</a:t>
            </a:r>
            <a:endParaRPr lang="ru-RU" sz="900" dirty="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320"/>
              </a:spcBef>
            </a:pPr>
            <a:r>
              <a:rPr lang="ru-RU" sz="900" spc="-5" dirty="0">
                <a:latin typeface="Segoe UI"/>
                <a:cs typeface="Segoe UI"/>
              </a:rPr>
              <a:t>КПП</a:t>
            </a:r>
            <a:r>
              <a:rPr lang="ru-RU" sz="900" spc="-45" dirty="0">
                <a:latin typeface="Segoe UI"/>
                <a:cs typeface="Segoe UI"/>
              </a:rPr>
              <a:t> </a:t>
            </a:r>
            <a:r>
              <a:rPr lang="ru-RU" sz="900" spc="-10" dirty="0">
                <a:latin typeface="Segoe UI"/>
                <a:cs typeface="Segoe UI"/>
              </a:rPr>
              <a:t>121801001</a:t>
            </a:r>
            <a:endParaRPr lang="ru-RU" sz="900" dirty="0">
              <a:latin typeface="Segoe UI"/>
              <a:cs typeface="Segoe UI"/>
            </a:endParaRPr>
          </a:p>
          <a:p>
            <a:pPr marL="24130">
              <a:lnSpc>
                <a:spcPct val="100000"/>
              </a:lnSpc>
              <a:spcBef>
                <a:spcPts val="370"/>
              </a:spcBef>
            </a:pPr>
            <a:r>
              <a:rPr lang="ru-RU" sz="900" spc="-5" dirty="0">
                <a:latin typeface="Segoe UI"/>
                <a:cs typeface="Segoe UI"/>
              </a:rPr>
              <a:t>р/с</a:t>
            </a:r>
            <a:r>
              <a:rPr lang="ru-RU" sz="90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40702810070010348277</a:t>
            </a:r>
            <a:r>
              <a:rPr lang="ru-RU" sz="900" spc="2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(</a:t>
            </a:r>
            <a:r>
              <a:rPr lang="ru-RU" sz="900" spc="-5" dirty="0" err="1">
                <a:latin typeface="Segoe UI"/>
                <a:cs typeface="Segoe UI"/>
              </a:rPr>
              <a:t>Модульбанк</a:t>
            </a:r>
            <a:r>
              <a:rPr lang="ru-RU" sz="900" spc="-5" dirty="0">
                <a:latin typeface="Segoe UI"/>
                <a:cs typeface="Segoe UI"/>
              </a:rPr>
              <a:t>)</a:t>
            </a:r>
            <a:endParaRPr lang="ru-RU" sz="900" dirty="0">
              <a:latin typeface="Segoe UI"/>
              <a:cs typeface="Segoe UI"/>
            </a:endParaRPr>
          </a:p>
          <a:p>
            <a:pPr marL="24130">
              <a:lnSpc>
                <a:spcPct val="100000"/>
              </a:lnSpc>
              <a:spcBef>
                <a:spcPts val="465"/>
              </a:spcBef>
            </a:pPr>
            <a:r>
              <a:rPr lang="ru-RU" sz="900" dirty="0">
                <a:latin typeface="Segoe UI"/>
                <a:cs typeface="Segoe UI"/>
              </a:rPr>
              <a:t>БИК</a:t>
            </a:r>
            <a:r>
              <a:rPr lang="ru-RU" sz="900" spc="-4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044525092</a:t>
            </a:r>
            <a:endParaRPr lang="ru-RU" sz="900" dirty="0">
              <a:latin typeface="Segoe UI"/>
              <a:cs typeface="Segoe UI"/>
            </a:endParaRPr>
          </a:p>
        </p:txBody>
      </p:sp>
      <p:sp>
        <p:nvSpPr>
          <p:cNvPr id="31" name="object 18"/>
          <p:cNvSpPr txBox="1"/>
          <p:nvPr/>
        </p:nvSpPr>
        <p:spPr>
          <a:xfrm>
            <a:off x="3315653" y="5266267"/>
            <a:ext cx="943080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900" dirty="0"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pic>
        <p:nvPicPr>
          <p:cNvPr id="3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586" y="6206682"/>
            <a:ext cx="73152" cy="76925"/>
          </a:xfrm>
          <a:prstGeom prst="rect">
            <a:avLst/>
          </a:prstGeom>
        </p:spPr>
      </p:pic>
      <p:pic>
        <p:nvPicPr>
          <p:cNvPr id="36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731" y="5382431"/>
            <a:ext cx="73152" cy="76925"/>
          </a:xfrm>
          <a:prstGeom prst="rect">
            <a:avLst/>
          </a:prstGeom>
        </p:spPr>
      </p:pic>
      <p:pic>
        <p:nvPicPr>
          <p:cNvPr id="37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487" y="6814524"/>
            <a:ext cx="73152" cy="76925"/>
          </a:xfrm>
          <a:prstGeom prst="rect">
            <a:avLst/>
          </a:prstGeom>
        </p:spPr>
      </p:pic>
      <p:sp>
        <p:nvSpPr>
          <p:cNvPr id="38" name="object 9"/>
          <p:cNvSpPr txBox="1"/>
          <p:nvPr/>
        </p:nvSpPr>
        <p:spPr>
          <a:xfrm>
            <a:off x="371054" y="10013021"/>
            <a:ext cx="706567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Данное</a:t>
            </a:r>
            <a:r>
              <a:rPr sz="1100" spc="-7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коммерческое</a:t>
            </a:r>
            <a:r>
              <a:rPr sz="1100" spc="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предложение</a:t>
            </a:r>
            <a:r>
              <a:rPr sz="1100" spc="-9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не</a:t>
            </a:r>
            <a:r>
              <a:rPr sz="1100" spc="-6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является</a:t>
            </a:r>
            <a:r>
              <a:rPr sz="1100" spc="-4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(в</a:t>
            </a:r>
            <a:r>
              <a:rPr sz="1100" spc="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соответствии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</a:t>
            </a:r>
            <a:r>
              <a:rPr sz="1100" spc="-2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ст.435</a:t>
            </a:r>
            <a:r>
              <a:rPr sz="1100" spc="-5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ГК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РФ),</a:t>
            </a:r>
            <a:r>
              <a:rPr sz="1100" spc="-3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50" dirty="0">
                <a:solidFill>
                  <a:srgbClr val="46494D"/>
                </a:solidFill>
                <a:latin typeface="Segoe UI"/>
                <a:cs typeface="Segoe UI"/>
              </a:rPr>
              <a:t>и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не</a:t>
            </a:r>
            <a:r>
              <a:rPr sz="1100" spc="-6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влечет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за</a:t>
            </a:r>
            <a:r>
              <a:rPr sz="1100" spc="-3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собой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ООО</a:t>
            </a:r>
            <a:r>
              <a:rPr sz="1100" spc="-6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«ЭЛЕМЕНТ»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по</a:t>
            </a:r>
            <a:r>
              <a:rPr sz="1100" spc="-3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заключению</a:t>
            </a:r>
            <a:r>
              <a:rPr sz="1100" spc="-4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условиях настоящего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предложения</a:t>
            </a:r>
            <a:endParaRPr sz="11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505" y="6447771"/>
            <a:ext cx="2496295" cy="3994760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955654"/>
              </p:ext>
            </p:extLst>
          </p:nvPr>
        </p:nvGraphicFramePr>
        <p:xfrm>
          <a:off x="120650" y="105642"/>
          <a:ext cx="7315200" cy="8044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Количество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R="90805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4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800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5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84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350</a:t>
                      </a:r>
                      <a:r>
                        <a:rPr lang="ru-RU" sz="1200" spc="-25" baseline="0" dirty="0">
                          <a:latin typeface="Microsoft Sans Serif"/>
                          <a:cs typeface="Microsoft Sans Serif"/>
                        </a:rPr>
                        <a:t> (вместо 320)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Сумма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276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236538" marR="179705" indent="-150813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200" b="0" spc="-10" dirty="0">
                          <a:latin typeface="Microsoft Sans Serif"/>
                          <a:cs typeface="Microsoft Sans Serif"/>
                        </a:rPr>
                        <a:t>6M33D450E310NG</a:t>
                      </a:r>
                      <a:endParaRPr lang="en-US" sz="12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280670" indent="-85725" algn="r">
                        <a:lnSpc>
                          <a:spcPct val="100000"/>
                        </a:lnSpc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522">
                <a:tc>
                  <a:txBody>
                    <a:bodyPr/>
                    <a:lstStyle/>
                    <a:p>
                      <a:pPr marL="50165" marR="1428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lang="ru-RU" sz="1200" b="0" spc="-2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400</a:t>
                      </a:r>
                      <a:r>
                        <a:rPr lang="ru-RU" sz="1200" b="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Квт/380В</a:t>
                      </a:r>
                      <a:r>
                        <a:rPr lang="ru-RU" sz="1200" b="0" spc="3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lang="ru-RU" sz="1200" b="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200" b="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en-US" sz="1200" b="0" spc="-10" dirty="0">
                          <a:latin typeface="Microsoft Sans Serif"/>
                          <a:cs typeface="Microsoft Sans Serif"/>
                        </a:rPr>
                        <a:t>, </a:t>
                      </a:r>
                      <a:br>
                        <a:rPr lang="ru-RU" sz="1200" b="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lang="ru-RU" sz="1200" b="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200" b="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lang="ru-RU" sz="12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9 800 000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19 600 000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608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Индивидуальные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датчики</a:t>
                      </a:r>
                      <a:r>
                        <a:rPr lang="ru-RU" sz="1200" spc="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2234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</a:t>
                      </a:r>
                      <a:r>
                        <a:rPr sz="1200" spc="-1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sz="1200" spc="-3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1996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738144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70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Электроподогреватель</a:t>
                      </a:r>
                      <a:r>
                        <a:rPr lang="ru-RU" sz="1200" spc="-1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1285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852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6020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1440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396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101350"/>
                  </a:ext>
                </a:extLst>
              </a:tr>
              <a:tr h="789988">
                <a:tc gridSpan="4">
                  <a:txBody>
                    <a:bodyPr/>
                    <a:lstStyle/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90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дней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	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Итого,</a:t>
                      </a:r>
                      <a:r>
                        <a:rPr sz="12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с 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1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19 600 000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20650" y="8778875"/>
            <a:ext cx="70686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*Стоимость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самой ГПУ составляет 840 000 юаней по курсу на день оплаты.</a:t>
            </a:r>
            <a:b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</a:b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Все опции полностью российского производства - цены в рублях фиксированы</a:t>
            </a:r>
            <a:endParaRPr lang="ru-RU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402299"/>
              </p:ext>
            </p:extLst>
          </p:nvPr>
        </p:nvGraphicFramePr>
        <p:xfrm>
          <a:off x="120650" y="625475"/>
          <a:ext cx="7315199" cy="855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13">
                  <a:extLst>
                    <a:ext uri="{9D8B030D-6E8A-4147-A177-3AD203B41FA5}">
                      <a16:colId xmlns:a16="http://schemas.microsoft.com/office/drawing/2014/main" val="358587916"/>
                    </a:ext>
                  </a:extLst>
                </a:gridCol>
                <a:gridCol w="1062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815">
                <a:tc gridSpan="4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ГПУ-400кВт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603559">
                <a:tc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Название опций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Сумма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844694"/>
                  </a:ext>
                </a:extLst>
              </a:tr>
              <a:tr h="60355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2 700 000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5 400</a:t>
                      </a:r>
                      <a:r>
                        <a:rPr lang="ru-RU" sz="120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000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446451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Модуль рекуперации тепла выхлопных газов, 250кВт с автоматикой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1 500 000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3 000 000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483226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1 200 000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2 400 000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367601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350 000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384499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интеркулера и масла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350 000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700</a:t>
                      </a:r>
                      <a:r>
                        <a:rPr lang="ru-RU" sz="120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000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4328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Автоматическая</a:t>
                      </a:r>
                      <a:r>
                        <a:rPr sz="1200" spc="-6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долива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м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асл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 с баком на 20 л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10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000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200 000</a:t>
                      </a:r>
                    </a:p>
                  </a:txBody>
                  <a:tcPr marL="0" marR="0" marT="1409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90836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40 000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80</a:t>
                      </a:r>
                      <a:r>
                        <a:rPr lang="ru-RU" sz="120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000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37935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1 800</a:t>
                      </a:r>
                      <a:r>
                        <a:rPr lang="ru-RU" sz="120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402421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Delixi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500 000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35957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Свертихий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300 000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600 000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35845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36014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50982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Сверхтихий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439664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2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200 000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371762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331574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97394">
                <a:tc gridSpan="3">
                  <a:txBody>
                    <a:bodyPr/>
                    <a:lstStyle/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lang="ru-RU"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дней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	</a:t>
                      </a:r>
                    </a:p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Итого,</a:t>
                      </a:r>
                      <a:r>
                        <a:rPr lang="ru-RU" sz="12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50" dirty="0">
                          <a:latin typeface="Microsoft Sans Serif"/>
                          <a:cs typeface="Microsoft Sans Serif"/>
                        </a:rPr>
                        <a:t>с </a:t>
                      </a:r>
                      <a:r>
                        <a:rPr lang="ru-RU" sz="1200" spc="-4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endParaRPr lang="ru-RU" dirty="0"/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43902" y="9540875"/>
            <a:ext cx="70686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*Стоимость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самой ГПУ составляет 840 </a:t>
            </a:r>
            <a:r>
              <a:rPr lang="ru-RU" sz="1400" dirty="0">
                <a:solidFill>
                  <a:srgbClr val="000000"/>
                </a:solidFill>
                <a:latin typeface="Roboto"/>
              </a:rPr>
              <a:t>00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0 юаней по курсу на день оплаты.</a:t>
            </a:r>
            <a:b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</a:b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Все опции полностью российского производства - цены в рублях фиксированы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02528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505" y="6447771"/>
            <a:ext cx="2496295" cy="39947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9250" y="244475"/>
            <a:ext cx="7086600" cy="8341386"/>
          </a:xfrm>
          <a:prstGeom prst="rect">
            <a:avLst/>
          </a:prstGeom>
        </p:spPr>
        <p:txBody>
          <a:bodyPr vert="horz" wrap="square" lIns="0" tIns="71755" rIns="0" bIns="0" rtlCol="0" anchor="ctr">
            <a:spAutoFit/>
          </a:bodyPr>
          <a:lstStyle/>
          <a:p>
            <a:pPr marL="180975" marR="544830" algn="ctr">
              <a:spcBef>
                <a:spcPts val="565"/>
              </a:spcBef>
            </a:pPr>
            <a:r>
              <a:rPr sz="2000" spc="-110" dirty="0">
                <a:latin typeface="Verdana"/>
                <a:cs typeface="Verdana"/>
              </a:rPr>
              <a:t>Вы</a:t>
            </a:r>
            <a:r>
              <a:rPr sz="2000" spc="-32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нашли</a:t>
            </a:r>
            <a:r>
              <a:rPr sz="2000" spc="-325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правильную</a:t>
            </a:r>
            <a:r>
              <a:rPr sz="2000" spc="-335" dirty="0">
                <a:latin typeface="Verdana"/>
                <a:cs typeface="Verdana"/>
              </a:rPr>
              <a:t> </a:t>
            </a:r>
            <a:r>
              <a:rPr sz="2000" spc="-170" dirty="0">
                <a:latin typeface="Verdana"/>
                <a:cs typeface="Verdana"/>
              </a:rPr>
              <a:t>компанию</a:t>
            </a:r>
            <a:r>
              <a:rPr sz="2000" spc="-330" dirty="0">
                <a:latin typeface="Verdana"/>
                <a:cs typeface="Verdana"/>
              </a:rPr>
              <a:t> </a:t>
            </a:r>
            <a:r>
              <a:rPr sz="2000" spc="-120" dirty="0" err="1">
                <a:latin typeface="Verdana"/>
                <a:cs typeface="Verdana"/>
              </a:rPr>
              <a:t>для</a:t>
            </a:r>
            <a:r>
              <a:rPr sz="2000" spc="-330" dirty="0">
                <a:latin typeface="Verdana"/>
                <a:cs typeface="Verdana"/>
              </a:rPr>
              <a:t> </a:t>
            </a:r>
            <a:r>
              <a:rPr sz="2000" spc="-180" dirty="0">
                <a:latin typeface="Verdana"/>
                <a:cs typeface="Verdana"/>
              </a:rPr>
              <a:t>п</a:t>
            </a:r>
            <a:r>
              <a:rPr lang="ru-RU" sz="2000" spc="-180" dirty="0" err="1">
                <a:latin typeface="Verdana"/>
                <a:cs typeface="Verdana"/>
              </a:rPr>
              <a:t>окупки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ГПУ</a:t>
            </a:r>
            <a:r>
              <a:rPr sz="2000" spc="-60" dirty="0">
                <a:latin typeface="Verdana"/>
                <a:cs typeface="Verdana"/>
              </a:rPr>
              <a:t>!</a:t>
            </a:r>
            <a:endParaRPr sz="2000" dirty="0">
              <a:latin typeface="Verdana"/>
              <a:cs typeface="Verdana"/>
            </a:endParaRPr>
          </a:p>
          <a:p>
            <a:pPr marR="196215" algn="ctr">
              <a:spcBef>
                <a:spcPts val="1455"/>
              </a:spcBef>
            </a:pPr>
            <a:r>
              <a:rPr sz="2000" spc="-105" dirty="0">
                <a:latin typeface="Verdana"/>
                <a:cs typeface="Verdana"/>
              </a:rPr>
              <a:t>То</a:t>
            </a:r>
            <a:r>
              <a:rPr sz="2000" spc="-350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самое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70" dirty="0">
                <a:latin typeface="Verdana"/>
                <a:cs typeface="Verdana"/>
              </a:rPr>
              <a:t>чувство,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когда</a:t>
            </a:r>
            <a:r>
              <a:rPr sz="2000" spc="-37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ты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60" dirty="0">
                <a:latin typeface="Verdana"/>
                <a:cs typeface="Verdana"/>
              </a:rPr>
              <a:t>круче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50" dirty="0">
                <a:latin typeface="Verdana"/>
                <a:cs typeface="Verdana"/>
              </a:rPr>
              <a:t>всех</a:t>
            </a:r>
            <a:r>
              <a:rPr sz="2000" spc="-3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и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у</a:t>
            </a:r>
            <a:r>
              <a:rPr sz="2000" spc="-335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тебя</a:t>
            </a:r>
            <a:r>
              <a:rPr sz="2000" spc="-3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с</a:t>
            </a:r>
            <a:r>
              <a:rPr sz="2000" spc="-340" dirty="0">
                <a:latin typeface="Verdana"/>
                <a:cs typeface="Verdana"/>
              </a:rPr>
              <a:t> </a:t>
            </a:r>
            <a:r>
              <a:rPr sz="2000" spc="-145" dirty="0">
                <a:latin typeface="Verdana"/>
                <a:cs typeface="Verdana"/>
              </a:rPr>
              <a:t>Нами</a:t>
            </a:r>
            <a:r>
              <a:rPr sz="2000" spc="-3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все</a:t>
            </a:r>
            <a:endParaRPr sz="2000" dirty="0">
              <a:latin typeface="Verdana"/>
              <a:cs typeface="Verdana"/>
            </a:endParaRPr>
          </a:p>
          <a:p>
            <a:pPr marR="212725" algn="ctr"/>
            <a:r>
              <a:rPr sz="2000" spc="-75" dirty="0">
                <a:latin typeface="Verdana"/>
                <a:cs typeface="Verdana"/>
              </a:rPr>
              <a:t>получится!</a:t>
            </a:r>
            <a:endParaRPr sz="2000" dirty="0">
              <a:latin typeface="Verdana"/>
              <a:cs typeface="Verdana"/>
            </a:endParaRPr>
          </a:p>
          <a:p>
            <a:pPr marR="210820" algn="ctr">
              <a:spcBef>
                <a:spcPts val="1445"/>
              </a:spcBef>
            </a:pPr>
            <a:r>
              <a:rPr sz="2000" dirty="0">
                <a:latin typeface="Verdana"/>
                <a:cs typeface="Verdana"/>
              </a:rPr>
              <a:t>И</a:t>
            </a:r>
            <a:r>
              <a:rPr sz="2000" spc="-380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вот</a:t>
            </a:r>
            <a:r>
              <a:rPr sz="2000" spc="-3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почему:</a:t>
            </a:r>
            <a:endParaRPr sz="2000" dirty="0">
              <a:latin typeface="Verdana"/>
              <a:cs typeface="Verdana"/>
            </a:endParaRPr>
          </a:p>
          <a:p>
            <a:pPr>
              <a:spcBef>
                <a:spcPts val="1530"/>
              </a:spcBef>
            </a:pPr>
            <a:endParaRPr sz="2000" dirty="0">
              <a:latin typeface="Verdana"/>
              <a:cs typeface="Verdana"/>
            </a:endParaRPr>
          </a:p>
          <a:p>
            <a:pPr marL="12700" algn="ctr"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5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компании</a:t>
            </a:r>
            <a:r>
              <a:rPr sz="1600" b="1" spc="-7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Элемент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,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под реалии российского рынка</a:t>
            </a:r>
            <a:endParaRPr sz="1600" dirty="0">
              <a:latin typeface="Verdana"/>
              <a:cs typeface="Verdana"/>
            </a:endParaRPr>
          </a:p>
          <a:p>
            <a:pPr>
              <a:spcBef>
                <a:spcPts val="395"/>
              </a:spcBef>
            </a:pPr>
            <a:endParaRPr lang="ru-RU" sz="1600" dirty="0">
              <a:latin typeface="Verdana"/>
              <a:cs typeface="Verdana"/>
            </a:endParaRPr>
          </a:p>
          <a:p>
            <a:pPr>
              <a:spcBef>
                <a:spcPts val="395"/>
              </a:spcBef>
            </a:pPr>
            <a:endParaRPr sz="1600" dirty="0">
              <a:latin typeface="Verdana"/>
              <a:cs typeface="Verdana"/>
            </a:endParaRPr>
          </a:p>
          <a:p>
            <a:pPr marL="509905" marR="696595" indent="-287020">
              <a:buFont typeface="Wingdings"/>
              <a:buChar char=""/>
              <a:tabLst>
                <a:tab pos="509905" algn="l"/>
              </a:tabLst>
            </a:pPr>
            <a:r>
              <a:rPr lang="ru-RU"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lang="ru-RU" sz="1600" dirty="0"/>
              <a:t> базовую комплектацию входят:</a:t>
            </a:r>
          </a:p>
          <a:p>
            <a:pPr marL="285750" marR="696595" indent="-285750">
              <a:buFont typeface="Wingdings"/>
              <a:buChar char=""/>
              <a:tabLst>
                <a:tab pos="177800" algn="l"/>
              </a:tabLst>
            </a:pPr>
            <a:endParaRPr lang="ru-RU" sz="1600" dirty="0"/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ГПУ на 400кВт, радиатор охлаждения вдвое большей площадью, с возможностью выноса и двумя электровентиляторами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Электрический насос охлаждающей жидкости, вместо механической помпы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Полное отсутствие ремней и роликов, что сокращает стоимость обслуживания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Использование постоянного магнита в альтернаторе, позволяющее добиваться точности выработки электроэнергии в 1%, против 10% у стандартных моделей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Увеличенная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постоянная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мощность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– 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35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0кВт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(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против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базовых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32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0кВт),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без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уменьшения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ресурса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двигателя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Работа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ГПУ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без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перегрева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в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летний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период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за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счет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электронасоса повышенной производительности 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и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вдвое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большего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радиатора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охлаждения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двигателя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22885">
              <a:spcBef>
                <a:spcPts val="5"/>
              </a:spcBef>
              <a:tabLst>
                <a:tab pos="509270" algn="l"/>
              </a:tabLst>
            </a:pP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628593" y="9027526"/>
            <a:ext cx="301205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8"/>
          <p:cNvSpPr txBox="1"/>
          <p:nvPr/>
        </p:nvSpPr>
        <p:spPr>
          <a:xfrm>
            <a:off x="634943" y="9394660"/>
            <a:ext cx="2071370" cy="286617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70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%	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74A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8"/>
          <p:cNvSpPr txBox="1"/>
          <p:nvPr/>
        </p:nvSpPr>
        <p:spPr>
          <a:xfrm>
            <a:off x="628593" y="9766192"/>
            <a:ext cx="2071370" cy="286617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2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0%	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74A4D"/>
                </a:solidFill>
                <a:latin typeface="Verdana"/>
                <a:cs typeface="Verdana"/>
              </a:rPr>
              <a:t> </a:t>
            </a:r>
            <a:r>
              <a:rPr lang="ru-RU" sz="1200" dirty="0">
                <a:solidFill>
                  <a:srgbClr val="474A4D"/>
                </a:solidFill>
                <a:latin typeface="Verdana"/>
                <a:cs typeface="Verdana"/>
              </a:rPr>
              <a:t>через 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34943" y="10159615"/>
            <a:ext cx="6801512" cy="471283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1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0%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lang="ru-RU" sz="1200" dirty="0">
                <a:solidFill>
                  <a:srgbClr val="4D4D4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позднее 3 (Трех) рабочих дней после направления Покупателю уведомления о готовности оборудования к отгрузке.</a:t>
            </a:r>
            <a:endParaRPr sz="1000" dirty="0">
              <a:solidFill>
                <a:srgbClr val="4D4D4D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1404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</TotalTime>
  <Words>600</Words>
  <Application>Microsoft Office PowerPoint</Application>
  <PresentationFormat>Произвольный</PresentationFormat>
  <Paragraphs>164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5" baseType="lpstr">
      <vt:lpstr>Arial</vt:lpstr>
      <vt:lpstr>Calibri</vt:lpstr>
      <vt:lpstr>Microsoft Sans Serif</vt:lpstr>
      <vt:lpstr>Roboto</vt:lpstr>
      <vt:lpstr>Segoe UI</vt:lpstr>
      <vt:lpstr>Segoe UI Emoji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pav</cp:lastModifiedBy>
  <cp:revision>90</cp:revision>
  <dcterms:created xsi:type="dcterms:W3CDTF">2024-06-21T09:36:14Z</dcterms:created>
  <dcterms:modified xsi:type="dcterms:W3CDTF">2025-10-01T07:27:17Z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2024-06-21T00:00:00Z</vt:filetime>
  </property>
  <property fmtid="{D5CDD505-2E9C-101B-9397-08002B2CF9AE}" pid="5" name="Producer">
    <vt:lpwstr>www.ilovepdf.com</vt:lpwstr>
  </property>
</Properties>
</file>