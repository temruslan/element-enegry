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556500" cy="10718800"/>
  <p:notesSz cx="7556500" cy="10718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1685" y="-20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22828"/>
            <a:ext cx="6423025" cy="22509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6002528"/>
            <a:ext cx="5289550" cy="267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5324"/>
            <a:ext cx="3287077" cy="70744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5324"/>
            <a:ext cx="3287077" cy="70744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92679" y="6449567"/>
            <a:ext cx="2496312" cy="39928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8752"/>
            <a:ext cx="6800850" cy="1715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5324"/>
            <a:ext cx="6800850" cy="70744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68484"/>
            <a:ext cx="2418080" cy="535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68484"/>
            <a:ext cx="1737995" cy="535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68484"/>
            <a:ext cx="1737995" cy="535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mailto:sales@elementkb.r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62655"/>
            <a:ext cx="7556500" cy="7574280"/>
            <a:chOff x="0" y="2962655"/>
            <a:chExt cx="7556500" cy="7574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1655" y="6568439"/>
              <a:ext cx="2325623" cy="39684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425951"/>
              <a:ext cx="4394835" cy="3996054"/>
            </a:xfrm>
            <a:custGeom>
              <a:avLst/>
              <a:gdLst/>
              <a:ahLst/>
              <a:cxnLst/>
              <a:rect l="l" t="t" r="r" b="b"/>
              <a:pathLst>
                <a:path w="4394835" h="3996054">
                  <a:moveTo>
                    <a:pt x="4394708" y="0"/>
                  </a:moveTo>
                  <a:lnTo>
                    <a:pt x="0" y="0"/>
                  </a:lnTo>
                  <a:lnTo>
                    <a:pt x="0" y="3995547"/>
                  </a:lnTo>
                  <a:lnTo>
                    <a:pt x="4394708" y="3995547"/>
                  </a:lnTo>
                  <a:lnTo>
                    <a:pt x="4394708" y="0"/>
                  </a:lnTo>
                  <a:close/>
                </a:path>
              </a:pathLst>
            </a:custGeom>
            <a:solidFill>
              <a:srgbClr val="1F2A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0" y="3051047"/>
              <a:ext cx="3745992" cy="47884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9455" y="2962655"/>
              <a:ext cx="3526536" cy="44622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447" y="4245863"/>
              <a:ext cx="73152" cy="762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15900" y="1859025"/>
            <a:ext cx="7130415" cy="2132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КОММЕРЧЕСКОЕ</a:t>
            </a:r>
            <a:r>
              <a:rPr sz="1600" b="1" spc="-28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ПРЕДЛОЖЕНИЕ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на</a:t>
            </a:r>
            <a:r>
              <a:rPr sz="1600" b="1" spc="1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2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модуля</a:t>
            </a:r>
            <a:r>
              <a:rPr sz="1600" b="1" spc="-7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по</a:t>
            </a:r>
            <a:r>
              <a:rPr sz="1600" b="1" spc="-4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15</a:t>
            </a:r>
            <a:r>
              <a:rPr sz="1600" b="1" spc="-4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ГПУ</a:t>
            </a:r>
            <a:r>
              <a:rPr sz="1600" b="1" spc="-17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30" dirty="0">
                <a:latin typeface="Verdana"/>
                <a:cs typeface="Verdana"/>
              </a:rPr>
              <a:t>Weichai-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250(230)кВт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Суммарной</a:t>
            </a:r>
            <a:r>
              <a:rPr sz="1600" b="1" spc="-9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постоянной</a:t>
            </a:r>
            <a:r>
              <a:rPr sz="1600" b="1" spc="-4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мощностью</a:t>
            </a:r>
            <a:r>
              <a:rPr sz="1600" b="1" spc="-7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6</a:t>
            </a:r>
            <a:r>
              <a:rPr sz="1600" b="1" spc="-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900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кВт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spc="-25" dirty="0">
                <a:latin typeface="Verdana"/>
                <a:cs typeface="Verdana"/>
              </a:rPr>
              <a:t>(вместо</a:t>
            </a:r>
            <a:r>
              <a:rPr sz="1600" b="1" spc="-10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6000)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Проект,</a:t>
            </a:r>
            <a:r>
              <a:rPr sz="1600" b="1" spc="-10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установка</a:t>
            </a:r>
            <a:r>
              <a:rPr sz="1600" b="1" spc="-12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и</a:t>
            </a:r>
            <a:r>
              <a:rPr sz="1600" b="1" spc="-4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строительство</a:t>
            </a:r>
            <a:r>
              <a:rPr sz="1600" b="1" spc="-10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под</a:t>
            </a:r>
            <a:r>
              <a:rPr sz="1600" b="1" spc="-4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1C2A45"/>
                </a:solidFill>
                <a:latin typeface="Verdana"/>
                <a:cs typeface="Verdana"/>
              </a:rPr>
              <a:t>ключ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600">
              <a:latin typeface="Verdana"/>
              <a:cs typeface="Verdana"/>
            </a:endParaRPr>
          </a:p>
          <a:p>
            <a:pPr marL="153670">
              <a:lnSpc>
                <a:spcPct val="100000"/>
              </a:lnSpc>
            </a:pPr>
            <a:r>
              <a:rPr sz="1400" b="1" spc="-25" dirty="0">
                <a:solidFill>
                  <a:srgbClr val="FFFFFF"/>
                </a:solidFill>
                <a:latin typeface="Verdana"/>
                <a:cs typeface="Verdana"/>
              </a:rPr>
              <a:t>СПЕЦИАЛЬНОЕ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ГПУ</a:t>
            </a:r>
            <a:r>
              <a:rPr sz="1400" b="1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30" dirty="0">
                <a:solidFill>
                  <a:srgbClr val="FFFFFF"/>
                </a:solidFill>
                <a:latin typeface="Verdana"/>
                <a:cs typeface="Verdana"/>
              </a:rPr>
              <a:t>ДЛЯ</a:t>
            </a:r>
            <a:r>
              <a:rPr sz="1400" b="1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30" dirty="0">
                <a:solidFill>
                  <a:srgbClr val="FFFFFF"/>
                </a:solidFill>
                <a:latin typeface="Verdana"/>
                <a:cs typeface="Verdana"/>
              </a:rPr>
              <a:t>РАБОТЫ</a:t>
            </a:r>
            <a:r>
              <a:rPr sz="1400" b="1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Verdana"/>
                <a:cs typeface="Verdana"/>
              </a:rPr>
              <a:t>В</a:t>
            </a:r>
            <a:endParaRPr sz="1400">
              <a:latin typeface="Verdana"/>
              <a:cs typeface="Verdana"/>
            </a:endParaRPr>
          </a:p>
          <a:p>
            <a:pPr marL="153670">
              <a:lnSpc>
                <a:spcPct val="100000"/>
              </a:lnSpc>
              <a:spcBef>
                <a:spcPts val="695"/>
              </a:spcBef>
            </a:pP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РЕЖИМЕ</a:t>
            </a:r>
            <a:r>
              <a:rPr sz="1400" b="1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24/7/365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10967" y="228599"/>
            <a:ext cx="134112" cy="1615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3160" y="560831"/>
            <a:ext cx="149351" cy="1615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23160" y="896111"/>
            <a:ext cx="149351" cy="12192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764917" y="225043"/>
            <a:ext cx="19259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latin typeface="Calibri"/>
                <a:cs typeface="Calibri"/>
              </a:rPr>
              <a:t>РФ,</a:t>
            </a:r>
            <a:r>
              <a:rPr sz="900" spc="-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РМЭ,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Йошкар-Ола,</a:t>
            </a:r>
            <a:r>
              <a:rPr sz="900" spc="-10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б-р</a:t>
            </a:r>
            <a:r>
              <a:rPr sz="900" spc="-6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Победы,д.15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1582" y="552957"/>
            <a:ext cx="93408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latin typeface="Segoe UI"/>
                <a:cs typeface="Segoe UI"/>
              </a:rPr>
              <a:t>+7(927)</a:t>
            </a:r>
            <a:r>
              <a:rPr sz="900" spc="-45" dirty="0">
                <a:latin typeface="Segoe UI"/>
                <a:cs typeface="Segoe UI"/>
              </a:rPr>
              <a:t> </a:t>
            </a:r>
            <a:r>
              <a:rPr sz="900" dirty="0">
                <a:latin typeface="Segoe UI"/>
                <a:cs typeface="Segoe UI"/>
              </a:rPr>
              <a:t>872</a:t>
            </a:r>
            <a:r>
              <a:rPr sz="900" spc="5" dirty="0">
                <a:latin typeface="Segoe UI"/>
                <a:cs typeface="Segoe UI"/>
              </a:rPr>
              <a:t> </a:t>
            </a:r>
            <a:r>
              <a:rPr sz="900" spc="-45" dirty="0">
                <a:latin typeface="Segoe UI"/>
                <a:cs typeface="Segoe UI"/>
              </a:rPr>
              <a:t>98-</a:t>
            </a:r>
            <a:r>
              <a:rPr sz="900" spc="-25" dirty="0">
                <a:latin typeface="Segoe UI"/>
                <a:cs typeface="Segoe UI"/>
              </a:rPr>
              <a:t>91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9008" y="843533"/>
            <a:ext cx="109093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sales1@elementkb.ru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7327" y="4142308"/>
            <a:ext cx="3512820" cy="2812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 marR="5080">
              <a:lnSpc>
                <a:spcPct val="134000"/>
              </a:lnSpc>
              <a:spcBef>
                <a:spcPts val="95"/>
              </a:spcBef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Ресурсные</a:t>
            </a:r>
            <a:r>
              <a:rPr sz="1000" spc="-1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газопоршневые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установки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выработки электроэнергии</a:t>
            </a:r>
            <a:r>
              <a:rPr sz="1000" spc="-1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режиме</a:t>
            </a:r>
            <a:r>
              <a:rPr sz="1000" spc="-114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24/7/365.</a:t>
            </a:r>
            <a:endParaRPr sz="1000">
              <a:latin typeface="Verdana"/>
              <a:cs typeface="Verdana"/>
            </a:endParaRPr>
          </a:p>
          <a:p>
            <a:pPr marL="21590" marR="70485">
              <a:lnSpc>
                <a:spcPct val="113999"/>
              </a:lnSpc>
              <a:spcBef>
                <a:spcPts val="170"/>
              </a:spcBef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Моторесурс</a:t>
            </a:r>
            <a:r>
              <a:rPr sz="1000" spc="-9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36.000</a:t>
            </a:r>
            <a:r>
              <a:rPr sz="1000" spc="-19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часов.</a:t>
            </a:r>
            <a:r>
              <a:rPr sz="1000" spc="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Без</a:t>
            </a:r>
            <a:r>
              <a:rPr sz="1000" spc="-1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перегрева</a:t>
            </a:r>
            <a:r>
              <a:rPr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и</a:t>
            </a:r>
            <a:r>
              <a:rPr sz="1000" spc="-1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дерейта.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114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ГПУ</a:t>
            </a:r>
            <a:r>
              <a:rPr sz="1000" spc="-10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–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33%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(против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28%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стандарте).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000">
              <a:latin typeface="Verdana"/>
              <a:cs typeface="Verdana"/>
            </a:endParaRPr>
          </a:p>
          <a:p>
            <a:pPr marL="12700" marR="168275">
              <a:lnSpc>
                <a:spcPct val="130000"/>
              </a:lnSpc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Двигатели</a:t>
            </a:r>
            <a:r>
              <a:rPr sz="1000" spc="-2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WEICHAI</a:t>
            </a:r>
            <a:r>
              <a:rPr sz="1000" spc="-1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EFEFEF"/>
                </a:solidFill>
                <a:latin typeface="Microsoft Sans Serif"/>
                <a:cs typeface="Microsoft Sans Serif"/>
              </a:rPr>
              <a:t>WP13</a:t>
            </a:r>
            <a:r>
              <a:rPr sz="1000" spc="-25" dirty="0">
                <a:solidFill>
                  <a:srgbClr val="E6E6E6"/>
                </a:solidFill>
                <a:latin typeface="Verdana"/>
                <a:cs typeface="Verdana"/>
              </a:rPr>
              <a:t>,</a:t>
            </a:r>
            <a:r>
              <a:rPr sz="1000" spc="-1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ведущего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мирового производителя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(премиальный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Китай).</a:t>
            </a:r>
            <a:r>
              <a:rPr sz="1000" spc="-2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точностью электроэнергии</a:t>
            </a:r>
            <a:r>
              <a:rPr sz="1000" spc="-10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1%,</a:t>
            </a:r>
            <a:r>
              <a:rPr sz="1000" spc="-114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против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10%</a:t>
            </a:r>
            <a:r>
              <a:rPr sz="1000" spc="-1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000">
              <a:latin typeface="Verdana"/>
              <a:cs typeface="Verdana"/>
            </a:endParaRPr>
          </a:p>
          <a:p>
            <a:pPr marL="21590">
              <a:lnSpc>
                <a:spcPct val="10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Альтернатор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Element</a:t>
            </a:r>
            <a:r>
              <a:rPr sz="1000" spc="-10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9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1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93%</a:t>
            </a:r>
            <a:r>
              <a:rPr sz="1000" spc="-1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-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специально</a:t>
            </a:r>
            <a:endParaRPr sz="1000">
              <a:latin typeface="Verdana"/>
              <a:cs typeface="Verdana"/>
            </a:endParaRPr>
          </a:p>
          <a:p>
            <a:pPr marL="21590">
              <a:lnSpc>
                <a:spcPct val="100000"/>
              </a:lnSpc>
              <a:spcBef>
                <a:spcPts val="365"/>
              </a:spcBef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sz="1000" spc="-1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нагруженных</a:t>
            </a:r>
            <a:r>
              <a:rPr sz="1000" spc="-1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000">
              <a:latin typeface="Verdana"/>
              <a:cs typeface="Verdana"/>
            </a:endParaRPr>
          </a:p>
          <a:p>
            <a:pPr marL="12700" marR="604520">
              <a:lnSpc>
                <a:spcPct val="132000"/>
              </a:lnSpc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Контроллер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SmartGen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(«умныйгенератор») специально 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4320" y="60959"/>
            <a:ext cx="993648" cy="92049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241416" y="48311"/>
            <a:ext cx="2173605" cy="1013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" marR="1249045" indent="-12700">
              <a:lnSpc>
                <a:spcPct val="135600"/>
              </a:lnSpc>
              <a:spcBef>
                <a:spcPts val="95"/>
              </a:spcBef>
            </a:pPr>
            <a:r>
              <a:rPr sz="900" dirty="0">
                <a:latin typeface="Segoe UI"/>
                <a:cs typeface="Segoe UI"/>
              </a:rPr>
              <a:t>ООО</a:t>
            </a:r>
            <a:r>
              <a:rPr sz="900" spc="-6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«ЭЛЕМЕНТ» </a:t>
            </a:r>
            <a:r>
              <a:rPr sz="900" dirty="0">
                <a:latin typeface="Segoe UI"/>
                <a:cs typeface="Segoe UI"/>
              </a:rPr>
              <a:t>ИНН</a:t>
            </a:r>
            <a:r>
              <a:rPr sz="900" spc="-10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1218002079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695"/>
              </a:spcBef>
            </a:pPr>
            <a:r>
              <a:rPr sz="900" dirty="0">
                <a:latin typeface="Segoe UI"/>
                <a:cs typeface="Segoe UI"/>
              </a:rPr>
              <a:t>КПП</a:t>
            </a:r>
            <a:r>
              <a:rPr sz="900" spc="-12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121801001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latin typeface="Segoe UI"/>
                <a:cs typeface="Segoe UI"/>
              </a:rPr>
              <a:t>р/с</a:t>
            </a:r>
            <a:r>
              <a:rPr sz="900" spc="-5" dirty="0">
                <a:latin typeface="Segoe UI"/>
                <a:cs typeface="Segoe UI"/>
              </a:rPr>
              <a:t> </a:t>
            </a:r>
            <a:r>
              <a:rPr sz="900" spc="-30" dirty="0">
                <a:latin typeface="Segoe UI"/>
                <a:cs typeface="Segoe UI"/>
              </a:rPr>
              <a:t>40702810070010348277</a:t>
            </a:r>
            <a:r>
              <a:rPr sz="900" spc="16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(Модульбанк)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505"/>
              </a:spcBef>
            </a:pPr>
            <a:r>
              <a:rPr sz="900" dirty="0">
                <a:latin typeface="Segoe UI"/>
                <a:cs typeface="Segoe UI"/>
              </a:rPr>
              <a:t>БИК</a:t>
            </a:r>
            <a:r>
              <a:rPr sz="900" spc="-10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044525092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9352" y="5221223"/>
            <a:ext cx="79375" cy="1524000"/>
            <a:chOff x="149352" y="5221223"/>
            <a:chExt cx="79375" cy="152400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352" y="6041135"/>
              <a:ext cx="73152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496" y="5221223"/>
              <a:ext cx="70104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" y="6669024"/>
              <a:ext cx="73151" cy="7619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0128" y="10010647"/>
            <a:ext cx="66624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46464D"/>
                </a:solidFill>
                <a:latin typeface="Segoe UI"/>
                <a:cs typeface="Segoe UI"/>
              </a:rPr>
              <a:t>Данноекоммерческое</a:t>
            </a:r>
            <a:r>
              <a:rPr sz="1100" spc="80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64D"/>
                </a:solidFill>
                <a:latin typeface="Segoe UI"/>
                <a:cs typeface="Segoe UI"/>
              </a:rPr>
              <a:t>предложениене</a:t>
            </a:r>
            <a:r>
              <a:rPr sz="1100" spc="-70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64D"/>
                </a:solidFill>
                <a:latin typeface="Segoe UI"/>
                <a:cs typeface="Segoe UI"/>
              </a:rPr>
              <a:t>являетсяофертой(в</a:t>
            </a:r>
            <a:r>
              <a:rPr sz="1100" spc="75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64D"/>
                </a:solidFill>
                <a:latin typeface="Segoe UI"/>
                <a:cs typeface="Segoe UI"/>
              </a:rPr>
              <a:t>соответствии</a:t>
            </a:r>
            <a:r>
              <a:rPr sz="1100" spc="-160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64D"/>
                </a:solidFill>
                <a:latin typeface="Segoe UI"/>
                <a:cs typeface="Segoe UI"/>
              </a:rPr>
              <a:t>со</a:t>
            </a:r>
            <a:r>
              <a:rPr sz="1100" spc="60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64D"/>
                </a:solidFill>
                <a:latin typeface="Segoe UI"/>
                <a:cs typeface="Segoe UI"/>
              </a:rPr>
              <a:t>ст.435ГК</a:t>
            </a:r>
            <a:r>
              <a:rPr sz="1100" spc="15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64D"/>
                </a:solidFill>
                <a:latin typeface="Segoe UI"/>
                <a:cs typeface="Segoe UI"/>
              </a:rPr>
              <a:t>РФ),</a:t>
            </a:r>
            <a:r>
              <a:rPr sz="1100" spc="35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64D"/>
                </a:solidFill>
                <a:latin typeface="Segoe UI"/>
                <a:cs typeface="Segoe UI"/>
              </a:rPr>
              <a:t>и</a:t>
            </a:r>
            <a:r>
              <a:rPr sz="1100" spc="-110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64D"/>
                </a:solidFill>
                <a:latin typeface="Segoe UI"/>
                <a:cs typeface="Segoe UI"/>
              </a:rPr>
              <a:t>не</a:t>
            </a:r>
            <a:r>
              <a:rPr sz="1100" spc="-70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64D"/>
                </a:solidFill>
                <a:latin typeface="Segoe UI"/>
                <a:cs typeface="Segoe UI"/>
              </a:rPr>
              <a:t>влечет</a:t>
            </a:r>
            <a:r>
              <a:rPr sz="1100" spc="60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64D"/>
                </a:solidFill>
                <a:latin typeface="Segoe UI"/>
                <a:cs typeface="Segoe UI"/>
              </a:rPr>
              <a:t>за </a:t>
            </a:r>
            <a:r>
              <a:rPr sz="1100" dirty="0">
                <a:solidFill>
                  <a:srgbClr val="46464D"/>
                </a:solidFill>
                <a:latin typeface="Segoe UI"/>
                <a:cs typeface="Segoe UI"/>
              </a:rPr>
              <a:t>собой</a:t>
            </a:r>
            <a:r>
              <a:rPr sz="1100" spc="25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64D"/>
                </a:solidFill>
                <a:latin typeface="Segoe UI"/>
                <a:cs typeface="Segoe UI"/>
              </a:rPr>
              <a:t>обязательствООО«ЭЛЕМЕНТ»</a:t>
            </a:r>
            <a:r>
              <a:rPr sz="1100" spc="-85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64D"/>
                </a:solidFill>
                <a:latin typeface="Segoe UI"/>
                <a:cs typeface="Segoe UI"/>
              </a:rPr>
              <a:t>по</a:t>
            </a:r>
            <a:r>
              <a:rPr sz="1100" spc="-30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64D"/>
                </a:solidFill>
                <a:latin typeface="Segoe UI"/>
                <a:cs typeface="Segoe UI"/>
              </a:rPr>
              <a:t>заключению</a:t>
            </a:r>
            <a:r>
              <a:rPr sz="1100" spc="-185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64D"/>
                </a:solidFill>
                <a:latin typeface="Segoe UI"/>
                <a:cs typeface="Segoe UI"/>
              </a:rPr>
              <a:t>Договора</a:t>
            </a:r>
            <a:r>
              <a:rPr sz="1100" spc="25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64D"/>
                </a:solidFill>
                <a:latin typeface="Segoe UI"/>
                <a:cs typeface="Segoe UI"/>
              </a:rPr>
              <a:t>на</a:t>
            </a:r>
            <a:r>
              <a:rPr sz="1100" spc="-90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64D"/>
                </a:solidFill>
                <a:latin typeface="Segoe UI"/>
                <a:cs typeface="Segoe UI"/>
              </a:rPr>
              <a:t>условиях</a:t>
            </a:r>
            <a:r>
              <a:rPr sz="1100" spc="-135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spc="-30" dirty="0">
                <a:solidFill>
                  <a:srgbClr val="46464D"/>
                </a:solidFill>
                <a:latin typeface="Segoe UI"/>
                <a:cs typeface="Segoe UI"/>
              </a:rPr>
              <a:t>настоящего</a:t>
            </a:r>
            <a:r>
              <a:rPr sz="1100" dirty="0">
                <a:solidFill>
                  <a:srgbClr val="4646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64D"/>
                </a:solidFill>
                <a:latin typeface="Segoe UI"/>
                <a:cs typeface="Segoe UI"/>
              </a:rPr>
              <a:t>предложения</a:t>
            </a:r>
            <a:endParaRPr sz="1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530918"/>
              </p:ext>
            </p:extLst>
          </p:nvPr>
        </p:nvGraphicFramePr>
        <p:xfrm>
          <a:off x="38100" y="-6350"/>
          <a:ext cx="7470140" cy="97269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Все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Кол-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во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Мощность 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номинальная,</a:t>
                      </a:r>
                      <a:r>
                        <a:rPr sz="12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7500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400"/>
                        </a:lnSpc>
                        <a:spcBef>
                          <a:spcPts val="1095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30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постоянная,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230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60960" algn="ctr">
                        <a:lnSpc>
                          <a:spcPct val="100000"/>
                        </a:lnSpc>
                      </a:pP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(вместо</a:t>
                      </a:r>
                      <a:r>
                        <a:rPr sz="1200" spc="-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200)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R="423545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6900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R="381635" algn="ctr">
                        <a:lnSpc>
                          <a:spcPct val="100000"/>
                        </a:lnSpc>
                      </a:pP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(вместо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6000)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30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Сумма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Маркадвигателя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60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R="124460" algn="ctr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Weichai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R="123825" algn="ctr">
                        <a:lnSpc>
                          <a:spcPts val="1385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WP13D317E300NG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Шт.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184">
                <a:tc>
                  <a:txBody>
                    <a:bodyPr/>
                    <a:lstStyle/>
                    <a:p>
                      <a:pPr marL="51435" marR="12255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250Квт/380В</a:t>
                      </a:r>
                      <a:r>
                        <a:rPr sz="1200" spc="-1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двигатель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WP13,</a:t>
                      </a:r>
                      <a:r>
                        <a:rPr sz="12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генератор Element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6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280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(555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000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юаней)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30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0335" algn="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188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400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30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Система</a:t>
                      </a:r>
                      <a:r>
                        <a:rPr sz="12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контроля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температуры</a:t>
                      </a:r>
                      <a:r>
                        <a:rPr sz="1200" spc="-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по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цилиндрам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85115" marR="374650" indent="-19240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Входит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базовую</a:t>
                      </a:r>
                      <a:r>
                        <a:rPr sz="1200" spc="-1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поставку,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нет</a:t>
                      </a:r>
                      <a:r>
                        <a:rPr sz="12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стандартной</a:t>
                      </a:r>
                      <a:r>
                        <a:rPr sz="1200" spc="-1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60350" algn="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Система</a:t>
                      </a:r>
                      <a:r>
                        <a:rPr sz="12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контроля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температуры</a:t>
                      </a:r>
                      <a:r>
                        <a:rPr sz="1200" spc="-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выхлопных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газов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75590" marR="386715" indent="-1955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Входит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базовую</a:t>
                      </a:r>
                      <a:r>
                        <a:rPr sz="1200" spc="-1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поставку,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нет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стандартной</a:t>
                      </a:r>
                      <a:r>
                        <a:rPr sz="1200" spc="-1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91440" marR="72644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Радиатор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охлаждения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вертикальный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вдвое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большей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площадью,</a:t>
                      </a:r>
                      <a:r>
                        <a:rPr sz="1200" spc="-1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возможностью выноса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12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двумя</a:t>
                      </a:r>
                      <a:r>
                        <a:rPr sz="12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электровентиляторами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с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частотным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управлением</a:t>
                      </a:r>
                      <a:r>
                        <a:rPr sz="1200" spc="-1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по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температуре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5590" marR="387350" indent="-19558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Входит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базовую</a:t>
                      </a:r>
                      <a:r>
                        <a:rPr sz="1200" spc="-1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поставку,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нет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стандартной</a:t>
                      </a:r>
                      <a:r>
                        <a:rPr sz="1200" spc="-1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Электрический</a:t>
                      </a:r>
                      <a:r>
                        <a:rPr sz="1200" spc="-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насос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охлаждающей</a:t>
                      </a:r>
                      <a:r>
                        <a:rPr sz="1200" spc="-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жидкости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75590" marR="387350" indent="-1955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Входит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базовую</a:t>
                      </a:r>
                      <a:r>
                        <a:rPr sz="1200" spc="-1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поставку,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нет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стандартной</a:t>
                      </a:r>
                      <a:r>
                        <a:rPr sz="1200" spc="-1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ts val="1375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Система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подогрева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ts val="137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охлаждающей</a:t>
                      </a:r>
                      <a:r>
                        <a:rPr sz="12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жидкости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R="30607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Входит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базовую</a:t>
                      </a:r>
                      <a:r>
                        <a:rPr sz="1200" spc="-1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поставку,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R="292735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нет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стандартной</a:t>
                      </a:r>
                      <a:r>
                        <a:rPr sz="1200" spc="-1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33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Постоянный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магнит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альтернатора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75590" marR="387350" indent="-1955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Входит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базовую</a:t>
                      </a:r>
                      <a:r>
                        <a:rPr sz="1200" spc="-1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поставку,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нет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стандартной</a:t>
                      </a:r>
                      <a:r>
                        <a:rPr sz="1200" spc="-1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ts val="1375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Электроподогреватель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масла</a:t>
                      </a:r>
                      <a:r>
                        <a:rPr sz="12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10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картере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75590" marR="387350" indent="-1955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Входит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базовую</a:t>
                      </a:r>
                      <a:r>
                        <a:rPr sz="1200" spc="-1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поставку,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нет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стандартной</a:t>
                      </a:r>
                      <a:r>
                        <a:rPr sz="1200" spc="-1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ts val="1375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Удаленный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мониторинг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телефона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на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русском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языке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75590" marR="387350" indent="-1955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Входит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базовую</a:t>
                      </a:r>
                      <a:r>
                        <a:rPr sz="1200" spc="-1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поставку,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нет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стандартной</a:t>
                      </a:r>
                      <a:r>
                        <a:rPr sz="1200" spc="-1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ts val="1405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32410" algn="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Газовая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рампа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тремя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цифровыми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манометрами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75590" marR="387350" indent="-1955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Входит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базовую</a:t>
                      </a:r>
                      <a:r>
                        <a:rPr sz="1200" spc="-1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поставку,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нет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стандартной</a:t>
                      </a:r>
                      <a:r>
                        <a:rPr sz="1200" spc="-1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ts val="1365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Автоматическая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зарядка</a:t>
                      </a:r>
                      <a:r>
                        <a:rPr sz="12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аккумуляторов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от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альтернатора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без</a:t>
                      </a:r>
                      <a:r>
                        <a:rPr sz="1200" spc="-1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зарядного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генератора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75590" marR="387350" indent="-1955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Входит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базовую</a:t>
                      </a:r>
                      <a:r>
                        <a:rPr sz="1200" spc="-1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поставку,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нет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стандартной</a:t>
                      </a:r>
                      <a:r>
                        <a:rPr sz="1200" spc="-1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6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91440" marR="692785">
                        <a:lnSpc>
                          <a:spcPct val="113300"/>
                        </a:lnSpc>
                        <a:spcBef>
                          <a:spcPts val="13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Пуско-наладочные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работы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на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предприятии- изготовителя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видеоотчетом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75590" marR="387350" indent="-1955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Входит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базовую</a:t>
                      </a:r>
                      <a:r>
                        <a:rPr sz="1200" spc="-1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поставку,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нет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стандартной</a:t>
                      </a:r>
                      <a:r>
                        <a:rPr sz="1200" spc="-1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marL="91440" marR="755650">
                        <a:lnSpc>
                          <a:spcPts val="1630"/>
                        </a:lnSpc>
                        <a:spcBef>
                          <a:spcPts val="7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Вводно-распределительный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шкаф</a:t>
                      </a:r>
                      <a:r>
                        <a:rPr sz="12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15-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18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ГПУ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250кВт</a:t>
                      </a:r>
                      <a:r>
                        <a:rPr sz="12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-7500А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контроллером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9580N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6799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536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3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072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Сверхтихий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глушитель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848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170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30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5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100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Здание под ГПУ 504м2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R="2819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50.000 </a:t>
                      </a:r>
                      <a:r>
                        <a:rPr lang="ru-RU" sz="1200" spc="-25" dirty="0" err="1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/м2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1435"/>
                        </a:lnSpc>
                        <a:spcBef>
                          <a:spcPts val="420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25 200 000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Строительно-монтажные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работы</a:t>
                      </a:r>
                      <a:r>
                        <a:rPr sz="12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(СМР)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R="2819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10%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1435"/>
                        </a:lnSpc>
                        <a:spcBef>
                          <a:spcPts val="42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19 657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334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09327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Проектные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работы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R="28194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5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%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lang="ru-RU" sz="1200" spc="-5" dirty="0">
                          <a:latin typeface="Microsoft Sans Serif"/>
                          <a:cs typeface="Microsoft Sans Serif"/>
                        </a:rPr>
                        <a:t>9 828 600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Пуско-наладочные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работы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выездные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(ПНР)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R="28194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5%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828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600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434975">
                <a:tc gridSpan="4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Итого,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руб.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НДС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ts val="1405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до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90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дней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7160" algn="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r>
                        <a:rPr lang="ru-RU" sz="1200" b="1" dirty="0">
                          <a:latin typeface="Arial"/>
                          <a:cs typeface="Arial"/>
                        </a:rPr>
                        <a:t>61</a:t>
                      </a:r>
                      <a:r>
                        <a:rPr sz="12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1200" b="1" spc="-55" dirty="0">
                          <a:latin typeface="Arial"/>
                          <a:cs typeface="Arial"/>
                        </a:rPr>
                        <a:t>086 400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6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7947" y="158749"/>
          <a:ext cx="7316470" cy="7763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1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Возможные</a:t>
                      </a:r>
                      <a:r>
                        <a:rPr sz="14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опции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к</a:t>
                      </a:r>
                      <a:r>
                        <a:rPr sz="1400" spc="-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250кВт</a:t>
                      </a:r>
                      <a:r>
                        <a:rPr sz="14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Weichai: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91440" marR="977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Модуль</a:t>
                      </a:r>
                      <a:r>
                        <a:rPr sz="12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рекуперации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тепла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выхлопных</a:t>
                      </a:r>
                      <a:r>
                        <a:rPr sz="1200" spc="-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газов, интеркулера</a:t>
                      </a:r>
                      <a:r>
                        <a:rPr sz="1200" spc="-9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12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охлаждающей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жидкости</a:t>
                      </a:r>
                      <a:r>
                        <a:rPr sz="12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250кВт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автоматикой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850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100330" marR="19748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Модуль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рекуперации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тепла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выхлопных</a:t>
                      </a:r>
                      <a:r>
                        <a:rPr sz="1200" spc="-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газов,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250кВт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автоматикой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000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Модуль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рекуперации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тепла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интеркулера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и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охлаждающей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жидкости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250кВт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автоматикой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850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Интеркулер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вода-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воздух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150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745">
                <a:tc>
                  <a:txBody>
                    <a:bodyPr/>
                    <a:lstStyle/>
                    <a:p>
                      <a:pPr marL="100330">
                        <a:lnSpc>
                          <a:spcPts val="142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Промежуточный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охладитель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рубашки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100330">
                        <a:lnSpc>
                          <a:spcPts val="141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150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Автоматическая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система</a:t>
                      </a:r>
                      <a:r>
                        <a:rPr sz="1200" spc="-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долива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масла</a:t>
                      </a:r>
                      <a:r>
                        <a:rPr sz="1200" spc="-1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баком</a:t>
                      </a:r>
                      <a:r>
                        <a:rPr sz="1200" spc="-1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на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л</a:t>
                      </a:r>
                      <a:r>
                        <a:rPr sz="12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дополнительным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внешним</a:t>
                      </a:r>
                      <a:r>
                        <a:rPr sz="1200" spc="-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датчиком</a:t>
                      </a:r>
                      <a:r>
                        <a:rPr sz="1200" spc="-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уровня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масла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6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80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6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100330">
                        <a:lnSpc>
                          <a:spcPts val="143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Датчик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контроля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уровня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охлаждающей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жидкости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40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АВР</a:t>
                      </a:r>
                      <a:r>
                        <a:rPr sz="12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Delixi</a:t>
                      </a:r>
                      <a:r>
                        <a:rPr sz="12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(автоматический</a:t>
                      </a:r>
                      <a:r>
                        <a:rPr sz="1200" spc="-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ввод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резерва)</a:t>
                      </a:r>
                      <a:r>
                        <a:rPr sz="1200" spc="-9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630A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140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91440">
                        <a:lnSpc>
                          <a:spcPts val="1415"/>
                        </a:lnSpc>
                        <a:spcBef>
                          <a:spcPts val="21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Сверхтихий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глушитель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415"/>
                        </a:lnSpc>
                        <a:spcBef>
                          <a:spcPts val="215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15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170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91440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Индивидуальный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счетчик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газа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на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70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91440">
                        <a:lnSpc>
                          <a:spcPts val="1410"/>
                        </a:lnSpc>
                        <a:spcBef>
                          <a:spcPts val="220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Индивидуальный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счетчик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тепла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410"/>
                        </a:lnSpc>
                        <a:spcBef>
                          <a:spcPts val="220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410"/>
                        </a:lnSpc>
                        <a:spcBef>
                          <a:spcPts val="22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70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Сверхтихий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вертикальный</a:t>
                      </a:r>
                      <a:r>
                        <a:rPr sz="1200" spc="-9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радиатор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охлаждения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r>
                        <a:rPr sz="12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sz="12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вентиляторами</a:t>
                      </a:r>
                      <a:r>
                        <a:rPr sz="1200" spc="-10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с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ts val="1355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частотным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управлением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50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91440" marR="77470">
                        <a:lnSpc>
                          <a:spcPts val="1390"/>
                        </a:lnSpc>
                        <a:spcBef>
                          <a:spcPts val="295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Горизонтальный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радиатор</a:t>
                      </a:r>
                      <a:r>
                        <a:rPr sz="12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sz="1200" spc="1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вентиляторами</a:t>
                      </a:r>
                      <a:r>
                        <a:rPr sz="1200" spc="-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с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частотным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управлением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63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50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63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Кожух</a:t>
                      </a:r>
                      <a:r>
                        <a:rPr sz="12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погодозащитный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на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400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Контейнер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типа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Север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на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850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91440" marR="8369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Контейнер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типа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Север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на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ГПУ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12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60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воздушных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асиков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000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91440" marR="6915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Контейнер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типа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Север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на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ГПУ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12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40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водоохлаждаемых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асиков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градирней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ts val="135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ts val="135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3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450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774065">
                <a:tc gridSpan="2">
                  <a:txBody>
                    <a:bodyPr/>
                    <a:lstStyle/>
                    <a:p>
                      <a:pPr marL="179705" marR="4207510">
                        <a:lnSpc>
                          <a:spcPct val="118300"/>
                        </a:lnSpc>
                        <a:spcBef>
                          <a:spcPts val="107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sz="1200" spc="-1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поставки:</a:t>
                      </a:r>
                      <a:r>
                        <a:rPr sz="1200" spc="-1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90</a:t>
                      </a:r>
                      <a:r>
                        <a:rPr sz="12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дней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Итого,руб</a:t>
                      </a:r>
                      <a:r>
                        <a:rPr sz="12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НДС: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02691" y="9241027"/>
            <a:ext cx="6506209" cy="10426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460375" algn="ctr">
              <a:lnSpc>
                <a:spcPct val="100000"/>
              </a:lnSpc>
              <a:spcBef>
                <a:spcPts val="90"/>
              </a:spcBef>
            </a:pPr>
            <a:r>
              <a:rPr sz="1400" spc="-35" dirty="0">
                <a:latin typeface="Microsoft Sans Serif"/>
                <a:cs typeface="Microsoft Sans Serif"/>
              </a:rPr>
              <a:t>Стоимость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технического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обслуживания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нашей</a:t>
            </a:r>
            <a:r>
              <a:rPr sz="1400" spc="3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вдвое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дешевле стандартной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составляет</a:t>
            </a:r>
            <a:r>
              <a:rPr sz="1400" spc="-10" dirty="0">
                <a:latin typeface="Microsoft Sans Serif"/>
                <a:cs typeface="Microsoft Sans Serif"/>
              </a:rPr>
              <a:t> 250.000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руб.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-8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год</a:t>
            </a:r>
            <a:endParaRPr sz="1400">
              <a:latin typeface="Microsoft Sans Serif"/>
              <a:cs typeface="Microsoft Sans Serif"/>
            </a:endParaRPr>
          </a:p>
          <a:p>
            <a:pPr marL="7620" algn="ctr">
              <a:lnSpc>
                <a:spcPct val="100000"/>
              </a:lnSpc>
              <a:spcBef>
                <a:spcPts val="1295"/>
              </a:spcBef>
            </a:pPr>
            <a:r>
              <a:rPr sz="1400" spc="-20" dirty="0">
                <a:latin typeface="Microsoft Sans Serif"/>
                <a:cs typeface="Microsoft Sans Serif"/>
              </a:rPr>
              <a:t>*Стоимость</a:t>
            </a:r>
            <a:r>
              <a:rPr sz="1400" spc="-1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самой</a:t>
            </a:r>
            <a:r>
              <a:rPr sz="1400" spc="-7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составляет</a:t>
            </a:r>
            <a:r>
              <a:rPr sz="1400" spc="-9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555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000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юаней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курсу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на</a:t>
            </a:r>
            <a:r>
              <a:rPr sz="1400" spc="-8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день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оплаты.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Microsoft Sans Serif"/>
                <a:cs typeface="Microsoft Sans Serif"/>
              </a:rPr>
              <a:t>Все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опции</a:t>
            </a:r>
            <a:r>
              <a:rPr sz="1400" spc="9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полностью</a:t>
            </a:r>
            <a:r>
              <a:rPr sz="1400" spc="-90" dirty="0">
                <a:latin typeface="Microsoft Sans Serif"/>
                <a:cs typeface="Microsoft Sans Serif"/>
              </a:rPr>
              <a:t> </a:t>
            </a:r>
            <a:r>
              <a:rPr sz="1400" spc="-30" dirty="0">
                <a:latin typeface="Microsoft Sans Serif"/>
                <a:cs typeface="Microsoft Sans Serif"/>
              </a:rPr>
              <a:t>российского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35" dirty="0">
                <a:latin typeface="Microsoft Sans Serif"/>
                <a:cs typeface="Microsoft Sans Serif"/>
              </a:rPr>
              <a:t>производства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Arial MT"/>
                <a:cs typeface="Arial MT"/>
              </a:rPr>
              <a:t>-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цены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рублях</a:t>
            </a:r>
            <a:r>
              <a:rPr sz="1400" spc="8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фиксированы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100" y="616076"/>
            <a:ext cx="6944359" cy="7506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7890" algn="ctr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Verdana"/>
                <a:cs typeface="Verdana"/>
              </a:rPr>
              <a:t>Вы</a:t>
            </a:r>
            <a:r>
              <a:rPr sz="1800" spc="-375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нашли</a:t>
            </a:r>
            <a:r>
              <a:rPr sz="1800" spc="-270" dirty="0">
                <a:latin typeface="Verdana"/>
                <a:cs typeface="Verdana"/>
              </a:rPr>
              <a:t> </a:t>
            </a:r>
            <a:r>
              <a:rPr sz="1800" spc="-125" dirty="0">
                <a:latin typeface="Verdana"/>
                <a:cs typeface="Verdana"/>
              </a:rPr>
              <a:t>правильную</a:t>
            </a:r>
            <a:r>
              <a:rPr sz="1800" spc="-290" dirty="0">
                <a:latin typeface="Verdana"/>
                <a:cs typeface="Verdana"/>
              </a:rPr>
              <a:t> </a:t>
            </a:r>
            <a:r>
              <a:rPr sz="1800" spc="-120" dirty="0">
                <a:latin typeface="Verdana"/>
                <a:cs typeface="Verdana"/>
              </a:rPr>
              <a:t>компанию</a:t>
            </a:r>
            <a:r>
              <a:rPr sz="1800" spc="-350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для</a:t>
            </a:r>
            <a:r>
              <a:rPr sz="1800" spc="-440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покупки</a:t>
            </a:r>
            <a:r>
              <a:rPr sz="1800" spc="-18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ГПУ!</a:t>
            </a:r>
            <a:endParaRPr sz="1800">
              <a:latin typeface="Verdana"/>
              <a:cs typeface="Verdana"/>
            </a:endParaRPr>
          </a:p>
          <a:p>
            <a:pPr marL="449580" algn="ctr">
              <a:lnSpc>
                <a:spcPct val="100000"/>
              </a:lnSpc>
              <a:spcBef>
                <a:spcPts val="1425"/>
              </a:spcBef>
            </a:pPr>
            <a:r>
              <a:rPr sz="1600" dirty="0">
                <a:latin typeface="Verdana"/>
                <a:cs typeface="Verdana"/>
              </a:rPr>
              <a:t>И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вот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почему: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600">
              <a:latin typeface="Verdana"/>
              <a:cs typeface="Verdana"/>
            </a:endParaRPr>
          </a:p>
          <a:p>
            <a:pPr marL="869315" marR="5080" algn="ctr">
              <a:lnSpc>
                <a:spcPct val="100000"/>
              </a:lnSpc>
            </a:pPr>
            <a:r>
              <a:rPr sz="1600" b="1" spc="-20" dirty="0">
                <a:solidFill>
                  <a:srgbClr val="1C2A45"/>
                </a:solidFill>
                <a:latin typeface="Verdana"/>
                <a:cs typeface="Verdana"/>
              </a:rPr>
              <a:t>Преимущества</a:t>
            </a:r>
            <a:r>
              <a:rPr sz="1600" b="1" spc="-10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35" dirty="0">
                <a:solidFill>
                  <a:srgbClr val="1C2A45"/>
                </a:solidFill>
                <a:latin typeface="Verdana"/>
                <a:cs typeface="Verdana"/>
              </a:rPr>
              <a:t>газопоршневой</a:t>
            </a:r>
            <a:r>
              <a:rPr sz="1600" b="1" spc="-13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установки</a:t>
            </a:r>
            <a:r>
              <a:rPr sz="1600" b="1" spc="-10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компании Элемент,</a:t>
            </a:r>
            <a:r>
              <a:rPr sz="1600" b="1" spc="-5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40" dirty="0">
                <a:solidFill>
                  <a:srgbClr val="1C2A45"/>
                </a:solidFill>
                <a:latin typeface="Verdana"/>
                <a:cs typeface="Verdana"/>
              </a:rPr>
              <a:t>специально</a:t>
            </a:r>
            <a:r>
              <a:rPr sz="1600" b="1" spc="-14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1C2A45"/>
                </a:solidFill>
                <a:latin typeface="Verdana"/>
                <a:cs typeface="Verdana"/>
              </a:rPr>
              <a:t>разработанной</a:t>
            </a:r>
            <a:r>
              <a:rPr sz="1600" b="1" spc="-12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под</a:t>
            </a:r>
            <a:r>
              <a:rPr sz="1600" b="1" spc="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реалии российского</a:t>
            </a:r>
            <a:r>
              <a:rPr sz="1600" b="1" spc="-16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рынка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600">
              <a:latin typeface="Verdana"/>
              <a:cs typeface="Verdana"/>
            </a:endParaRPr>
          </a:p>
          <a:p>
            <a:pPr marL="521334" indent="-286385">
              <a:lnSpc>
                <a:spcPct val="100000"/>
              </a:lnSpc>
              <a:buFont typeface="Wingdings"/>
              <a:buChar char=""/>
              <a:tabLst>
                <a:tab pos="521334" algn="l"/>
              </a:tabLst>
            </a:pPr>
            <a:r>
              <a:rPr sz="1600" dirty="0">
                <a:solidFill>
                  <a:srgbClr val="0D0D0D"/>
                </a:solidFill>
                <a:latin typeface="Trebuchet MS"/>
                <a:cs typeface="Trebuchet MS"/>
              </a:rPr>
              <a:t>В</a:t>
            </a:r>
            <a:r>
              <a:rPr sz="1600" spc="-15" dirty="0">
                <a:solidFill>
                  <a:srgbClr val="0D0D0D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базовую</a:t>
            </a:r>
            <a:r>
              <a:rPr sz="1600" spc="-70" dirty="0">
                <a:latin typeface="Microsoft Sans Serif"/>
                <a:cs typeface="Microsoft Sans Serif"/>
              </a:rPr>
              <a:t> </a:t>
            </a:r>
            <a:r>
              <a:rPr sz="1600" spc="-45" dirty="0">
                <a:latin typeface="Microsoft Sans Serif"/>
                <a:cs typeface="Microsoft Sans Serif"/>
              </a:rPr>
              <a:t>комплектацию</a:t>
            </a:r>
            <a:r>
              <a:rPr sz="1600" spc="-15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входят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600">
              <a:latin typeface="Arial MT"/>
              <a:cs typeface="Arial MT"/>
            </a:endParaRPr>
          </a:p>
          <a:p>
            <a:pPr marL="290195" marR="483234" indent="-278130">
              <a:lnSpc>
                <a:spcPct val="100000"/>
              </a:lnSpc>
              <a:buAutoNum type="arabicPeriod"/>
              <a:tabLst>
                <a:tab pos="295910" algn="l"/>
              </a:tabLst>
            </a:pP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на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250кВт,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охлаждения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вдвое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большей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площадью,</a:t>
            </a:r>
            <a:r>
              <a:rPr sz="1400" spc="14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с 	</a:t>
            </a:r>
            <a:r>
              <a:rPr sz="1400" spc="-10" dirty="0">
                <a:latin typeface="Verdana"/>
                <a:cs typeface="Verdana"/>
              </a:rPr>
              <a:t>возможностью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выноса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двумя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электровентиляторами</a:t>
            </a:r>
            <a:endParaRPr sz="1400">
              <a:latin typeface="Verdana"/>
              <a:cs typeface="Verdana"/>
            </a:endParaRPr>
          </a:p>
          <a:p>
            <a:pPr marL="299085" marR="1587500" indent="-2870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99085" algn="l"/>
                <a:tab pos="362585" algn="l"/>
              </a:tabLst>
            </a:pPr>
            <a:r>
              <a:rPr sz="1400" dirty="0">
                <a:latin typeface="Verdana"/>
                <a:cs typeface="Verdana"/>
              </a:rPr>
              <a:t>	</a:t>
            </a:r>
            <a:r>
              <a:rPr sz="1400" spc="-20" dirty="0">
                <a:latin typeface="Verdana"/>
                <a:cs typeface="Verdana"/>
              </a:rPr>
              <a:t>Электрический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насос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охлаждающей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жидкости,</a:t>
            </a:r>
            <a:r>
              <a:rPr sz="140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вместо механической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помпы</a:t>
            </a:r>
            <a:endParaRPr sz="1400">
              <a:latin typeface="Verdana"/>
              <a:cs typeface="Verdana"/>
            </a:endParaRPr>
          </a:p>
          <a:p>
            <a:pPr marL="299085" marR="715645" indent="-28702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99085" algn="l"/>
                <a:tab pos="362585" algn="l"/>
              </a:tabLst>
            </a:pPr>
            <a:r>
              <a:rPr sz="1400" dirty="0">
                <a:latin typeface="Verdana"/>
                <a:cs typeface="Verdana"/>
              </a:rPr>
              <a:t>	Полное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отсутствие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ремней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роликов,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что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сокращает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стоимость обслуживания</a:t>
            </a:r>
            <a:endParaRPr sz="1400">
              <a:latin typeface="Verdana"/>
              <a:cs typeface="Verdana"/>
            </a:endParaRPr>
          </a:p>
          <a:p>
            <a:pPr marL="363220" marR="213360" indent="-3505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63220" algn="l"/>
              </a:tabLst>
            </a:pPr>
            <a:r>
              <a:rPr sz="1400" spc="-35" dirty="0">
                <a:latin typeface="Verdana"/>
                <a:cs typeface="Verdana"/>
              </a:rPr>
              <a:t>Использование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постоянного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магнита</a:t>
            </a:r>
            <a:r>
              <a:rPr sz="1400" spc="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альтернаторе,</a:t>
            </a:r>
            <a:r>
              <a:rPr sz="1400" spc="-1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позволяющее добиваться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точности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выработки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электроэнергии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в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1%,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против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10%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у </a:t>
            </a:r>
            <a:r>
              <a:rPr sz="1400" spc="-20" dirty="0">
                <a:latin typeface="Verdana"/>
                <a:cs typeface="Verdana"/>
              </a:rPr>
              <a:t>стандартных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моделей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Font typeface="Verdana"/>
              <a:buAutoNum type="arabicPeriod"/>
            </a:pPr>
            <a:endParaRPr sz="1400">
              <a:latin typeface="Verdana"/>
              <a:cs typeface="Verdana"/>
            </a:endParaRPr>
          </a:p>
          <a:p>
            <a:pPr marL="363220" marR="23495" indent="-3505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63220" algn="l"/>
              </a:tabLst>
            </a:pPr>
            <a:r>
              <a:rPr sz="1400" spc="-10" dirty="0">
                <a:latin typeface="Verdana"/>
                <a:cs typeface="Verdana"/>
              </a:rPr>
              <a:t>Увеличенная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постоянная</a:t>
            </a:r>
            <a:r>
              <a:rPr sz="1400" spc="-1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мощность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230кВт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(против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базовых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200кВт),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уменьшения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ресурса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>
              <a:latin typeface="Verdana"/>
              <a:cs typeface="Verdana"/>
            </a:endParaRPr>
          </a:p>
          <a:p>
            <a:pPr marL="363220" marR="512445" indent="-3505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63220" algn="l"/>
              </a:tabLst>
            </a:pPr>
            <a:r>
              <a:rPr sz="1400" dirty="0">
                <a:latin typeface="Verdana"/>
                <a:cs typeface="Verdana"/>
              </a:rPr>
              <a:t>Работа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ГПУ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перегрева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летний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период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за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счет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электронасоса </a:t>
            </a:r>
            <a:r>
              <a:rPr sz="1400" dirty="0">
                <a:latin typeface="Verdana"/>
                <a:cs typeface="Verdana"/>
              </a:rPr>
              <a:t>повышенной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spc="-30" dirty="0">
                <a:latin typeface="Verdana"/>
                <a:cs typeface="Verdana"/>
              </a:rPr>
              <a:t>производительности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вдвое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большего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радиатора</a:t>
            </a:r>
            <a:endParaRPr sz="1400">
              <a:latin typeface="Verdana"/>
              <a:cs typeface="Verdana"/>
            </a:endParaRPr>
          </a:p>
          <a:p>
            <a:pPr marL="363220">
              <a:lnSpc>
                <a:spcPct val="100000"/>
              </a:lnSpc>
            </a:pPr>
            <a:r>
              <a:rPr sz="1400" spc="-10" dirty="0">
                <a:latin typeface="Verdana"/>
                <a:cs typeface="Verdana"/>
              </a:rPr>
              <a:t>охлаждения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>
              <a:latin typeface="Verdana"/>
              <a:cs typeface="Verdana"/>
            </a:endParaRPr>
          </a:p>
          <a:p>
            <a:pPr marL="293370" marR="302895" indent="-281305" algn="just">
              <a:lnSpc>
                <a:spcPct val="100000"/>
              </a:lnSpc>
              <a:spcBef>
                <a:spcPts val="1680"/>
              </a:spcBef>
              <a:buAutoNum type="arabicPeriod" startAt="7"/>
              <a:tabLst>
                <a:tab pos="299085" algn="l"/>
              </a:tabLst>
            </a:pPr>
            <a:r>
              <a:rPr sz="1400" spc="-20" dirty="0">
                <a:latin typeface="Verdana"/>
                <a:cs typeface="Verdana"/>
              </a:rPr>
              <a:t>Установлены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индивидуальные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датчики</a:t>
            </a:r>
            <a:r>
              <a:rPr sz="1400" spc="6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температуры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цилиндрам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и 	</a:t>
            </a:r>
            <a:r>
              <a:rPr sz="1400" spc="-10" dirty="0">
                <a:latin typeface="Verdana"/>
                <a:cs typeface="Verdana"/>
              </a:rPr>
              <a:t>датчик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температуры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выхлопных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газов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целью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остановки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 	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случае,</a:t>
            </a:r>
            <a:r>
              <a:rPr sz="1400" spc="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если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некачественно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spc="-35" dirty="0">
                <a:latin typeface="Verdana"/>
                <a:cs typeface="Verdana"/>
              </a:rPr>
              <a:t>отрегулированы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зазоры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2010" y="9213291"/>
            <a:ext cx="191516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Условия</a:t>
            </a:r>
            <a:r>
              <a:rPr sz="1600" b="1" spc="-2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оплаты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216" y="9512807"/>
            <a:ext cx="207010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3660" rIns="0" bIns="0" rtlCol="0">
            <a:spAutoFit/>
          </a:bodyPr>
          <a:lstStyle/>
          <a:p>
            <a:pPr marL="128270">
              <a:lnSpc>
                <a:spcPts val="1675"/>
              </a:lnSpc>
              <a:spcBef>
                <a:spcPts val="580"/>
              </a:spcBef>
              <a:tabLst>
                <a:tab pos="789940" algn="l"/>
              </a:tabLst>
            </a:pPr>
            <a:r>
              <a:rPr sz="1400" b="1" spc="-25" dirty="0">
                <a:solidFill>
                  <a:srgbClr val="1F2A43"/>
                </a:solidFill>
                <a:latin typeface="Verdana"/>
                <a:cs typeface="Verdana"/>
              </a:rPr>
              <a:t>70%</a:t>
            </a:r>
            <a:r>
              <a:rPr sz="1400" b="1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74D"/>
                </a:solidFill>
                <a:latin typeface="Verdana"/>
                <a:cs typeface="Verdana"/>
              </a:rPr>
              <a:t>–</a:t>
            </a:r>
            <a:r>
              <a:rPr sz="1200" spc="-35" dirty="0">
                <a:solidFill>
                  <a:srgbClr val="4647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74D"/>
                </a:solidFill>
                <a:latin typeface="Verdana"/>
                <a:cs typeface="Verdana"/>
              </a:rPr>
              <a:t>предоплата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5216" y="9841991"/>
            <a:ext cx="206375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3025" rIns="0" bIns="0" rtlCol="0">
            <a:spAutoFit/>
          </a:bodyPr>
          <a:lstStyle/>
          <a:p>
            <a:pPr marL="121920">
              <a:lnSpc>
                <a:spcPts val="1680"/>
              </a:lnSpc>
              <a:spcBef>
                <a:spcPts val="575"/>
              </a:spcBef>
              <a:tabLst>
                <a:tab pos="783590" algn="l"/>
              </a:tabLst>
            </a:pPr>
            <a:r>
              <a:rPr sz="1400" b="1" spc="-25" dirty="0">
                <a:solidFill>
                  <a:srgbClr val="1F2A43"/>
                </a:solidFill>
                <a:latin typeface="Verdana"/>
                <a:cs typeface="Verdana"/>
              </a:rPr>
              <a:t>20%</a:t>
            </a:r>
            <a:r>
              <a:rPr sz="1400" b="1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74D"/>
                </a:solidFill>
                <a:latin typeface="Verdana"/>
                <a:cs typeface="Verdana"/>
              </a:rPr>
              <a:t>–</a:t>
            </a:r>
            <a:r>
              <a:rPr sz="1200" spc="-100" dirty="0">
                <a:solidFill>
                  <a:srgbClr val="4647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74D"/>
                </a:solidFill>
                <a:latin typeface="Verdana"/>
                <a:cs typeface="Verdana"/>
              </a:rPr>
              <a:t>через</a:t>
            </a:r>
            <a:r>
              <a:rPr sz="1200" spc="-25" dirty="0">
                <a:solidFill>
                  <a:srgbClr val="46474D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74D"/>
                </a:solidFill>
                <a:latin typeface="Verdana"/>
                <a:cs typeface="Verdana"/>
              </a:rPr>
              <a:t>месяц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216" y="10168127"/>
            <a:ext cx="6769734" cy="47244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49530" rIns="0" bIns="0" rtlCol="0">
            <a:spAutoFit/>
          </a:bodyPr>
          <a:lstStyle/>
          <a:p>
            <a:pPr marL="94615" marR="548005">
              <a:lnSpc>
                <a:spcPct val="106200"/>
              </a:lnSpc>
              <a:spcBef>
                <a:spcPts val="390"/>
              </a:spcBef>
              <a:tabLst>
                <a:tab pos="756285" algn="l"/>
              </a:tabLst>
            </a:pPr>
            <a:r>
              <a:rPr sz="1400" b="1" spc="-25" dirty="0">
                <a:solidFill>
                  <a:srgbClr val="1F2A43"/>
                </a:solidFill>
                <a:latin typeface="Verdana"/>
                <a:cs typeface="Verdana"/>
              </a:rPr>
              <a:t>10%</a:t>
            </a:r>
            <a:r>
              <a:rPr sz="1400" b="1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–</a:t>
            </a:r>
            <a:r>
              <a:rPr sz="1200" spc="-10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не</a:t>
            </a:r>
            <a:r>
              <a:rPr sz="1200" spc="-7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позднее</a:t>
            </a:r>
            <a:r>
              <a:rPr sz="1200" spc="-7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3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(Трех)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рабочих</a:t>
            </a:r>
            <a:r>
              <a:rPr sz="1200" spc="-2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дней</a:t>
            </a:r>
            <a:r>
              <a:rPr sz="1200" spc="-7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после</a:t>
            </a:r>
            <a:r>
              <a:rPr sz="1200" spc="-7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направления</a:t>
            </a:r>
            <a:r>
              <a:rPr sz="1200" spc="-6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Покупателю уведомления</a:t>
            </a:r>
            <a:r>
              <a:rPr sz="1200" spc="-8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</a:t>
            </a:r>
            <a:r>
              <a:rPr sz="1200" spc="-2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готовности</a:t>
            </a:r>
            <a:r>
              <a:rPr sz="1200" spc="-13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оборудования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к</a:t>
            </a:r>
            <a:r>
              <a:rPr sz="1200" spc="-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отгрузке.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27" y="140207"/>
            <a:ext cx="6949440" cy="3861815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9875" y="4184903"/>
          <a:ext cx="7013575" cy="623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Наименование</a:t>
                      </a:r>
                      <a:r>
                        <a:rPr sz="1200" b="1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показателя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Значение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marL="230504" algn="ctr">
                        <a:lnSpc>
                          <a:spcPts val="126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генераторной</a:t>
                      </a:r>
                      <a:r>
                        <a:rPr sz="1200" b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установки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8260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7995" algn="ctr">
                        <a:lnSpc>
                          <a:spcPts val="1180"/>
                        </a:lnSpc>
                      </a:pP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ГПУ-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250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1435">
                        <a:lnSpc>
                          <a:spcPts val="1205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05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0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250Квт/315,5кВа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Резервная</a:t>
                      </a:r>
                      <a:r>
                        <a:rPr sz="105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0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275кВт/342,5кВа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05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напряжение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720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400В/220В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05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частота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1495" algn="ctr">
                        <a:lnSpc>
                          <a:spcPts val="118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Гц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05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скорость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8705">
                        <a:lnSpc>
                          <a:spcPts val="118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1500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об/мин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5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ток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2135" algn="ctr">
                        <a:lnSpc>
                          <a:spcPts val="118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450А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3095" algn="ctr">
                        <a:lnSpc>
                          <a:spcPts val="1185"/>
                        </a:lnSpc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0,8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Контроллер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0">
                        <a:lnSpc>
                          <a:spcPts val="118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Smartgen9420/Deepsea</a:t>
                      </a:r>
                      <a:r>
                        <a:rPr sz="10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7320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Регулятор</a:t>
                      </a:r>
                      <a:r>
                        <a:rPr sz="10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скорости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6490">
                        <a:lnSpc>
                          <a:spcPts val="1185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Цифровой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4785">
                <a:tc gridSpan="2">
                  <a:txBody>
                    <a:bodyPr/>
                    <a:lstStyle/>
                    <a:p>
                      <a:pPr marL="255270" algn="ctr">
                        <a:lnSpc>
                          <a:spcPts val="126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1610">
                <a:tc>
                  <a:txBody>
                    <a:bodyPr/>
                    <a:lstStyle/>
                    <a:p>
                      <a:pPr marL="48260">
                        <a:lnSpc>
                          <a:spcPts val="121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Инженернаямодель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8320">
                        <a:lnSpc>
                          <a:spcPts val="1185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Двигатель</a:t>
                      </a:r>
                      <a:r>
                        <a:rPr sz="105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Weichai</a:t>
                      </a:r>
                      <a:r>
                        <a:rPr sz="105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/WP13D317E300NG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45720">
                        <a:lnSpc>
                          <a:spcPts val="121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ts val="1155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Рядный,</a:t>
                      </a:r>
                      <a:r>
                        <a:rPr sz="105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четырехтактный,</a:t>
                      </a:r>
                      <a:r>
                        <a:rPr sz="105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электронное</a:t>
                      </a:r>
                      <a:r>
                        <a:rPr sz="10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зажигание,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10919">
                        <a:lnSpc>
                          <a:spcPts val="1175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водяное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5720">
                        <a:lnSpc>
                          <a:spcPts val="121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Количество</a:t>
                      </a:r>
                      <a:r>
                        <a:rPr sz="1050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цилиндров</a:t>
                      </a:r>
                      <a:r>
                        <a:rPr sz="105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0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клапанов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1245">
                        <a:lnSpc>
                          <a:spcPts val="119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0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цилиндров/24</a:t>
                      </a:r>
                      <a:r>
                        <a:rPr sz="105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клапана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5720">
                        <a:lnSpc>
                          <a:spcPts val="124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Диаметри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ход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цилиндра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19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127×165мм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45720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Объем</a:t>
                      </a:r>
                      <a:r>
                        <a:rPr sz="105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6535">
                        <a:lnSpc>
                          <a:spcPts val="118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11.6</a:t>
                      </a:r>
                      <a:r>
                        <a:rPr sz="105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л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5720">
                        <a:lnSpc>
                          <a:spcPts val="121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запуска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19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Электрический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5720">
                        <a:lnSpc>
                          <a:spcPts val="121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Направлениевращения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коленчатого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вала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9955">
                        <a:lnSpc>
                          <a:spcPts val="119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Против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часовой</a:t>
                      </a:r>
                      <a:r>
                        <a:rPr sz="10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стрелки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5720">
                        <a:lnSpc>
                          <a:spcPts val="1215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9875" algn="ctr">
                        <a:lnSpc>
                          <a:spcPts val="119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Водяное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45720">
                        <a:lnSpc>
                          <a:spcPts val="125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принудительного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нагнетания</a:t>
                      </a:r>
                      <a:r>
                        <a:rPr sz="105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воздуха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ts val="119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турбонаддувом</a:t>
                      </a:r>
                      <a:r>
                        <a:rPr sz="105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промежуточным</a:t>
                      </a:r>
                      <a:r>
                        <a:rPr sz="105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охлаждением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Регулятор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скорости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75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Электронный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смешивания</a:t>
                      </a:r>
                      <a:r>
                        <a:rPr sz="10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топливной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смеси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3610">
                        <a:lnSpc>
                          <a:spcPts val="1180"/>
                        </a:lnSpc>
                        <a:spcBef>
                          <a:spcPts val="420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Смеситель</a:t>
                      </a:r>
                      <a:r>
                        <a:rPr sz="10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типа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Вентури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7480">
                <a:tc>
                  <a:txBody>
                    <a:bodyPr/>
                    <a:lstStyle/>
                    <a:p>
                      <a:pPr marL="91440">
                        <a:lnSpc>
                          <a:spcPts val="1085"/>
                        </a:lnSpc>
                      </a:pP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масла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0990" algn="ctr">
                        <a:lnSpc>
                          <a:spcPts val="1105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345</a:t>
                      </a:r>
                      <a:r>
                        <a:rPr sz="10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483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КПа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расход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0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(м³/ч)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при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нагрузке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ts val="126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6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57м3/час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78435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75%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6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50м3/час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78435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50%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6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40м3/час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ts val="121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16.5м3/часхолостой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ход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69875" y="123253"/>
          <a:ext cx="7013575" cy="1630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1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325">
                <a:tc gridSpan="2">
                  <a:txBody>
                    <a:bodyPr/>
                    <a:lstStyle/>
                    <a:p>
                      <a:pPr marL="252095" algn="ctr">
                        <a:lnSpc>
                          <a:spcPts val="1160"/>
                        </a:lnSpc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Ге</a:t>
                      </a:r>
                      <a:r>
                        <a:rPr sz="100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нератор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42545">
                        <a:lnSpc>
                          <a:spcPts val="117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Класс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изоляции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ts val="117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Класс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60" dirty="0">
                          <a:latin typeface="Times New Roman"/>
                          <a:cs typeface="Times New Roman"/>
                        </a:rPr>
                        <a:t>Н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Связь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2025">
                        <a:lnSpc>
                          <a:spcPts val="1175"/>
                        </a:lnSpc>
                      </a:pP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575" spc="-44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фазный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575" spc="-89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575" spc="-44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проводной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1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64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250кВт/312.5кВА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64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Кла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сс</a:t>
                      </a:r>
                      <a:r>
                        <a:rPr sz="1575" spc="-9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з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ащиты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07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IP23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42545">
                        <a:lnSpc>
                          <a:spcPts val="125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Режим</a:t>
                      </a:r>
                      <a:r>
                        <a:rPr sz="105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регули</a:t>
                      </a:r>
                      <a:r>
                        <a:rPr sz="1575" spc="-52" baseline="2645" dirty="0">
                          <a:latin typeface="Times New Roman"/>
                          <a:cs typeface="Times New Roman"/>
                        </a:rPr>
                        <a:t>р</a:t>
                      </a: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ования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напряжения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0915">
                        <a:lnSpc>
                          <a:spcPts val="117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АВР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автоматический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)</a:t>
                      </a:r>
                      <a:endParaRPr sz="1575" baseline="2645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645"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75"/>
                        </a:lnSpc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0,8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озб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ужд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175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Бесщеточный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9875" y="1844611"/>
          <a:ext cx="6937375" cy="2674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3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4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245">
                <a:tc gridSpan="2">
                  <a:txBody>
                    <a:bodyPr/>
                    <a:lstStyle/>
                    <a:p>
                      <a:pPr marL="45720" algn="ctr">
                        <a:lnSpc>
                          <a:spcPts val="1165"/>
                        </a:lnSpc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Обща</a:t>
                      </a:r>
                      <a:r>
                        <a:rPr sz="10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я</a:t>
                      </a:r>
                      <a:r>
                        <a:rPr sz="1000" b="1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информация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L="60960">
                        <a:lnSpc>
                          <a:spcPts val="1225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Допустимая</a:t>
                      </a:r>
                      <a:r>
                        <a:rPr sz="105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окружающей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среды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7255">
                        <a:lnSpc>
                          <a:spcPts val="1175"/>
                        </a:lnSpc>
                      </a:pP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575" spc="-112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&lt;25</a:t>
                      </a:r>
                      <a:r>
                        <a:rPr sz="1575" spc="-44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marL="73025">
                        <a:lnSpc>
                          <a:spcPts val="125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уммарный</a:t>
                      </a:r>
                      <a:r>
                        <a:rPr sz="1575" spc="-24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КП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575" spc="112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44" baseline="2645" dirty="0">
                          <a:latin typeface="Times New Roman"/>
                          <a:cs typeface="Times New Roman"/>
                        </a:rPr>
                        <a:t>номинальной</a:t>
                      </a:r>
                      <a:r>
                        <a:rPr sz="1575" spc="-135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575" baseline="2645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224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80%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КПД</a:t>
                      </a:r>
                      <a:r>
                        <a:rPr sz="11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5" baseline="2525" dirty="0">
                          <a:latin typeface="Times New Roman"/>
                          <a:cs typeface="Times New Roman"/>
                        </a:rPr>
                        <a:t>электрическая</a:t>
                      </a:r>
                      <a:endParaRPr sz="1650" baseline="2525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5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33%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раме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масса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Ш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В:</a:t>
                      </a:r>
                      <a:r>
                        <a:rPr sz="10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3650*1000*2240</a:t>
                      </a:r>
                      <a:r>
                        <a:rPr sz="1000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(мм)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2275кг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70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13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Д*Ш*В</a:t>
                      </a:r>
                      <a:r>
                        <a:rPr sz="1100" spc="13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4000*2160*2210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 marL="182880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масса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4350кг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Рекомендуемое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давлениегаза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вводе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115570">
                        <a:lnSpc>
                          <a:spcPts val="116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100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давлениегаза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холостом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ходу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302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164465">
                        <a:lnSpc>
                          <a:spcPts val="116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Макс.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выхлопных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газов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600</a:t>
                      </a:r>
                      <a:r>
                        <a:rPr sz="1100" spc="-10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±25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146050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Точка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ввода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газа,</a:t>
                      </a:r>
                      <a:r>
                        <a:rPr sz="11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диаметр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DN50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10388" y="4962905"/>
            <a:ext cx="6654165" cy="264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  <a:tabLst>
                <a:tab pos="283845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4.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10" dirty="0">
                <a:latin typeface="Times New Roman"/>
                <a:cs typeface="Times New Roman"/>
              </a:rPr>
              <a:t>ГАРАНТИЙНЫЕ</a:t>
            </a:r>
            <a:r>
              <a:rPr sz="1200" b="1" spc="-1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ОБЯЗАТЕЛЬСТВА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259079" marR="5080" indent="-247015">
              <a:lnSpc>
                <a:spcPct val="125000"/>
              </a:lnSpc>
              <a:buAutoNum type="arabicPeriod"/>
              <a:tabLst>
                <a:tab pos="259079" algn="l"/>
              </a:tabLst>
            </a:pPr>
            <a:r>
              <a:rPr sz="1200" spc="-35" dirty="0">
                <a:latin typeface="Times New Roman"/>
                <a:cs typeface="Times New Roman"/>
              </a:rPr>
              <a:t>Предприятие-</a:t>
            </a:r>
            <a:r>
              <a:rPr sz="1200" dirty="0">
                <a:latin typeface="Times New Roman"/>
                <a:cs typeface="Times New Roman"/>
              </a:rPr>
              <a:t>изготовитель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гарантирует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соответствие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Times New Roman"/>
                <a:cs typeface="Times New Roman"/>
              </a:rPr>
              <a:t>ГПУ-</a:t>
            </a:r>
            <a:r>
              <a:rPr sz="1200" dirty="0">
                <a:latin typeface="Times New Roman"/>
                <a:cs typeface="Times New Roman"/>
              </a:rPr>
              <a:t>250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нормативной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документации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при </a:t>
            </a:r>
            <a:r>
              <a:rPr sz="1200" spc="-10" dirty="0">
                <a:latin typeface="Times New Roman"/>
                <a:cs typeface="Times New Roman"/>
              </a:rPr>
              <a:t>соблюдении</a:t>
            </a:r>
            <a:r>
              <a:rPr sz="1200" spc="-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правил </a:t>
            </a:r>
            <a:r>
              <a:rPr sz="1200" spc="-20" dirty="0">
                <a:latin typeface="Times New Roman"/>
                <a:cs typeface="Times New Roman"/>
              </a:rPr>
              <a:t>транспортирования,</a:t>
            </a:r>
            <a:r>
              <a:rPr sz="1200" spc="-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хранения,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монтажа,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эксплуатации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обслуживания.</a:t>
            </a:r>
            <a:endParaRPr sz="1200">
              <a:latin typeface="Times New Roman"/>
              <a:cs typeface="Times New Roman"/>
            </a:endParaRPr>
          </a:p>
          <a:p>
            <a:pPr marL="243840" indent="-231140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243840" algn="l"/>
              </a:tabLst>
            </a:pPr>
            <a:r>
              <a:rPr sz="1200" spc="-10" dirty="0">
                <a:latin typeface="Times New Roman"/>
                <a:cs typeface="Times New Roman"/>
              </a:rPr>
              <a:t>Гарантийный</a:t>
            </a:r>
            <a:r>
              <a:rPr sz="1200" spc="-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хранения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изготовления</a:t>
            </a:r>
            <a:r>
              <a:rPr sz="1200" spc="-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до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эксплуатацию.</a:t>
            </a:r>
            <a:endParaRPr sz="120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234950" algn="l"/>
              </a:tabLst>
            </a:pPr>
            <a:r>
              <a:rPr sz="1200" spc="-10" dirty="0">
                <a:latin typeface="Times New Roman"/>
                <a:cs typeface="Times New Roman"/>
              </a:rPr>
              <a:t>Гарантийный</a:t>
            </a:r>
            <a:r>
              <a:rPr sz="1200" spc="-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эксплуатации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эксплуатацию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или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1500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моточасов,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в</a:t>
            </a:r>
            <a:endParaRPr sz="12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285"/>
              </a:spcBef>
            </a:pPr>
            <a:r>
              <a:rPr sz="1200" dirty="0">
                <a:latin typeface="Times New Roman"/>
                <a:cs typeface="Times New Roman"/>
              </a:rPr>
              <a:t>зависимостиот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того,</a:t>
            </a:r>
            <a:r>
              <a:rPr sz="1200" spc="-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что</a:t>
            </a:r>
            <a:r>
              <a:rPr sz="1200" spc="-20" dirty="0">
                <a:latin typeface="Times New Roman"/>
                <a:cs typeface="Times New Roman"/>
              </a:rPr>
              <a:t> наступит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раньше,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но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не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более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18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месяцев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даты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изготовления.</a:t>
            </a:r>
            <a:endParaRPr sz="1200">
              <a:latin typeface="Times New Roman"/>
              <a:cs typeface="Times New Roman"/>
            </a:endParaRPr>
          </a:p>
          <a:p>
            <a:pPr marL="274320" indent="-259079">
              <a:lnSpc>
                <a:spcPct val="100000"/>
              </a:lnSpc>
              <a:spcBef>
                <a:spcPts val="605"/>
              </a:spcBef>
              <a:buAutoNum type="arabicPeriod" startAt="4"/>
              <a:tabLst>
                <a:tab pos="274320" algn="l"/>
              </a:tabLst>
            </a:pPr>
            <a:r>
              <a:rPr sz="1200" dirty="0">
                <a:latin typeface="Times New Roman"/>
                <a:cs typeface="Times New Roman"/>
              </a:rPr>
              <a:t>Нормативныйсрок</a:t>
            </a:r>
            <a:r>
              <a:rPr sz="1200" spc="-25" dirty="0">
                <a:latin typeface="Times New Roman"/>
                <a:cs typeface="Times New Roman"/>
              </a:rPr>
              <a:t> службы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ГПУ-</a:t>
            </a:r>
            <a:r>
              <a:rPr sz="1200" dirty="0">
                <a:latin typeface="Times New Roman"/>
                <a:cs typeface="Times New Roman"/>
              </a:rPr>
              <a:t>250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составляетне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менее: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лет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65"/>
              </a:spcBef>
              <a:buAutoNum type="arabicPeriod" startAt="4"/>
              <a:tabLst>
                <a:tab pos="259079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Гарантия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предусматривает</a:t>
            </a:r>
            <a:r>
              <a:rPr sz="1200" spc="-1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возмещениематериального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ущерба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или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травм, связанных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с</a:t>
            </a:r>
            <a:endParaRPr sz="1200">
              <a:latin typeface="Times New Roman"/>
              <a:cs typeface="Times New Roman"/>
            </a:endParaRPr>
          </a:p>
          <a:p>
            <a:pPr marL="259079" marR="312420">
              <a:lnSpc>
                <a:spcPct val="114199"/>
              </a:lnSpc>
              <a:spcBef>
                <a:spcPts val="10"/>
              </a:spcBef>
            </a:pPr>
            <a:r>
              <a:rPr sz="1200" spc="-30" dirty="0">
                <a:latin typeface="Times New Roman"/>
                <a:cs typeface="Times New Roman"/>
              </a:rPr>
              <a:t>эксплуатацией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ГПУ-</a:t>
            </a:r>
            <a:r>
              <a:rPr sz="1200" dirty="0">
                <a:latin typeface="Times New Roman"/>
                <a:cs typeface="Times New Roman"/>
              </a:rPr>
              <a:t>250.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Гарантийному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ремонту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подлежат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поломки,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возникшие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по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причине </a:t>
            </a:r>
            <a:r>
              <a:rPr sz="1200" spc="-25" dirty="0">
                <a:latin typeface="Times New Roman"/>
                <a:cs typeface="Times New Roman"/>
              </a:rPr>
              <a:t>неправильного,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монтажа,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эксплуатации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или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размещения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ГПУ-</a:t>
            </a:r>
            <a:r>
              <a:rPr sz="1200" dirty="0">
                <a:latin typeface="Times New Roman"/>
                <a:cs typeface="Times New Roman"/>
              </a:rPr>
              <a:t>250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месте,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непригодном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для </a:t>
            </a:r>
            <a:r>
              <a:rPr sz="1200" spc="-20" dirty="0">
                <a:latin typeface="Times New Roman"/>
                <a:cs typeface="Times New Roman"/>
              </a:rPr>
              <a:t>эксплуатации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1044</Words>
  <Application>Microsoft Office PowerPoint</Application>
  <PresentationFormat>Произвольный</PresentationFormat>
  <Paragraphs>321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7" baseType="lpstr">
      <vt:lpstr>Arial</vt:lpstr>
      <vt:lpstr>Arial MT</vt:lpstr>
      <vt:lpstr>Calibri</vt:lpstr>
      <vt:lpstr>Cambria Math</vt:lpstr>
      <vt:lpstr>Microsoft Sans Serif</vt:lpstr>
      <vt:lpstr>Segoe UI</vt:lpstr>
      <vt:lpstr>Times New Roman</vt:lpstr>
      <vt:lpstr>Trebuchet MS</vt:lpstr>
      <vt:lpstr>Verdana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</dc:creator>
  <cp:lastModifiedBy>pav</cp:lastModifiedBy>
  <cp:revision>2</cp:revision>
  <dcterms:created xsi:type="dcterms:W3CDTF">2025-10-30T01:12:50Z</dcterms:created>
  <dcterms:modified xsi:type="dcterms:W3CDTF">2025-10-30T01:18:51Z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2025-10-30T00:00:00Z</vt:filetime>
  </property>
  <property fmtid="{D5CDD505-2E9C-101B-9397-08002B2CF9AE}" pid="5" name="Producer">
    <vt:lpwstr>www.ilovepdf.com</vt:lpwstr>
  </property>
</Properties>
</file>